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架构设计汇报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Permutation 预编译系统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消除运行时 Shader 拼接与跨语言翻译，构建期编译、运行时查表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图形引擎  ·  GPU 渲染管线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现状：Shader 拼接开销卡在渲染关键路径上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DrawOp::execute() 关键路径上，ProgramBuilder::CreateProgram() 每遇到新的 programKey 都要完成以下三步：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41549" y="3429000"/>
            <a:ext cx="6908597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1821" y="331927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2531821" y="3319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拼接 GLSL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递归拼接 GP / FP[] / XP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 emitCode()，生成源码文本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6120" y="331927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5986120" y="3319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4418" y="2743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SPIR-V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41850" y="368503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 shaderc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完成编译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40418" y="331927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9440418" y="3319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8717" y="2743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翻译目标语言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896149" y="368503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SPIRV-Cross / Tint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翻译为 MSL / WGSL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5394960"/>
            <a:ext cx="64008" cy="64008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39496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三者均发生在渲染提交路径上，而非构建期 —— 本应一次性的编译工作，被摊到了每一次首次命中的渲染帧里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代价：首帧延迟与运行时体积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52848" cy="2651760"/>
          </a:xfrm>
          <a:prstGeom prst="roundRect">
            <a:avLst>
              <a:gd name="adj" fmla="val 1724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98424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15–70 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首帧延迟（非实测）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431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按拼接 / 编译 / 翻译各阶段单次操作耗时（1–5 ms/次量级）乘以首帧预计命中的新 programKey 数量推算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1691640"/>
            <a:ext cx="4952848" cy="2651760"/>
          </a:xfrm>
          <a:prstGeom prst="roundRect">
            <a:avLst>
              <a:gd name="adj" fmla="val 1724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198424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9–14 MB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644488" y="269748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运行时编译器体积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44488" y="3063240"/>
            <a:ext cx="431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 + SPIRV-Cross + Tint，Release arm64 静态库常驻运行时二进制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两项均为估算值，非端到端实测，未做逐符号核实。本方案不依赖这两个数字支撑架构决策，仅作动机参考。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根因分析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两点根本原因，导致无法在构建期完成编译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原因一 · 时机错配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95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拼接 GLSL、编译 SPIR-V、跨语言翻译三步都发生在 DrawOp::execute() 提交路径上</a:t>
            </a:r>
            <a:endParaRPr lang="en-US" sz="15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本应一次性完成的编译工作，被摊到了每一次首次命中的渲染帧里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24448" y="169164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原因二 · 组合空间无界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4448" y="2240280"/>
            <a:ext cx="495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 programKey = GP.key + FP[].key（递归）+ XP.key 的拼接</a:t>
            </a:r>
            <a:endParaRPr lang="en-US" sz="15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 树的嵌套深度由用户通过 Shader::MakeBlend() 在运行时决定</a:t>
            </a:r>
            <a:endParaRPr lang="en-US" sz="15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以“整棵 Processor 树”为预编译单元，构建期无法穷举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394960"/>
            <a:ext cx="64008" cy="64008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39496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结论：并非“做不到构建期编译”，而是预编译粒度定得太粗——粗到覆盖了一个只能在运行时确定的开放空间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设计目标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构建期完成编译，运行时只查表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52848" cy="3657600"/>
          </a:xfrm>
          <a:prstGeom prst="roundRect">
            <a:avLst>
              <a:gd name="adj" fmla="val 1250"/>
            </a:avLst>
          </a:prstGeom>
          <a:solidFill>
            <a:srgbClr val="FCEBEB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运行时拼接 + 编译 + 翻译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43127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 programKey 触发一次 emitCode() 拼接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 → SPIRV-Cross / Tint 现场翻译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首帧成本：15–70 ms* 累积卡顿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三套编译器需常驻运行时二进制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1691640"/>
            <a:ext cx="4952848" cy="3657600"/>
          </a:xfrm>
          <a:prstGeom prst="roundRect">
            <a:avLst>
              <a:gd name="adj" fmla="val 1250"/>
            </a:avLst>
          </a:prstGeom>
          <a:solidFill>
            <a:srgbClr val="E6F7F5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44488" y="2240280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构建期编译，运行时查表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44488" y="2788920"/>
            <a:ext cx="43127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在 CMake 构建期枚举全部 Permutation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运行时按 PipelineKey 二分查找已编译产物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首帧成本：0（查表，不再拼接 / 翻译）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瘦身构建下可移除运行时编译器依赖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设计目标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三条关键约束（评审要点）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9339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C++ 类型系统声明变种维度，不依赖 shader 注释解析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4495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以单 Pass 为主，多 Pass 仅作复杂 Processor 组合的兜底手段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09651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RuntimeEffect（用户自定义着色器）保持独立运行时编译路径，不受本方案影响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方案总览 · 构建期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从声明到 Bundle：构建期编译流程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0690" y="2468880"/>
            <a:ext cx="8290316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0962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84096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开发者编写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724912"/>
            <a:ext cx="19262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.h 声明维度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.frag/.vert 逻辑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13541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541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32699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自注册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60131" y="2724912"/>
            <a:ext cx="19262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ShaderRegistry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静态收集全部 Shader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6120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986120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5278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枚举组合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32710" y="2724912"/>
            <a:ext cx="19262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笛卡尔积展开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58699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8058699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7857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05289" y="2724912"/>
            <a:ext cx="19262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ShouldCompile()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剔除不可达组合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131278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1278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50436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编译产出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77868" y="2724912"/>
            <a:ext cx="19262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GLSL→SPIR-V→MSL/WGSL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打包 Bundle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4114800"/>
            <a:ext cx="10362895" cy="1600200"/>
          </a:xfrm>
          <a:prstGeom prst="roundRect">
            <a:avLst>
              <a:gd name="adj" fmla="val 2857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617720"/>
            <a:ext cx="9722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build/generated/shader_bundle.{opengl|vulkan|metal|webgpu}.bin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5074920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 App 包体打入；每个已编译 Permutation 对应一条可二分查找的索引项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方案总览 · 运行时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draw 调用到 GPU 提交：运行时查表流程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0690" y="2468880"/>
            <a:ext cx="8290316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0962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84096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分解 Processor 树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272491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::Decompose()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13541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541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32699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PipelineKey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60131" y="272491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shaderName + index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渲染状态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6120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986120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5278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32710" y="272491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PrecompiledShaderCache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::find()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58699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8058699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7857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缓存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05289" y="272491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复用现有 GlobalCache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LRU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131278" y="23591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1278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50436" y="1783080"/>
            <a:ext cx="19811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 GPU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77868" y="272491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createShaderModule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createRenderPipeline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3977640"/>
            <a:ext cx="4998568" cy="8686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3977640"/>
            <a:ext cx="64008" cy="86868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397764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命中已注册 Shader Permutation → 单 Pass 直接查表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78728" y="3977640"/>
            <a:ext cx="4998568" cy="8686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8728" y="3977640"/>
            <a:ext cx="64008" cy="86868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33" name="Text 31"/>
          <p:cNvSpPr/>
          <p:nvPr/>
        </p:nvSpPr>
        <p:spPr>
          <a:xfrm>
            <a:off x="6644488" y="397764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复合效果未命中 → 拆分为多个 Pass，每段仍各自查表，不产生拼接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不再调用 ProgramBuilder::CreateProgram() / emitCode() 拼接字符串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核心架构决策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预编译单元：Shader 类的 Permutation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1051560"/>
          </a:xfrm>
          <a:prstGeom prst="roundRect">
            <a:avLst>
              <a:gd name="adj" fmla="val 4348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2880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决策：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以「一个 C++ Shader 描述类声明的全部 Permutation」为预编译单元，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「某一次 draw 对应的完整 Processor 树」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可行性依据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4787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52044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判断“一次 draw 能否预编译”，等价于判断它能否被分解为若干已注册 Shader 类的具体取值——这是封闭、可枚举的问题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37083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34340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Shader 类的 Permutation 维度都是引擎内部枚举（有限集合），构建期可以完整穷举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519379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命中的走单 Pass；命不中的复合效果（colorFilter + maskFilter + 高级 BlendMode 等）才拆多 Pass，每段仍是预编译产物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完备性保证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Pass 优先、多 Pass 兜底的判定表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3566160"/>
        </p:xfrm>
        <a:graphic>
          <a:graphicData uri="http://schemas.openxmlformats.org/drawingml/2006/table">
            <a:tbl>
              <a:tblPr/>
              <a:tblGrid>
                <a:gridCol w="7223760"/>
                <a:gridCol w="3108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场景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处理方式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GP + 单个 colorFP（纹理/渐变/常量色）+ 可选 coverageFP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类型有限的 colorFilter（ColorMatrix / AlphaThreshold 等）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GaussianBlur（maskFilter 场景）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ColorFilter + MaskFilter + 高级 BlendMode 同时出现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Shader::MakeBlend() 递归嵌套子 Shader（唯一无界位置）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Pass（逐层拆解）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完备性保证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三层机制共同保证覆盖，均可在构建期验证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构建期检查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扫描全部已注册 Processor 子类，核对匹配表是否有对应规则，缺失即报错阻断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90618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0618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938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递归天然终止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4938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叶子 FP 类型有限，Decompose() 对任意深度的树都能在有限步内终止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6837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6837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8341157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过渡期兜底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1157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未覆盖的组合保留 ProgramBuilder::CreateProgram() 动态拼接，不中断渲染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变体规模评估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 变体规模评估结果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2377440"/>
          </a:xfrm>
          <a:prstGeom prst="roundRect">
            <a:avLst>
              <a:gd name="adj" fmla="val 1923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20240"/>
            <a:ext cx="2661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TextureEffect 裸组合数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个独立 bool 维度，2⁸=256；裁剪结构性不可达组合后更少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90618" y="1691640"/>
            <a:ext cx="3210458" cy="2377440"/>
          </a:xfrm>
          <a:prstGeom prst="roundRect">
            <a:avLst>
              <a:gd name="adj" fmla="val 1923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938" y="1920240"/>
            <a:ext cx="2661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648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64938" y="256032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TiledTextureEffect 裸组合数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64938" y="310896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X/Y 两轴各 9 种 ShaderMode + isAlphaOnly + constraint + hasPerspective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6837" y="1691640"/>
            <a:ext cx="3210458" cy="2377440"/>
          </a:xfrm>
          <a:prstGeom prst="roundRect">
            <a:avLst>
              <a:gd name="adj" fmla="val 1923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1157" y="1920240"/>
            <a:ext cx="2661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41157" y="256032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PerlinNoise（待决议）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41157" y="310896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已核对源码：3 个独立维度，8×2×2=32；上限收紧属公开 API 变更，需单独评审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343400"/>
            <a:ext cx="64008" cy="54864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34340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判定阈值：单 Shader ≤ 256 个已编译变体（工程经验值），超过由构建工具告警，非自动阻断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当前置信度：TGFX 共 36 个 Processor 子类，本方案仅对 3 个代表性 FP 完成逐 bit 分析；其余标注为「待细化」，不影响架构方向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开发者工作流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新增一个渲染效果，只需改两个文件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3703320"/>
          </a:xfrm>
          <a:prstGeom prst="roundRect">
            <a:avLst>
              <a:gd name="adj" fmla="val 1235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4998568" cy="38404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69164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TextureFillShader.h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2221992"/>
            <a:ext cx="44865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TGFX_DEFINE_DIMS(HAS_YUV, ALPHA_ONLY,
  HAS_RGBAAA, HAS_SUBSET);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static bool ShouldCompile(...) {
  return !(hasYuv &amp;&amp;
    (alphaOnly || hasRgbaaa));
}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TGFX_REGISTER_SHADER(TextureFillShader)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3703320"/>
          </a:xfrm>
          <a:prstGeom prst="roundRect">
            <a:avLst>
              <a:gd name="adj" fmla="val 1235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691640"/>
            <a:ext cx="4998568" cy="38404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9896" y="169164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texture_fill.frag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4760" y="2221992"/>
            <a:ext cx="44865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HAS_YUV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uniform sampler2D u_texY, u_texU;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#else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uniform sampler2D u_sampler;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color = texture(u_sampler, uv);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fragColor = color;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5486400"/>
            <a:ext cx="10362895" cy="50292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486400"/>
            <a:ext cx="64008" cy="5029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486400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无需改动 PipelineKey 拼接逻辑 · 验证命令：cmake --build --target tgfx_shader_bundles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实施建议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分阶段推进，新旧路径过渡期并存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926080"/>
            <a:ext cx="6908597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31821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2531821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 · 声明系统 + 构建工具链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87552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 / PrecompiledShader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+ CMake 集成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6120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5986120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14418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 · 运行时集成 + 逐步迁移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41850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PrecompiledShaderCache 落地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ProgramBuilder 兜底并存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40418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440418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8717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 · 覆盖率达标后瘦身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896149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移除运行时编译器依赖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 单独评估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下线运行时编译器的具体时间表是独立的里程碑决策，需后续单独评审，本方案不预设时间表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风险与兜底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过渡期风险控制机制，与需明确告知的关键风险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74520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过渡期兜底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31343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未覆盖组合保留动态拼接，不中断渲染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0618" y="1691640"/>
            <a:ext cx="32104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6650" y="1874520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项构建期检查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46650" y="231343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语法/裁剪/覆盖率任一失败即中止构建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6837" y="1691640"/>
            <a:ext cx="32104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2869" y="1874520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 隔离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2869" y="231343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用户自定义着色器不受本方案影响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520440"/>
            <a:ext cx="10362895" cy="2103120"/>
          </a:xfrm>
          <a:prstGeom prst="roundRect">
            <a:avLst>
              <a:gd name="adj" fmla="val 2174"/>
            </a:avLst>
          </a:prstGeom>
          <a:solidFill>
            <a:srgbClr val="FCEBEB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20440"/>
            <a:ext cx="64008" cy="210312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关键风险：Bundle 版本不匹配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9722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瘦身构建下没有运行时编译器可回退：Debug 断言中止，Release 直接拒绝启动对应 backend 的渲染路径。这要求发布流程严格保证 Bundle 与源码同步构建。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9436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把不确定的运行时开销，换成确定的构建期投入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3210458" cy="160020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240280"/>
            <a:ext cx="2698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15–70 ms →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0432" y="27432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首帧延迟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3035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查表替代拼接与翻译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0618" y="2057400"/>
            <a:ext cx="3210458" cy="160020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4746650" y="2240280"/>
            <a:ext cx="2698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-9~14 MB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46650" y="27432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运行时二进制体积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6650" y="3035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瘦身构建下移除三套编译器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6837" y="2057400"/>
            <a:ext cx="3210458" cy="160020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2869" y="2240280"/>
            <a:ext cx="2698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 个文件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2869" y="27432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 Shader 的改动量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2869" y="3035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.h 声明维度 + .frag/.vert 逻辑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10362895" cy="0"/>
          </a:xfrm>
          <a:prstGeom prst="line">
            <a:avLst/>
          </a:prstGeom>
          <a:noFill/>
          <a:ln w="12700">
            <a:solidFill>
              <a:srgbClr val="3E4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变体规模评估目前仅覆盖 3 个代表性 Processor，其余待补齐同等深度分析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PerlinNoise 阶数收紧属于公开 API 变更，需单独评审确认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运行时编译器下线时间表尚未确定，作为独立里程碑单独决策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系统设计方案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Shader Permutation 系统设计方案</dc:title>
  <dc:subject>PptxGenJS Presentation</dc:subject>
  <dc:creator>TGFX Graphics Team</dc:creator>
  <cp:lastModifiedBy>TGFX Graphics Team</cp:lastModifiedBy>
  <cp:revision>1</cp:revision>
  <dcterms:created xsi:type="dcterms:W3CDTF">2026-07-03T08:30:34Z</dcterms:created>
  <dcterms:modified xsi:type="dcterms:W3CDTF">2026-07-03T08:30:34Z</dcterms:modified>
</cp:coreProperties>
</file>