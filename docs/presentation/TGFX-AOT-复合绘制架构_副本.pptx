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真实顺序与串接逻辑：src/gpu/ProgramBuilder.cpp:41-46,52-90,102-154。emitAndInstallGeoProc 同时向 VertexShaderBuilder 和 FragmentShaderBuilder 追加代码；各 FragmentProcessor 通过 emitAndInstallFragProc 把前一段输出作为下一段输入，遍历到 numColorFragmentProcessors() 时从 color 链切换到 coverage 链；emitAndInstallXferProc 最后用最终 color / coverage 写 fragment output。src/gpu/ShaderBuilder.cpp:288-337 在 finalize 后按段合并最终源码。右侧 GLSL 是结构示意，变量名经过概念性简化。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公共入口：src/gpu/glsl/GLSLProgramBuilder.cpp:175-258。finalize() 从两个 ShaderBuilder 取得完整源码，分别调用 createShaderModule，再组织 RenderPipelineDescriptor 并调用 createRenderPipeline；最终 Pipeline 与 uniform data 被封装进 Program。OpenGL：src/gpu/opengl/GLGPU.cpp:217-298，真实调用为 shaderSource / compileShader、attachShader / linkProgram。Vulkan：src/gpu/vulkan/VulkanShaderModule.cpp:38-61 与 src/gpu/vulkan/VulkanRenderPipeline.cpp:565-593，GLSL 经 shaderc 生成 SPIR-V，再 vkCreateShaderModule 和 vkCreateGraphicsPipelines。Metal：src/gpu/metal/MetalShaderModule.mm:191-221 与 src/gpu/metal/MetalRenderPipeline.mm:94-179，GLSL 经 SPIR-V 和 SPIRV-Cross 转 MSL，再 newLibraryWithSource 与 newRenderPipelineStateWithDescriptor。这里不声称 TGFX 为三个 Backend 统一提供独立的 module / pipeline 缓存。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字段与查找流程：src/gpu/ProgramInfo.cpp:151-215。真实 buildProgramKey() 依次写入 GeometryProcessor key、每个 FragmentProcessor key、XferProcessor key、blendMode、outputSwizzle、cullMode、RenderTarget format / sampleCount、colorWriteMask 以及完整 depthStencil 字段。FP 递归：src/gpu/processors/FragmentProcessor.cpp:86-99，computeProcessorKey() 写 classID、onComputeProcessorKey、纹理 TextureView key，并递归 childProcessors。Cache：src/gpu/GlobalCache.cpp:33,74-87,203-223，findProgram() 统计 hit / miss 并更新 LRU；addProgram() 的容量上限为 256。当前实现 miss 后先调用 PrecompiledProgramCreator::CreateProgram()，只在 AllowRuntimeFallback 且 AOT 未匹配时调用 ProgramBuilder::CreateProgram()；本页用该 fallback 描述原始 JIT 成本，不把现状误写成无条件 JIT。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Impeller 并非零 variant；Graphite 漏项仍可能 inline compile；Unreal 的 Shader Cook 与 PSO Precache 是两个层级。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Flutter official source, accessed 2026-08-24: https://docs.flutter.dev/perf/impeller#what-is-impeller
Repository commit: 49d0823cb00e22a08534f2b5e2a125386176eea6
Directory: https://github.com/flutter/flutter/tree/49d0823cb00e22a08534f2b5e2a125386176eea6/engine/src/flutter/impeller/entity/shaders
Code: https://github.com/flutter/flutter/blob/49d0823cb00e22a08534f2b5e2a125386176eea6/engine/src/flutter/impeller/entity/shaders/solid_fill.frag
Snapshot count: 16 .vert + 47 .frag = 63 stage sources, plus 5 shared .glsl files; none is a Pipeline/PSO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sources, accessed 2026-08-24:
https://skia.googlesource.com/skia/+/refs/heads/main/include/gpu/graphite/precompile/PaintOptions.h
https://skia.googlesource.com/skia/+/refs/heads/main/include/gpu/graphite/precompile/Precompile.h
The snippet preserves real API names but is intentionally shortened; placeholder values represent valid precompile objects. Do not introduce Ganesh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sources, accessed 2026-08-24:
https://dev.epicgames.com/community/learning/knowledge-base/6PxP/unreal-engine-understanding-shader-permutations
https://dev.epicgames.com/documentation/unreal-engine/pso-precaching-for-unreal-engine?lang=en-US
Cooked Shader permutations and complete PSOs are distinct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下游继续使用 Image Shader、ColorFilter、Blend 等公开 API，也不提供候选组合清单。终态不会为未见结构生成完整 Shader。Draw Bounds 只约束资源范围与成本，不封闭程序空间。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本页只做 TGFX 责任边界推导，不重复第 4—7 页的行业方案介绍。库内定义的是具体 PrecompiledShader 及其可达静态接口版本。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来源：src/gpu/shaders/glsl/level1/texture_fill.frag:20-47,59-65。无 DeviceMask 时 XP_DST_TEX_BINDING 为 1；有 DeviceMask 时增加 binding 1 的 MaskTextureSampler，并把 XP binding 移到 2。AlphaOnly 只控制计算分支，因此保留为 uniform。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HAS_DEVICE_MASK 的条件资源声明位于 src/gpu/shaders/glsl/level1/texture_fill.frag:35-47。构建工具在源码前注入 define；本页只展示注入动作和 A/B 编译结果，不重复第10页的完整条件宏片段。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真实声明：src/gpu/shaders/level1/TextureFillShader.h:25-92。代码为概念性删减，保留真实 class、FragDims 中 HAS_XP / HAS_DEVICE_MASK、domain、info() 源文件连接与注册宏。一组维度取值才构成一个 permutation。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真实代码：src/gpu/shaders/PermutationRules.cpp:749-776。Domain 提供候选编码域；EnumerateTextureFillReachable 枚举规则输入，ComposeTextureFill 对 xpType &lt; 0 返回 nullopt，并将合法输入映射到 FragDims；result 中的 reachable pair 才进入后续宏注入和 Backend 编译。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 runtime matcher：src/gpu/PermutationMatcher.cpp:197-239；共享 Compose：src/gpu/shaders/PermutationRules.cpp:749-759。Build 枚举候选输入，Runtime 从当前 ProgramInfo 读取 deviceMask 与 xpType；二者都调用 ComposeTextureFill，并用同一 domain 编码，因此合法输入得到同一 Bundle 标识。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公开 API：include/tgfx/core/Shader.h:55-59,193-196。代码用真实 MakeBlend 与 makeWithColorFilter 接口展示开放组合：先构造 Filtered(Image A) 与 Blend(B,C)，再由根 Blend 组合；随后仍可与 Image D 继续嵌套。有限静态维度不能封闭这类递归深度，本页自然引出第16页语义安全的 Multi-pass。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AOTEffectDecomposer 当前 DecomposeLinearPointwiseTail 路径只接受 TextureSource 后接线性 pointwise ops，并按 PointwiseTail 的具体容量形成多个 Pass；项目中还存在 PointwiseDAG 融合、Perlin chain 等其他路径，因此正文不把固定两槽概括成通用模型。每个 Pass 仍需由 AOTPlanExecutor 构造 ProgramInfo 并匹配预编译 permutation。Draw Bounds 只决定物化范围、坐标与成本。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Bundle 中保存 Shader stage artifact 与反射信息，不是完整 PSO。OpenGL Bundle 保存离线生成的 GLSL，运行时仍由 driver compile/link；Vulkan / Metal 可加载离线二进制 stage，但 Pipeline 仍按运行时状态创建。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产品待测：真实 workload coverage；bundle build/load/compression/resident memory；cold start；CPU/GPU/power；Pipeline first creation；precompiled shader GPU cost；Multi-pass cost/error；Metal/Vulkan/OpenGL 版本发布与回滚。已有证据不是产品净收益结论。单测未命中某 permutation 不能作为删除理由。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01 · PROCESSOR COMPOSITION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ProgramBuilder 依次追加 Processor 代码，拼成一次 Draw 的完整 Shader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不是每个 Processor 各自生成一个 Shader 文件；它们按 Draw 顺序向同一对 VS / FS Builder 追加代码块。 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60020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真实 C++ · 调用顺序与 FP 串接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1847088"/>
            <a:ext cx="4736592" cy="3639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93392"/>
            <a:ext cx="4334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PROGRAMBUILDER.CPP · REDUCED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433425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1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std::string color;</a:t>
            </a:r>
            <a:endParaRPr lang="en-US" sz="12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1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std::string coverage;</a:t>
            </a:r>
            <a:endParaRPr lang="en-US" sz="12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1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emitAndInstallGeoProc(&amp;color, &amp;coverage);</a:t>
            </a:r>
            <a:endParaRPr lang="en-US" sz="12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1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emitAndInstallFragProcessors(&amp;color, &amp;coverage);</a:t>
            </a:r>
            <a:endParaRPr lang="en-US" sz="12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1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emitAndInstallXferProc(color, coverage);</a:t>
            </a:r>
            <a:endParaRPr lang="en-US" sz="1210" dirty="0"/>
          </a:p>
          <a:p>
            <a:pPr algn="l" indent="0" marL="0">
              <a:lnSpc>
                <a:spcPct val="100000"/>
              </a:lnSpc>
              <a:buNone/>
            </a:pPr>
            <a:endParaRPr lang="en-US" sz="12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1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std::string** inOut = &amp;color;</a:t>
            </a:r>
            <a:endParaRPr lang="en-US" sz="12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1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for (size_t i = 0;</a:t>
            </a:r>
            <a:endParaRPr lang="en-US" sz="12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1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i &lt; programInfo-&gt;numFragmentProcessors(); ++i) {</a:t>
            </a:r>
            <a:endParaRPr lang="en-US" sz="12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1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if (i == programInfo-&gt;numColorFragmentProcessors())</a:t>
            </a:r>
            <a:endParaRPr lang="en-US" sz="12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1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inOut = &amp;coverage;</a:t>
            </a:r>
            <a:endParaRPr lang="en-US" sz="12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1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const auto fp = programInfo-&gt;getFragmentProcessor(i);</a:t>
            </a:r>
            <a:endParaRPr lang="en-US" sz="12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1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**inOut = emitAndInstallFragProc(fp, ..., **inOut);</a:t>
            </a:r>
            <a:endParaRPr lang="en-US" sz="12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1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5687568" y="1600200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最终 FS 结构 · 概念性精简 GLSL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87568" y="1847088"/>
            <a:ext cx="5797296" cy="3639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88736" y="1993392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STRUCTURE ONLY · NAMES SIMPLIFIED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88736" y="2286000"/>
            <a:ext cx="539496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void main() {</a:t>
            </a:r>
            <a:endParaRPr lang="en-US" sz="12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vec4 color0;</a:t>
            </a:r>
            <a:endParaRPr lang="en-US" sz="12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highp vec4 coverage0;</a:t>
            </a:r>
            <a:endParaRPr lang="en-US" sz="12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{ /* GP */ emitGeometry(color0, coverage0); }</a:t>
            </a:r>
            <a:endParaRPr lang="en-US" sz="1230" dirty="0"/>
          </a:p>
          <a:p>
            <a:pPr algn="l" indent="0" marL="0">
              <a:lnSpc>
                <a:spcPct val="100000"/>
              </a:lnSpc>
              <a:buNone/>
            </a:pPr>
            <a:endParaRPr lang="en-US" sz="12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vec4 color1;</a:t>
            </a:r>
            <a:endParaRPr lang="en-US" sz="12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{ /* Color FP */ color1 = filter(color0); }</a:t>
            </a:r>
            <a:endParaRPr lang="en-US" sz="1230" dirty="0"/>
          </a:p>
          <a:p>
            <a:pPr algn="l" indent="0" marL="0">
              <a:lnSpc>
                <a:spcPct val="100000"/>
              </a:lnSpc>
              <a:buNone/>
            </a:pPr>
            <a:endParaRPr lang="en-US" sz="12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highp vec4 coverage1;</a:t>
            </a:r>
            <a:endParaRPr lang="en-US" sz="12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{ /* Coverage FP */ coverage1 = mask(coverage0); }</a:t>
            </a:r>
            <a:endParaRPr lang="en-US" sz="1230" dirty="0"/>
          </a:p>
          <a:p>
            <a:pPr algn="l" indent="0" marL="0">
              <a:lnSpc>
                <a:spcPct val="100000"/>
              </a:lnSpc>
              <a:buNone/>
            </a:pPr>
            <a:endParaRPr lang="en-US" sz="12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{ /* XP */ fragColor = blend(color1, coverage1); }</a:t>
            </a:r>
            <a:endParaRPr lang="en-US" sz="12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907024" y="5175504"/>
            <a:ext cx="5358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40" b="1" dirty="0">
                <a:solidFill>
                  <a:srgbClr val="76B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Color 与 Coverage 各自串行传递前一段输出；XP 用两条链的最终值收尾。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JIT 编译单位是当前 Draw 的完整 Processor 组合，不是单个 Processor。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02 · BACKEND COMPILATION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拼出的 VS / FS GLSL 还要经过 Backend 编译和 Pipeline 创建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01568" y="1371600"/>
            <a:ext cx="5394960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1296" y="1371600"/>
            <a:ext cx="5175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ProgramBuilder  →  VS GLSL + FS GLSL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93008" y="194767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第1页的完整 Processor 组合在这里成为两个完整源码字符串。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62432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2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OPENGL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1755648" y="2752344"/>
            <a:ext cx="329184" cy="0"/>
          </a:xfrm>
          <a:prstGeom prst="line">
            <a:avLst/>
          </a:prstGeom>
          <a:noFill/>
          <a:ln w="2032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39696" y="2423160"/>
            <a:ext cx="2135124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9424" y="2423160"/>
            <a:ext cx="19156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VS + FS GLSL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4311396" y="2734056"/>
            <a:ext cx="182880" cy="0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30852" y="2423160"/>
            <a:ext cx="2135124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0580" y="2423160"/>
            <a:ext cx="19156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compile × 2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702552" y="2734056"/>
            <a:ext cx="182880" cy="0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22008" y="2423160"/>
            <a:ext cx="2135124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31736" y="2423160"/>
            <a:ext cx="19156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link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9093708" y="2734056"/>
            <a:ext cx="182880" cy="0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313164" y="2423160"/>
            <a:ext cx="2135124" cy="62179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22892" y="2423160"/>
            <a:ext cx="19156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GL Program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731520" y="34655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2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VULKAN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1755648" y="3593592"/>
            <a:ext cx="329184" cy="0"/>
          </a:xfrm>
          <a:prstGeom prst="line">
            <a:avLst/>
          </a:prstGeom>
          <a:noFill/>
          <a:ln w="2032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139696" y="3264408"/>
            <a:ext cx="2135124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9424" y="3264408"/>
            <a:ext cx="19156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VS + FS GLSL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4311396" y="3575304"/>
            <a:ext cx="182880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30852" y="3264408"/>
            <a:ext cx="2135124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0580" y="3264408"/>
            <a:ext cx="19156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shaderc → SPIR-V × 2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702552" y="3575304"/>
            <a:ext cx="182880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922008" y="3264408"/>
            <a:ext cx="2135124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31736" y="3264408"/>
            <a:ext cx="19156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VkShaderModule × 2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9093708" y="3575304"/>
            <a:ext cx="182880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313164" y="3264408"/>
            <a:ext cx="2135124" cy="62179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22892" y="3264408"/>
            <a:ext cx="19156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VkGraphicsPipeline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731520" y="43068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2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METAL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1755648" y="4434840"/>
            <a:ext cx="329184" cy="0"/>
          </a:xfrm>
          <a:prstGeom prst="line">
            <a:avLst/>
          </a:prstGeom>
          <a:noFill/>
          <a:ln w="2032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139696" y="4105656"/>
            <a:ext cx="2135124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49424" y="4105656"/>
            <a:ext cx="19156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VS + FS GLSL</a:t>
            </a:r>
            <a:endParaRPr lang="en-US" sz="1220" dirty="0"/>
          </a:p>
        </p:txBody>
      </p:sp>
      <p:sp>
        <p:nvSpPr>
          <p:cNvPr id="40" name="Shape 38"/>
          <p:cNvSpPr/>
          <p:nvPr/>
        </p:nvSpPr>
        <p:spPr>
          <a:xfrm>
            <a:off x="4311396" y="4416552"/>
            <a:ext cx="18288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530852" y="4105656"/>
            <a:ext cx="2135124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0580" y="4105656"/>
            <a:ext cx="19156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SPIR-V → MSL × 2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6702552" y="4416552"/>
            <a:ext cx="18288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922008" y="4105656"/>
            <a:ext cx="2135124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31736" y="4105656"/>
            <a:ext cx="19156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MTLLibrary stages</a:t>
            </a:r>
            <a:endParaRPr lang="en-US" sz="1220" dirty="0"/>
          </a:p>
        </p:txBody>
      </p:sp>
      <p:sp>
        <p:nvSpPr>
          <p:cNvPr id="46" name="Shape 44"/>
          <p:cNvSpPr/>
          <p:nvPr/>
        </p:nvSpPr>
        <p:spPr>
          <a:xfrm>
            <a:off x="9093708" y="4416552"/>
            <a:ext cx="18288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313164" y="4105656"/>
            <a:ext cx="2135124" cy="62179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22892" y="4105656"/>
            <a:ext cx="19156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MTLRenderPipelineState</a:t>
            </a:r>
            <a:endParaRPr lang="en-US" sz="1220" dirty="0"/>
          </a:p>
        </p:txBody>
      </p:sp>
      <p:sp>
        <p:nvSpPr>
          <p:cNvPr id="49" name="Text 47"/>
          <p:cNvSpPr/>
          <p:nvPr/>
        </p:nvSpPr>
        <p:spPr>
          <a:xfrm>
            <a:off x="1280160" y="51663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源码生成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2761488" y="5285232"/>
            <a:ext cx="566928" cy="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3364992" y="51663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Backend 编译</a:t>
            </a:r>
            <a:endParaRPr lang="en-US" sz="1220" dirty="0"/>
          </a:p>
        </p:txBody>
      </p:sp>
      <p:sp>
        <p:nvSpPr>
          <p:cNvPr id="52" name="Shape 50"/>
          <p:cNvSpPr/>
          <p:nvPr/>
        </p:nvSpPr>
        <p:spPr>
          <a:xfrm>
            <a:off x="5029200" y="5285232"/>
            <a:ext cx="566928" cy="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5632704" y="5166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Module / Library 创建</a:t>
            </a:r>
            <a:endParaRPr lang="en-US" sz="1220" dirty="0"/>
          </a:p>
        </p:txBody>
      </p:sp>
      <p:sp>
        <p:nvSpPr>
          <p:cNvPr id="54" name="Shape 52"/>
          <p:cNvSpPr/>
          <p:nvPr/>
        </p:nvSpPr>
        <p:spPr>
          <a:xfrm>
            <a:off x="7662672" y="5285232"/>
            <a:ext cx="566928" cy="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8266176" y="51663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 创建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新的 Program Key 未命中时，运行时生成的 VS / FS 仍要完成 Backend 首次编译与 Pipeline 创建。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03 · PROGRAM KEY AND CACHE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 Cache 只能复用相同 Key；影响 Key 的变化仍需首次创建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 Key 同时编码 Processor 结构、静态接口与影响 Pipeline 的渲染状态；Cache 只按这个完整 Key 查找。 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737360"/>
            <a:ext cx="5870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PROGRAM KEY · 真实职责级精简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1975104"/>
            <a:ext cx="5870448" cy="3511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21408"/>
            <a:ext cx="5468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PROGRAMINFO::BUILDPROGRAMKEY · REDUCED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414016"/>
            <a:ext cx="54681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geometryProcessor-&gt;computeProcessorKey(context, &amp;key);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for (const auto&amp; fp : fragmentProcessors) {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fp-&gt;computeProcessorKey(context, &amp;key); // recursive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xferProcessor-&gt;computeProcessorKey(context, &amp;key);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key.write(blendMode);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key.write(getOutputSwizzle().asKey());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key.write(cullMode);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key.write(renderTarget-&gt;format());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key.write(renderTarget-&gt;sampleCount());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key.write(colorWriteMask);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depthStencil format / compare / write / masks / faces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5193792"/>
            <a:ext cx="543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80" b="1" dirty="0">
                <a:solidFill>
                  <a:srgbClr val="76B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FP 递归包含 classID、静态 key、纹理接口 key 与 child processor key。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839712" y="1737360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CACHE LOOKUP · 真实职责级精简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39712" y="1975104"/>
            <a:ext cx="4645152" cy="2816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121408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PROGRAMINFO::GETPROGRAM · REDUCED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0" y="2414016"/>
            <a:ext cx="42428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key = buildProgramKey();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program = globalCache-&gt;findProgram(key);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if (program == nullptr) {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program = PrecompiledProgramCreator::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CreateProgram(context, this);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if (!program &amp;&amp; mode == AllowRuntimeFallback)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program = ProgramBuilder::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CreateProgram(context, this);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if (programCreated &amp;&amp; !cacheKeyOccupied)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globalCache-&gt;addProgram(key, program);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39712" y="4901184"/>
            <a:ext cx="4645152" cy="310896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4901184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4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HIT  →  复用同一 Key 的 Program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6839712" y="5266944"/>
            <a:ext cx="4645152" cy="256032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5266944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MISS → 先查 AOT；未匹配且允许时 JIT → 编译并创建 Pipeline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Cache 只消除相同 Program Key 的重复成本，不能提前覆盖未来新 Key。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04 · INDUSTRY OPTIONS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行业方案总览：有限集合由谁负责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三类方案都把编译前移，但固定集合、调用方申报与项目资产 Cook 的责任边界不同。 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" y="1883664"/>
            <a:ext cx="3529584" cy="3456432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Flutter Impeller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76148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集合来源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19072" y="26883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8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引擎固定能力集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914400" y="33649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编译时机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19072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8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引擎构建期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914400" y="396849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19072" y="38953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8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运行路径稳定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914400" y="457200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19072" y="44988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8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能力扩展受引擎约束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4517136" y="1883664"/>
            <a:ext cx="3529584" cy="345643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10312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Skia Graphite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36592" y="276148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集合来源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41264" y="26883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8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调用方申报组合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4736592" y="33649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编译时机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41264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8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首次绘制前</a:t>
            </a:r>
            <a:endParaRPr lang="en-US" sz="1380" dirty="0"/>
          </a:p>
        </p:txBody>
      </p:sp>
      <p:sp>
        <p:nvSpPr>
          <p:cNvPr id="24" name="Text 22"/>
          <p:cNvSpPr/>
          <p:nvPr/>
        </p:nvSpPr>
        <p:spPr>
          <a:xfrm>
            <a:off x="4736592" y="396849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41264" y="38953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8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已申报组合可复用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4736592" y="457200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41264" y="44988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8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乘积规模与漏项风险</a:t>
            </a:r>
            <a:endParaRPr lang="en-US" sz="1380" dirty="0"/>
          </a:p>
        </p:txBody>
      </p:sp>
      <p:sp>
        <p:nvSpPr>
          <p:cNvPr id="28" name="Shape 26"/>
          <p:cNvSpPr/>
          <p:nvPr/>
        </p:nvSpPr>
        <p:spPr>
          <a:xfrm>
            <a:off x="8339328" y="1883664"/>
            <a:ext cx="3529584" cy="3456432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58784" y="210312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Unreal Engine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558784" y="276148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集合来源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363456" y="26883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8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项目资产决定范围</a:t>
            </a:r>
            <a:endParaRPr lang="en-US" sz="1380" dirty="0"/>
          </a:p>
        </p:txBody>
      </p:sp>
      <p:sp>
        <p:nvSpPr>
          <p:cNvPr id="32" name="Text 30"/>
          <p:cNvSpPr/>
          <p:nvPr/>
        </p:nvSpPr>
        <p:spPr>
          <a:xfrm>
            <a:off x="8558784" y="33649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编译时机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63456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8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Cook + PSO Precache</a:t>
            </a:r>
            <a:endParaRPr lang="en-US" sz="1380" dirty="0"/>
          </a:p>
        </p:txBody>
      </p:sp>
      <p:sp>
        <p:nvSpPr>
          <p:cNvPr id="34" name="Text 32"/>
          <p:cNvSpPr/>
          <p:nvPr/>
        </p:nvSpPr>
        <p:spPr>
          <a:xfrm>
            <a:off x="8558784" y="396849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363456" y="38953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8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项目内覆盖强</a:t>
            </a:r>
            <a:endParaRPr lang="en-US" sz="1380" dirty="0"/>
          </a:p>
        </p:txBody>
      </p:sp>
      <p:sp>
        <p:nvSpPr>
          <p:cNvPr id="36" name="Text 34"/>
          <p:cNvSpPr/>
          <p:nvPr/>
        </p:nvSpPr>
        <p:spPr>
          <a:xfrm>
            <a:off x="8558784" y="457200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363456" y="44988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8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依赖资产与完整状态空间</a:t>
            </a:r>
            <a:endParaRPr lang="en-US" sz="1380" dirty="0"/>
          </a:p>
        </p:txBody>
      </p:sp>
      <p:sp>
        <p:nvSpPr>
          <p:cNvPr id="38" name="Shape 36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比较行业方案的关键，不是是否预编译，而是谁能可靠给出有限集合。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05 · FLUTTER IMPELLER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Flutter：固定能力集换取稳定的首次路径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Impeller 围绕引擎维护的固定能力集组织渲染路径，并在引擎构建期预编译较小、较简单的一组 Shader。 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" y="1847088"/>
            <a:ext cx="6473952" cy="3182112"/>
          </a:xfrm>
          <a:prstGeom prst="rect">
            <a:avLst/>
          </a:prstGeom>
          <a:solidFill>
            <a:srgbClr val="F4F7F9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9" name="Image 0" descr="/Users/shenxianfei/Documents/tgfx/docs/presentation/assets/flutter-impeller-shaders-49d0823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1956816"/>
            <a:ext cx="6254496" cy="29626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516368" y="1847088"/>
            <a:ext cx="3767328" cy="841248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35824" y="1975104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做法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869680" y="184708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固定能力集</a:t>
            </a:r>
            <a:endParaRPr lang="en-US" sz="142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构建期预编译</a:t>
            </a:r>
            <a:endParaRPr lang="en-US" sz="1420" dirty="0"/>
          </a:p>
        </p:txBody>
      </p:sp>
      <p:sp>
        <p:nvSpPr>
          <p:cNvPr id="13" name="Shape 10"/>
          <p:cNvSpPr/>
          <p:nvPr/>
        </p:nvSpPr>
        <p:spPr>
          <a:xfrm>
            <a:off x="7516368" y="2907792"/>
            <a:ext cx="3767328" cy="84124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35824" y="303580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869680" y="2907792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运行时不再生成</a:t>
            </a:r>
            <a:endParaRPr lang="en-US" sz="142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这组 Shader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7516368" y="3968496"/>
            <a:ext cx="3767328" cy="841248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35824" y="409651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为何不直接采用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869680" y="3968496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需围绕固定能力集</a:t>
            </a:r>
            <a:endParaRPr lang="en-US" sz="142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重塑渲染器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7516368" y="5029200"/>
            <a:ext cx="3767328" cy="43891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26096" y="5029200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固定目录截图仅说明能力集由引擎维护，不代表 Pipeline 数量。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Flutter 证明固定能力集可前移编译，但 TGFX 不能收窄公开输入来复制它。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06 · GRAPHITE PRECOMPILE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Skia Graphite：调用方申报预计绘制组合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Graphite 让调用方描述预计使用的绘制组合，并在首次绘制前创建对应 Pipeline。 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1901952"/>
            <a:ext cx="5961888" cy="20482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48256"/>
            <a:ext cx="5559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SIMPLIFIED REAL PAINTOPTIONS FLOW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340864"/>
            <a:ext cx="5559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PaintOptions options;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options.setShaders({shader0, shader1});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options.setColorFilters({filter0, filter1});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options.setBlendModes({blend0, blend1});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Precompile(context, options, drawTypes,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   renderPassProperties);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713232" y="4169664"/>
            <a:ext cx="5961888" cy="530352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69664"/>
            <a:ext cx="5742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 Shader × 2 Filter × 2 Blend = 8 candidates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50608" y="1901952"/>
            <a:ext cx="4096512" cy="749808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70064" y="201168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75904" y="190195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8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调用方列出候选组合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7150608" y="2889504"/>
            <a:ext cx="4096512" cy="74980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0064" y="299923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75904" y="2889504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8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已申报组合可提前创建并复用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7150608" y="3877056"/>
            <a:ext cx="4096512" cy="749808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0064" y="398678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为何不采用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75904" y="3877056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8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下游不提供清单；漏项仍可能运行时编译</a:t>
            </a:r>
            <a:endParaRPr lang="en-US" sz="1380" dirty="0"/>
          </a:p>
        </p:txBody>
      </p:sp>
      <p:sp>
        <p:nvSpPr>
          <p:cNvPr id="22" name="Shape 20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Graphite 把集合完整性交给调用方，这与 TGFX 的下游约束不一致。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07 · UE COOK + PSO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UE：Cook Shader permutation，并预缓存 PSO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Unreal 以项目资产为边界：Cook 阶段生成所需 Shader permutation，再对完整图形状态做 PSO Precache。 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9019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SHADER COOK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2194560"/>
            <a:ext cx="1469136" cy="658368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194560"/>
            <a:ext cx="124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Material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55520" y="2523744"/>
            <a:ext cx="18288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74976" y="2194560"/>
            <a:ext cx="1469136" cy="658368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4704" y="2194560"/>
            <a:ext cx="124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Static Switch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980688" y="2523744"/>
            <a:ext cx="18288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00144" y="2194560"/>
            <a:ext cx="1469136" cy="65836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9872" y="2194560"/>
            <a:ext cx="124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Permutation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44768" y="19019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PSO PRECACHE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44768" y="2194560"/>
            <a:ext cx="1530096" cy="658368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2194560"/>
            <a:ext cx="131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11440" y="2523744"/>
            <a:ext cx="18288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930896" y="2194560"/>
            <a:ext cx="1530096" cy="658368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0624" y="2194560"/>
            <a:ext cx="131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Layout + Pass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Render State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497568" y="2523744"/>
            <a:ext cx="18288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17024" y="2194560"/>
            <a:ext cx="1530096" cy="65836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6752" y="2194560"/>
            <a:ext cx="131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Precache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9808" y="3401568"/>
            <a:ext cx="3346704" cy="1444752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3602736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9264" y="3968496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项目资产给出有限范围</a:t>
            </a:r>
            <a:endParaRPr lang="en-US" sz="1420" dirty="0"/>
          </a:p>
        </p:txBody>
      </p:sp>
      <p:sp>
        <p:nvSpPr>
          <p:cNvPr id="29" name="Shape 27"/>
          <p:cNvSpPr/>
          <p:nvPr/>
        </p:nvSpPr>
        <p:spPr>
          <a:xfrm>
            <a:off x="4425696" y="3401568"/>
            <a:ext cx="3346704" cy="144475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3602736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45152" y="3968496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与 PSO 首次成本均可前移</a:t>
            </a:r>
            <a:endParaRPr lang="en-US" sz="1420" dirty="0"/>
          </a:p>
        </p:txBody>
      </p:sp>
      <p:sp>
        <p:nvSpPr>
          <p:cNvPr id="32" name="Shape 30"/>
          <p:cNvSpPr/>
          <p:nvPr/>
        </p:nvSpPr>
        <p:spPr>
          <a:xfrm>
            <a:off x="8101584" y="3401568"/>
            <a:ext cx="3346704" cy="1444752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02752" y="3602736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借鉴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3968496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有限静态维度；不复制资产 Cook 与完整 PSO 枚举</a:t>
            </a:r>
            <a:endParaRPr lang="en-US" sz="1420" dirty="0"/>
          </a:p>
        </p:txBody>
      </p:sp>
      <p:sp>
        <p:nvSpPr>
          <p:cNvPr id="35" name="Shape 33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只借鉴有限维度思想，因为库本身不拥有下游项目资产。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08 · OPEN INPUT VS FINITE ASSETS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下游仍可在运行时组合效果，但 Shader 必须在发布前准备完成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353312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 API 仍接收运行时组合；改变的是 Shader 的准备时机，而不是下游的表达能力。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9808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RUNTIME INPUT · 下游不提交清单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2157984"/>
            <a:ext cx="1012698" cy="694944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157984"/>
            <a:ext cx="79324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Image Shader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799082" y="2505456"/>
            <a:ext cx="146304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981962" y="2157984"/>
            <a:ext cx="1012698" cy="69494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91690" y="2157984"/>
            <a:ext cx="79324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颜色过滤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31236" y="2505456"/>
            <a:ext cx="146304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14116" y="2157984"/>
            <a:ext cx="1012698" cy="69494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3844" y="2157984"/>
            <a:ext cx="79324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63390" y="2505456"/>
            <a:ext cx="146304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46270" y="2157984"/>
            <a:ext cx="1012698" cy="694944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5998" y="2157984"/>
            <a:ext cx="79324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具体结构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719072" y="3090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能力保持开放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11696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ASSET LIFECYCLE · Shader 发布前完成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11696" y="2157984"/>
            <a:ext cx="1402080" cy="694944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1424" y="2157984"/>
            <a:ext cx="118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Build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50352" y="2505456"/>
            <a:ext cx="18288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369808" y="2157984"/>
            <a:ext cx="1402080" cy="694944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79536" y="2157984"/>
            <a:ext cx="118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 Shader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808464" y="2505456"/>
            <a:ext cx="18288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27920" y="2157984"/>
            <a:ext cx="1402080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37648" y="2157984"/>
            <a:ext cx="118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Backend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Bundle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711696" y="3127248"/>
            <a:ext cx="1402080" cy="69494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21424" y="3127248"/>
            <a:ext cx="118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Runtime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150352" y="3474720"/>
            <a:ext cx="182880" cy="0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369808" y="3127248"/>
            <a:ext cx="1402080" cy="694944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79536" y="3127248"/>
            <a:ext cx="118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选择已有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808464" y="3474720"/>
            <a:ext cx="182880" cy="0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027920" y="3127248"/>
            <a:ext cx="1402080" cy="694944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37648" y="3127248"/>
            <a:ext cx="118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不生成未见</a:t>
            </a:r>
            <a:endParaRPr lang="en-US" sz="122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 Shader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4315968" y="4261104"/>
            <a:ext cx="3566160" cy="822960"/>
          </a:xfrm>
          <a:prstGeom prst="rect">
            <a:avLst/>
          </a:prstGeom>
          <a:solidFill>
            <a:srgbClr val="FBECE9"/>
          </a:solidFill>
          <a:ln w="17780">
            <a:solidFill>
              <a:srgbClr val="D95D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17136" y="4261104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开放运行时输入  ↔  有限构建期资产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如何不改下游 API 地把开放结构映射到有限预编译 Shader？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09 · WHO DEFINES THE SET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拿不到业务清单，因此预编译范围只能由库内定义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353312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逐一排除可能的范围来源，剩下的责任边界只有 TGFX 库本身。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68096" y="1828800"/>
            <a:ext cx="2743200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82880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候选范围来源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21024" y="1828800"/>
            <a:ext cx="4663440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828800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为什么不能采用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94192" y="1828800"/>
            <a:ext cx="1353312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828800"/>
            <a:ext cx="1133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" y="2395728"/>
            <a:ext cx="2743200" cy="493776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2395728"/>
            <a:ext cx="2523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调用方申报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21024" y="2395728"/>
            <a:ext cx="466344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2395728"/>
            <a:ext cx="42611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下游无组合清单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394192" y="2395728"/>
            <a:ext cx="1353312" cy="493776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395728"/>
            <a:ext cx="1133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912096" y="2642616"/>
            <a:ext cx="292608" cy="0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8096" y="3072384"/>
            <a:ext cx="2743200" cy="493776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072384"/>
            <a:ext cx="2523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项目资产 Cook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21024" y="3072384"/>
            <a:ext cx="466344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22192" y="3072384"/>
            <a:ext cx="42611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不拥有项目资产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394192" y="3072384"/>
            <a:ext cx="1353312" cy="493776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3072384"/>
            <a:ext cx="1133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排除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912096" y="3319272"/>
            <a:ext cx="292608" cy="0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8096" y="3749040"/>
            <a:ext cx="2743200" cy="493776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3749040"/>
            <a:ext cx="2523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限制固定能力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21024" y="3749040"/>
            <a:ext cx="466344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22192" y="3749040"/>
            <a:ext cx="42611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会收窄公开 API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394192" y="3749040"/>
            <a:ext cx="1353312" cy="493776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3749040"/>
            <a:ext cx="1133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排除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912096" y="3995928"/>
            <a:ext cx="292608" cy="0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68096" y="4425696"/>
            <a:ext cx="2743200" cy="493776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" y="4425696"/>
            <a:ext cx="2523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miss 再编译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21024" y="4425696"/>
            <a:ext cx="466344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22192" y="4425696"/>
            <a:ext cx="42611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违背终态无 JIT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394192" y="4425696"/>
            <a:ext cx="1353312" cy="493776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0" y="4425696"/>
            <a:ext cx="1133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排除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912096" y="4672584"/>
            <a:ext cx="292608" cy="0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241280" y="2395728"/>
            <a:ext cx="1115568" cy="2523744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51008" y="2505456"/>
            <a:ext cx="8961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库内定义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预编译 Shader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并负责映射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范围责任不能外包给下游，也不能靠运行时补洞，只能落在 TGFX 库内。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10 · STATIC INTERFACE CRITERION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只为会改变 GPU 接口的差异生成不同版本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1481328"/>
            <a:ext cx="5376672" cy="19385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27632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REAL GLSL · REDUCED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497433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No device mask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layout(set = 1, binding = 0)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uniform sampler2D TextureSampler_0;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#define XP_DST_TEX_BINDING 1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272784" y="1481328"/>
            <a:ext cx="5212080" cy="19385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627632"/>
            <a:ext cx="4809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REAL GLSL · REDUCED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73952" y="1920240"/>
            <a:ext cx="480974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With device mask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layout(set = 1, binding = 0)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uniform sampler2D TextureSampler_0;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layout(set = 1, binding = 1)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uniform sampler2D MaskTextureSampler;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#define XP_DST_TEX_BINDING 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5376672" cy="14081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22192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COUNTEREXAMPLE · UNIFORM BRANCH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4974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if (AlphaOnly != 0) {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color = vec4(color.r);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2784" y="3675888"/>
            <a:ext cx="2487168" cy="932688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3675888"/>
            <a:ext cx="22677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2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资源声明 / binding 改变</a:t>
            </a:r>
            <a:endParaRPr lang="en-US" sz="132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32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静态接口版本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8997696" y="3675888"/>
            <a:ext cx="2487168" cy="93268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07424" y="3675888"/>
            <a:ext cx="22677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2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只改变计算数据</a:t>
            </a:r>
            <a:endParaRPr lang="en-US" sz="132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32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每次 Draw 上传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309360" y="4846320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6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取舍：不把所有资源塞进一个全能 Shader，也不为每个完整效果手写 Shader；只切分真实静态接口差异。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Variant / permutation 是具体预编译 Shader 的静态接口版本，不是效果或参数排列。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11 · ONE SOURCE TWO BUILDS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构建工具怎样从同一源码得到两个版本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1664208"/>
            <a:ext cx="3127248" cy="25968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10512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ONE SOURCE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27249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texture_fill.frag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injected before source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#define HAS_DEVICE_MASK 0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or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#define HAS_DEVICE_MASK 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05072" y="2340864"/>
            <a:ext cx="658368" cy="-402336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05072" y="3419856"/>
            <a:ext cx="658368" cy="402336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36592" y="1536192"/>
            <a:ext cx="6693408" cy="1591056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773936"/>
            <a:ext cx="6144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#define HAS_DEVICE_MASK 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10912" y="2322576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编译结果 A  ·  1 sampler  ·  XP binding 1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4736592" y="3346704"/>
            <a:ext cx="6693408" cy="1591056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3584448"/>
            <a:ext cx="6144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#define HAS_DEVICE_MASK 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10912" y="4133088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编译结果 B  ·  2 samplers  ·  XP binding 2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2249424" y="4919472"/>
            <a:ext cx="7699248" cy="329184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9152" y="4919472"/>
            <a:ext cx="7479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这里只隔离 HAS_DEVICE_MASK；完整 TextureFill 还包含 HAS_XP 维度。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2249424" y="5303520"/>
            <a:ext cx="7699248" cy="32918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9152" y="5303520"/>
            <a:ext cx="7479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6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变体不是两份手写 Shader，而是同一源码 + 不同宏。</a:t>
            </a:r>
            <a:endParaRPr lang="en-US" sz="1360" dirty="0"/>
          </a:p>
        </p:txBody>
      </p:sp>
      <p:sp>
        <p:nvSpPr>
          <p:cNvPr id="22" name="Shape 20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构建工具用宏值实例化静态接口版本，不复制业务 Shader 源码。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12 · PRECOMPILED SHADER DECLARATION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C++ 声明这个 Shader、源码和允许的宏取值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4944" y="1444752"/>
            <a:ext cx="6729984" cy="40782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91056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REAL STRUCTURE · CONCEPTUALLY REDUCED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883664"/>
            <a:ext cx="6327648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class TextureFillShader : public PrecompiledShader {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public: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struct FragDims {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static PermutationDomain domain() {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return PermutationDomain({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PermutationInt("HAS_XP", 3),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PermutationBool("HAS_DEVICE_MASK"),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});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}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};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PrecompiledShaderInfo info() const override {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return {Name(),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    "level1/texture_fill.vert",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    "level1/texture_fill.frag",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    PermutationDomain({}), FragDims::domain(), ...};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}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};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TGFX_REGISTER_SHADER(tgfx::TextureFillShader)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7754112" y="148132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2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概念性删减，名称和维度真实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662672" y="1883664"/>
            <a:ext cx="3785616" cy="603504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45552" y="188366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这是哪个 Shader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9107424" y="1883664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TextureFillShader 继承 PrecompiledShader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662672" y="2670048"/>
            <a:ext cx="3785616" cy="603504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5552" y="267004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源码在哪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9107424" y="2670048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info() 连接 Vertex / Fragment 文件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662672" y="3456432"/>
            <a:ext cx="3785616" cy="603504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5552" y="345643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宏可取什么值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9107424" y="3456432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domain() 声明两个静态维度的范围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662672" y="4242816"/>
            <a:ext cx="3785616" cy="60350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45552" y="424281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工具怎样发现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9107424" y="4242816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TGFX_REGISTER_SHADER 注册声明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662672" y="5193792"/>
            <a:ext cx="3785616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51937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一组维度取值 = 一个 permutation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声明范围 ≠ 全量编译；真正构建哪些版本由可达规则决定。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13 · REACHABLE BUILD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构建工具只编译运行时可能选中的版本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4944" y="1444752"/>
            <a:ext cx="6894576" cy="35844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91056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ENUMERATETEXTUREFILLREACHABLE · REDUCED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883664"/>
            <a:ext cx="64922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for (int deviceMask = 0; deviceMask &lt;= 1; ++deviceMask) {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for (int xpType = -1; xpType &lt;= 2; ++xpType) {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TextureFillInputs inputs;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inputs.deviceMask = deviceMask;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inputs.xpType = xpType;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auto composed = ComposeTextureFill(inputs);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if (!composed) continue;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auto frag = TextureFillShader::FD::domain()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            .encode(composed-&gt;fragValues);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result.insert({0, frag});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}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7918704" y="1572768"/>
            <a:ext cx="3529584" cy="804672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83296" y="1755648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1755648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50224" y="166420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枚举规则输入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50224" y="195681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7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deviceMask 0..1；xpType -1..2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7918704" y="2596896"/>
            <a:ext cx="3529584" cy="804672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83296" y="2779776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3024" y="2779776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50224" y="268833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Compose 过滤并映射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50224" y="29809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7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拒绝不合法输入，生成真实维度值</a:t>
            </a:r>
            <a:endParaRPr lang="en-US" sz="1170" dirty="0"/>
          </a:p>
        </p:txBody>
      </p:sp>
      <p:sp>
        <p:nvSpPr>
          <p:cNvPr id="20" name="Shape 18"/>
          <p:cNvSpPr/>
          <p:nvPr/>
        </p:nvSpPr>
        <p:spPr>
          <a:xfrm>
            <a:off x="7918704" y="3621024"/>
            <a:ext cx="3529584" cy="80467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83296" y="3803904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93024" y="3803904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50224" y="371246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reachable 才是清单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650224" y="40050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7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 insert 合法编码，不全编笛卡尔积</a:t>
            </a:r>
            <a:endParaRPr lang="en-US" sz="1170" dirty="0"/>
          </a:p>
        </p:txBody>
      </p:sp>
      <p:sp>
        <p:nvSpPr>
          <p:cNvPr id="25" name="Shape 23"/>
          <p:cNvSpPr/>
          <p:nvPr/>
        </p:nvSpPr>
        <p:spPr>
          <a:xfrm>
            <a:off x="1371600" y="5175504"/>
            <a:ext cx="2171700" cy="384048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1328" y="5175504"/>
            <a:ext cx="19522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6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reachable</a:t>
            </a:r>
            <a:endParaRPr lang="en-US" sz="106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6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permutation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3579876" y="5367528"/>
            <a:ext cx="18288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799332" y="5175504"/>
            <a:ext cx="2171700" cy="384048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09060" y="5175504"/>
            <a:ext cx="19522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注入宏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007608" y="5367528"/>
            <a:ext cx="18288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27064" y="5175504"/>
            <a:ext cx="2171700" cy="38404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5175504"/>
            <a:ext cx="19522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Backend 编译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35340" y="5367528"/>
            <a:ext cx="18288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654796" y="5175504"/>
            <a:ext cx="2171700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64524" y="5175504"/>
            <a:ext cx="19522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Bundle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保存 stage 资产与反射信息，不是完整 Pipeline。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14 · SHARED COMPOSE RULE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 和 Runtime 用同一规则得到相同的 permutation 编码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4944" y="1426464"/>
            <a:ext cx="6711696" cy="38039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7276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TRYMATCHTEXTUREFILL · REDUCED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865376"/>
            <a:ext cx="630936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deviceMask = SharedDeviceMaskValue(programInfo);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if (!deviceMask) return std::nullopt;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int xpType = GetXPType(programInfo);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if (xpType &lt; 0) return std::nullopt;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TextureFillInputs inputs;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inputs.deviceMask = *deviceMask;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inputs.xpType = xpType;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composed = ComposeTextureFill(inputs);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if (!composed) return std::nullopt;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frag = TextureFillShader::FD::domain()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        .encode(composed-&gt;fragValues);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return PermutationMatchResult{TextureFillShader::Name(),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TextureFillShader::EncodeVertex(), frag};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35824" y="15727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BUILD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35824" y="1865376"/>
            <a:ext cx="1121664" cy="530352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45552" y="1865376"/>
            <a:ext cx="902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枚举输入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8894064" y="2130552"/>
            <a:ext cx="91440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22080" y="1865376"/>
            <a:ext cx="1121664" cy="53035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31808" y="1865376"/>
            <a:ext cx="902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Compose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TextureFill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180320" y="2130552"/>
            <a:ext cx="91440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308336" y="1865376"/>
            <a:ext cx="1121664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18064" y="1865376"/>
            <a:ext cx="902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permutation</a:t>
            </a:r>
            <a:endParaRPr lang="en-US" sz="102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编码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735824" y="268833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RUNTIME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35824" y="2980944"/>
            <a:ext cx="1121664" cy="53035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45552" y="2980944"/>
            <a:ext cx="902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 Draw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8894064" y="3246120"/>
            <a:ext cx="9144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22080" y="2980944"/>
            <a:ext cx="1121664" cy="53035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31808" y="2980944"/>
            <a:ext cx="902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Compose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TextureFill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180320" y="3246120"/>
            <a:ext cx="9144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308336" y="2980944"/>
            <a:ext cx="1121664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18064" y="2980944"/>
            <a:ext cx="902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相同编码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35824" y="3858768"/>
            <a:ext cx="3694176" cy="107899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4041648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为何能证明一致？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7991856" y="43708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7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两边都用 Compose 映射维度；同一合法输入编码为同一 Name / vertex / fragment。</a:t>
            </a:r>
            <a:endParaRPr lang="en-US" sz="1170" dirty="0"/>
          </a:p>
        </p:txBody>
      </p:sp>
      <p:sp>
        <p:nvSpPr>
          <p:cNvPr id="31" name="Shape 29"/>
          <p:cNvSpPr/>
          <p:nvPr/>
        </p:nvSpPr>
        <p:spPr>
          <a:xfrm>
            <a:off x="1170432" y="5358384"/>
            <a:ext cx="9857232" cy="310896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5358384"/>
            <a:ext cx="9637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命中后 → 加载 stages → 绑定纹理 / uniform → 创建或复用 Pipeline → Draw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 Compose 规则同时定义“构建什么”和“运行时选什么”。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15 · FINITE INTERFACE OPEN TREE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有限 Variant 不能枚举任意效果树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4944" y="1444752"/>
            <a:ext cx="6437376" cy="17739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9105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PUBLIC API · REDUCED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883664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filtered = shaderA-&gt;makeWithColorFilter(matrix);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nested = Shader::MakeBlend(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mode, filtered,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Shader::MakeBlend(mode, shaderB, shaderC));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nested can be wrapped by another MakeBlend(...).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07808" y="1463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TREE MATCHING THE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454896" y="1773936"/>
            <a:ext cx="1024128" cy="384048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64624" y="177393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Blend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0" y="2578608"/>
            <a:ext cx="1389888" cy="438912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257860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Filtered / Matrix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71632" y="2578608"/>
            <a:ext cx="877824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81360" y="2578608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Blend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36992" y="3364992"/>
            <a:ext cx="1060704" cy="384048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336499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8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Image A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966960" y="3364992"/>
            <a:ext cx="932688" cy="384048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76688" y="336499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2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Image B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11082528" y="3364992"/>
            <a:ext cx="932688" cy="384048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92256" y="336499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2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Image C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467344" y="2578608"/>
            <a:ext cx="1499616" cy="-420624"/>
          </a:xfrm>
          <a:prstGeom prst="line">
            <a:avLst/>
          </a:prstGeom>
          <a:noFill/>
          <a:ln w="17780">
            <a:solidFill>
              <a:srgbClr val="008C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66960" y="2157984"/>
            <a:ext cx="1243584" cy="420624"/>
          </a:xfrm>
          <a:prstGeom prst="line">
            <a:avLst/>
          </a:prstGeom>
          <a:noFill/>
          <a:ln w="17780">
            <a:solidFill>
              <a:srgbClr val="76B9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67344" y="3017520"/>
            <a:ext cx="0" cy="347472"/>
          </a:xfrm>
          <a:prstGeom prst="line">
            <a:avLst/>
          </a:prstGeom>
          <a:noFill/>
          <a:ln w="17780">
            <a:solidFill>
              <a:srgbClr val="008C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33304" y="3364992"/>
            <a:ext cx="777240" cy="-347472"/>
          </a:xfrm>
          <a:prstGeom prst="line">
            <a:avLst/>
          </a:prstGeom>
          <a:noFill/>
          <a:ln w="17780">
            <a:solidFill>
              <a:srgbClr val="76B9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10544" y="3017520"/>
            <a:ext cx="338328" cy="347472"/>
          </a:xfrm>
          <a:prstGeom prst="line">
            <a:avLst/>
          </a:prstGeom>
          <a:noFill/>
          <a:ln w="17780">
            <a:solidFill>
              <a:srgbClr val="76B9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73568" y="4041648"/>
            <a:ext cx="3547872" cy="384048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83296" y="4041648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8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仍可继续包一层 MakeBlend(...) → 深度继续增长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94944" y="3529584"/>
            <a:ext cx="6437376" cy="1078992"/>
          </a:xfrm>
          <a:prstGeom prst="rect">
            <a:avLst/>
          </a:prstGeom>
          <a:solidFill>
            <a:srgbClr val="F4F7F9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749040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HAS_DEVICE_MASK × HAS_XP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32688" y="4133088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有限接口取值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3895344" y="3749040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1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MakeBlend(... MakeBlend(...))</a:t>
            </a:r>
            <a:endParaRPr lang="en-US" sz="1310" dirty="0"/>
          </a:p>
        </p:txBody>
      </p:sp>
      <p:sp>
        <p:nvSpPr>
          <p:cNvPr id="34" name="Text 32"/>
          <p:cNvSpPr/>
          <p:nvPr/>
        </p:nvSpPr>
        <p:spPr>
          <a:xfrm>
            <a:off x="3895344" y="4133088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嵌套深度没有固定上限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822960" y="4956048"/>
            <a:ext cx="10625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错误方向：每棵树一个版本会组合增长；无限扩容单 Shader 会撞资源与性能边界；拒绝合法树会收窄公开 API。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单个预编译 Shader 不能表达时，先判断能否拆成多个可表达 Pass，不按固定数量判断。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16 · SEMANTICS-PRESERVING MULTI-PASS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只有能保持语义的结构，才拆成多个预编译 Pass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" y="15179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ORIGINAL · 线性同像素链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828800"/>
            <a:ext cx="1810512" cy="585216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828800"/>
            <a:ext cx="1591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2121408"/>
            <a:ext cx="182880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27248" y="1828800"/>
            <a:ext cx="1810512" cy="585216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1828800"/>
            <a:ext cx="1591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Matrix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74336" y="2121408"/>
            <a:ext cx="182880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93792" y="1828800"/>
            <a:ext cx="1810512" cy="585216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828800"/>
            <a:ext cx="1591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Luma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40880" y="2121408"/>
            <a:ext cx="182880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60336" y="1828800"/>
            <a:ext cx="1810512" cy="585216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0064" y="1828800"/>
            <a:ext cx="1591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Threshold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07424" y="2121408"/>
            <a:ext cx="182880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26880" y="1828800"/>
            <a:ext cx="1810512" cy="585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36608" y="1828800"/>
            <a:ext cx="1591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8096" y="27066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DECOMPOSED · 每个 Pass 仍命中预编译 permutation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60704" y="3054096"/>
            <a:ext cx="932688" cy="65836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3054096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Pass 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49424" y="3090672"/>
            <a:ext cx="1176528" cy="585216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9152" y="3090672"/>
            <a:ext cx="957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Image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462528" y="3383280"/>
            <a:ext cx="146304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645408" y="3090672"/>
            <a:ext cx="1176528" cy="585216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55136" y="3090672"/>
            <a:ext cx="957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Matrix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858512" y="3383280"/>
            <a:ext cx="146304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041392" y="3090672"/>
            <a:ext cx="1176528" cy="585216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51120" y="3090672"/>
            <a:ext cx="957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Luma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17920" y="3383280"/>
            <a:ext cx="493776" cy="0"/>
          </a:xfrm>
          <a:prstGeom prst="line">
            <a:avLst/>
          </a:prstGeom>
          <a:noFill/>
          <a:ln w="2032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748272" y="3054096"/>
            <a:ext cx="1371600" cy="658368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054096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中间纹理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888736" y="37490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4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安全切分点：前段结果可作为后段的同像素输入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8156448" y="3383280"/>
            <a:ext cx="493776" cy="0"/>
          </a:xfrm>
          <a:prstGeom prst="line">
            <a:avLst/>
          </a:prstGeom>
          <a:noFill/>
          <a:ln w="2032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686800" y="3054096"/>
            <a:ext cx="713232" cy="65836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96528" y="3054096"/>
            <a:ext cx="493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Pass 1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582912" y="3090672"/>
            <a:ext cx="859536" cy="585216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92640" y="309067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Threshold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10479024" y="3383280"/>
            <a:ext cx="54864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570464" y="3090672"/>
            <a:ext cx="859536" cy="585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80192" y="309067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86384" y="4078224"/>
            <a:ext cx="3438144" cy="768096"/>
          </a:xfrm>
          <a:prstGeom prst="rect">
            <a:avLst/>
          </a:prstGeom>
          <a:solidFill>
            <a:srgbClr val="F4F7F9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50976" y="418795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语义条件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755648" y="4078224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4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保持算子顺序与同像素输入输出</a:t>
            </a:r>
            <a:endParaRPr lang="en-US" sz="1240" dirty="0"/>
          </a:p>
        </p:txBody>
      </p:sp>
      <p:sp>
        <p:nvSpPr>
          <p:cNvPr id="48" name="Shape 46"/>
          <p:cNvSpPr/>
          <p:nvPr/>
        </p:nvSpPr>
        <p:spPr>
          <a:xfrm>
            <a:off x="4572000" y="4078224"/>
            <a:ext cx="3438144" cy="768096"/>
          </a:xfrm>
          <a:prstGeom prst="rect">
            <a:avLst/>
          </a:prstGeom>
          <a:solidFill>
            <a:srgbClr val="F4F7F9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418795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执行方式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541264" y="4078224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4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Pass 匹配具体 PrecompiledShader permutation</a:t>
            </a:r>
            <a:endParaRPr lang="en-US" sz="1240" dirty="0"/>
          </a:p>
        </p:txBody>
      </p:sp>
      <p:sp>
        <p:nvSpPr>
          <p:cNvPr id="51" name="Shape 49"/>
          <p:cNvSpPr/>
          <p:nvPr/>
        </p:nvSpPr>
        <p:spPr>
          <a:xfrm>
            <a:off x="8357616" y="4078224"/>
            <a:ext cx="3438144" cy="768096"/>
          </a:xfrm>
          <a:prstGeom prst="rect">
            <a:avLst/>
          </a:prstGeom>
          <a:solidFill>
            <a:srgbClr val="F4F7F9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22208" y="418795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明确边界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326880" y="4078224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4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不对任意递归树做通用切分</a:t>
            </a:r>
            <a:endParaRPr lang="en-US" sz="1240" dirty="0"/>
          </a:p>
        </p:txBody>
      </p:sp>
      <p:sp>
        <p:nvSpPr>
          <p:cNvPr id="54" name="Shape 52"/>
          <p:cNvSpPr/>
          <p:nvPr/>
        </p:nvSpPr>
        <p:spPr>
          <a:xfrm>
            <a:off x="786384" y="5047488"/>
            <a:ext cx="10753344" cy="438912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7552" y="5047488"/>
            <a:ext cx="10351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4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成本边界  ·  RGBA8 临时内存约 4WH  ·  写入 + 读取约 8WH  ·  另有 RT switch、额外 Pass 与量化边界</a:t>
            </a:r>
            <a:endParaRPr lang="en-US" sz="1240" dirty="0"/>
          </a:p>
        </p:txBody>
      </p:sp>
      <p:sp>
        <p:nvSpPr>
          <p:cNvPr id="56" name="Shape 54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Multi-pass 只组织已有 Shader 与中间纹理，不生成 runtime Shader。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17 · BENEFITS AND COSTS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收益与代价：前移可确定成本，而不是消除成本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可达 Shader 的生成与 Backend 编译进入构建期；平台仍保留加载、Pipeline 首建和执行成本。 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8096" y="1901952"/>
            <a:ext cx="5230368" cy="31821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176272"/>
            <a:ext cx="4681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前移到 Build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97280" y="2779776"/>
            <a:ext cx="45720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可达 Shader 源码展开与 Backend 编译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Bundle 生成、压缩与版本发布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已覆盖案例不再运行时生成完整 Shader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6382512" y="1901952"/>
            <a:ext cx="5029200" cy="3182112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21762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Runtime 仍需承担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711696" y="2779776"/>
            <a:ext cx="437083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加载、解压与临时内存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 首建；OpenGL 仍需 driver compile/link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预编译 Shader 与安全 Multi-pass 的 GPU 成本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3968496" y="5321808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Bundle 不包含完整 Pipeline。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的收益是前移可确定成本；其价值仍需与资产、内存和 GPU 代价共同衡量。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18 · EVIDENCE AND NEXT MEASUREMENTS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已有证据与产品待测：机制闭环，价值由真实负载确认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现有案例回答“能否工作”；产品化还要回答覆盖、资产、启动、GPU 与 Multi-pass 的净收益。 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1865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已有案例证据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8096" y="2267712"/>
            <a:ext cx="1481328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26771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87168" y="2267712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4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构建资产可定位并加载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768096" y="2926080"/>
            <a:ext cx="1481328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92608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487168" y="2926080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4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目标案例旧生成路径为 0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768096" y="3584448"/>
            <a:ext cx="1481328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584448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487168" y="3584448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4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限定案例像素 byte-exact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768096" y="4242816"/>
            <a:ext cx="1481328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24281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Multi-pass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487168" y="4242816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4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安全线性链由多个预编译 Pass 执行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5852160" y="1865376"/>
            <a:ext cx="0" cy="329184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产品待测与发布闭环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91072" y="2267712"/>
            <a:ext cx="1225296" cy="438912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26771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0" y="2267712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 workload 的命中与不可切分结构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291072" y="2926080"/>
            <a:ext cx="1225296" cy="438912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9260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772400" y="2926080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构建时间、Bundle 体积、加载与内存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6291072" y="3584448"/>
            <a:ext cx="1225296" cy="438912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5844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772400" y="3584448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cold start、CPU / GPU、Shader 与 Multi-pass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6291072" y="4242816"/>
            <a:ext cx="1225296" cy="438912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24281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772400" y="4242816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Backend 版本匹配、回滚与兼容策略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932688" y="5102352"/>
            <a:ext cx="1872691" cy="512064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2416" y="5102352"/>
            <a:ext cx="16532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开放输入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2841955" y="5358384"/>
            <a:ext cx="164592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043123" y="5102352"/>
            <a:ext cx="1872691" cy="512064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52851" y="5102352"/>
            <a:ext cx="16532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4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库内规则映射</a:t>
            </a:r>
            <a:endParaRPr lang="en-US" sz="1240" dirty="0"/>
          </a:p>
        </p:txBody>
      </p:sp>
      <p:sp>
        <p:nvSpPr>
          <p:cNvPr id="40" name="Shape 38"/>
          <p:cNvSpPr/>
          <p:nvPr/>
        </p:nvSpPr>
        <p:spPr>
          <a:xfrm>
            <a:off x="4952390" y="5358384"/>
            <a:ext cx="164592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153558" y="5102352"/>
            <a:ext cx="1872691" cy="51206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3286" y="5102352"/>
            <a:ext cx="16532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8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PrecompiledShader</a:t>
            </a:r>
            <a:endParaRPr lang="en-US" sz="108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8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permutation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7062826" y="5358384"/>
            <a:ext cx="164592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263994" y="5102352"/>
            <a:ext cx="1872691" cy="512064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73722" y="5102352"/>
            <a:ext cx="16532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 Multi-pass</a:t>
            </a:r>
            <a:endParaRPr lang="en-US" sz="1220" dirty="0"/>
          </a:p>
        </p:txBody>
      </p:sp>
      <p:sp>
        <p:nvSpPr>
          <p:cNvPr id="46" name="Shape 44"/>
          <p:cNvSpPr/>
          <p:nvPr/>
        </p:nvSpPr>
        <p:spPr>
          <a:xfrm>
            <a:off x="9173261" y="5358384"/>
            <a:ext cx="164592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374429" y="5102352"/>
            <a:ext cx="1872691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84157" y="5102352"/>
            <a:ext cx="16532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+ Pipeline</a:t>
            </a:r>
            <a:endParaRPr lang="en-US" sz="116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验证</a:t>
            </a:r>
            <a:endParaRPr lang="en-US" sz="1160" dirty="0"/>
          </a:p>
        </p:txBody>
      </p:sp>
      <p:sp>
        <p:nvSpPr>
          <p:cNvPr id="49" name="Shape 47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用有限静态接口版本连接 Build 与 Runtime，并只在语义可证明时使用 Multi-pass。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Tencent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TGFX AOT 复合绘制架构</dc:title>
  <dc:subject>TGFX AOT Shader architecture</dc:subject>
  <dc:creator>TGFX Graphics Team</dc:creator>
  <cp:lastModifiedBy>TGFX Graphics Team</cp:lastModifiedBy>
  <cp:revision>1</cp:revision>
  <dcterms:created xsi:type="dcterms:W3CDTF">2026-08-24T14:21:17Z</dcterms:created>
  <dcterms:modified xsi:type="dcterms:W3CDTF">2026-08-24T14:21:17Z</dcterms:modified>
</cp:coreProperties>
</file>