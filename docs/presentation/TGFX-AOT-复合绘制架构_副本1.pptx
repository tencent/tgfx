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Flutter official source, accessed 2026-08-24:
https://docs.flutter.dev/perf/impeller#what-is-impeller
Repository: flutter/flutter
Commit: 49d0823cb00e22a08534f2b5e2a125386176eea6
Directory: https://github.com/flutter/flutter/tree/49d0823cb00e22a08534f2b5e2a125386176eea6/engine/src/flutter/impeller/entity/shaders
Code: https://github.com/flutter/flutter/blob/49d0823cb00e22a08534f2b5e2a125386176eea6/engine/src/flutter/impeller/entity/shaders/solid_fill.frag
Counting method: recursively count 16 .vert + 47 .frag = 63 stage source entries. Count 5 directory-local shared .glsl files separately. Neither number is a pipeline or PSO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sources, accessed 2026-08-24:
Skia Graphite PaintOptions: https://skia.googlesource.com/skia/+/refs/heads/main/include/gpu/graphite/precompile/PaintOptions.h
Skia Graphite Precompile: https://skia.googlesource.com/skia/+/refs/heads/main/include/gpu/graphite/precompile/Precompile.h
The slide uses the official method names setShaders, setColorFilters, setBlendModes, and Precompile. shader0/filter0/blend0 are stand-ins for valid precompile objects, not a complete compilable sample. Client-described combinations that are omitted can still compile inline at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Official sources, accessed 2026-08-24:
Shader permutations: https://dev.epicgames.com/community/learning/knowledge-base/6PxP/unreal-engine-understanding-shader-permutations
PSO precaching: https://dev.epicgames.com/documentation/unreal-engine/pso-precaching-for-unreal-engine?lang=en-US
The material switch code is explicitly conceptual and is not a complete Unreal Engine API sample. Cooked shader permutations and complete PSOs are distinct layers. Missed, Untracked, and Too late describe coverage and timing boundaries.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 · JIT BASELINE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JIT 递归拼接整棵效果树的 Shader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一次 Draw 先形成完整递归效果树；ProgramBuilder 按真实结构依次安装 GP、递归 FP 树和 XP，直接生成整体 Shader。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1993392"/>
            <a:ext cx="2458136" cy="71323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993392"/>
            <a:ext cx="223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完整效果树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53080" y="2350008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63976" y="1993392"/>
            <a:ext cx="2458136" cy="71323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73704" y="1993392"/>
            <a:ext cx="223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ProgramBuilder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递归拼接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58688" y="2350008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69584" y="1993392"/>
            <a:ext cx="2458136" cy="71323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9312" y="1993392"/>
            <a:ext cx="223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完整 VS + FS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764295" y="2350008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75191" y="1993392"/>
            <a:ext cx="2458136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4919" y="1993392"/>
            <a:ext cx="2238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Backend → Draw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" y="3090672"/>
            <a:ext cx="6784848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36976"/>
            <a:ext cx="6382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PROGRAMBUILDER 3 STEPS + CHILD EMITCODE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" y="3529584"/>
            <a:ext cx="63825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emitAndInstallGeoProc(&amp;inputColor, &amp;inputCoverage);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emitAndInstallFragProcessors(&amp;inputColor, &amp;inputCoverage);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emitAndInstallXferProc(inputColor, inputCoverage);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childProcessor(childIndex)-&gt;emitCode(childArgs);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7918704" y="3090672"/>
            <a:ext cx="3383280" cy="157276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3090672"/>
            <a:ext cx="2834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父 Processor 递归调用子 Processor 的 emitCode()，再把返回表达式拼成整棵树对应的完整 Shader。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847088" y="49560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调用顺序：GP → recursive FP tree → XP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 JIT 的编译单位是一次 Draw 的完整递归效果树。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 · BACKEND CHAINS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 Backend 将一次动态 Shader 扩展为多条运行时工具链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动态生成 GLSL 只是起点。完整 Shader 还要经过目标 Backend 的转换、驱动编译、链接或 Pipeline State Object（PSO）创建，因此平台差异和首次成本同时进入产品运行期。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6384" y="2240280"/>
            <a:ext cx="2423160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240280"/>
            <a:ext cx="2203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完整效果树 → 完整 GLSL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9544" y="2569464"/>
            <a:ext cx="493776" cy="-301752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30752" y="1938528"/>
            <a:ext cx="233476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9385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SPIR-V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02096" y="2249424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76416" y="1938528"/>
            <a:ext cx="233476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86144" y="19385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VkShaderModule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47760" y="2249424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22080" y="1938528"/>
            <a:ext cx="2334768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31808" y="19385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Vulkan Pipeline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209544" y="2569464"/>
            <a:ext cx="493776" cy="612648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30752" y="2852928"/>
            <a:ext cx="233476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8529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SPIR-V → MSL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02096" y="3163824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76416" y="2852928"/>
            <a:ext cx="233476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6144" y="28529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Metal Library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747760" y="3163824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22080" y="2852928"/>
            <a:ext cx="2334768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31808" y="28529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Metal Pipeline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209544" y="2569464"/>
            <a:ext cx="493776" cy="1527048"/>
          </a:xfrm>
          <a:prstGeom prst="line">
            <a:avLst/>
          </a:prstGeom>
          <a:noFill/>
          <a:ln w="1905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730752" y="3767328"/>
            <a:ext cx="233476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7673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GLSL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102096" y="4078224"/>
            <a:ext cx="237744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376416" y="3767328"/>
            <a:ext cx="2334768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86144" y="37673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Driver Compile/Link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747760" y="4078224"/>
            <a:ext cx="237744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022080" y="3767328"/>
            <a:ext cx="2334768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31808" y="3767328"/>
            <a:ext cx="2115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OpenGL Program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3730752" y="4700016"/>
            <a:ext cx="7626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WebGPU：target source/module → Shader Module → WebGPU Pipeline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只要完整 Shader 仍在运行时生成，各 Backend 的转换与首次创建成本就仍处于帧执行路径。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 · FIRST-USE COST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冷启动与首次新场景：Cache 不能保证消除新 Program 成本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 能复用已经出现过的完整 Program；首次启动或首次进入新场景时，开放递归 API 仍可能产生未见过的 Key，并把生成与编译留在当前帧。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POSSIBLE FIRST-USE PATH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212848"/>
            <a:ext cx="1920240" cy="93268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12848"/>
            <a:ext cx="17007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cold start /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first scene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06624" y="2679192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44368" y="2212848"/>
            <a:ext cx="1920240" cy="93268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54096" y="2212848"/>
            <a:ext cx="17007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unseen key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01184" y="2679192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38928" y="2212848"/>
            <a:ext cx="1920240" cy="93268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48656" y="2212848"/>
            <a:ext cx="17007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generate +</a:t>
            </a:r>
            <a:endParaRPr lang="en-US" sz="12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backend compile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095744" y="2679192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33488" y="2212848"/>
            <a:ext cx="1920240" cy="93268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2212848"/>
            <a:ext cx="17007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module /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90304" y="2679192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28048" y="2212848"/>
            <a:ext cx="1920240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7776" y="2212848"/>
            <a:ext cx="17007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current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frame delay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07008" y="34564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 可改善同一 Key 的后续复用，但不能保证首次遇到的新结构已经存在。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78992" y="4078224"/>
            <a:ext cx="449884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22452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COLOR FILTER COMPOSE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80160" y="45171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 = ColorFilter::Compose(a, b);</a:t>
            </a:r>
            <a:endParaRPr lang="en-US" sz="11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 = ColorFilter::Compose(a, c);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5815584" y="4078224"/>
            <a:ext cx="449884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4224528"/>
            <a:ext cx="4096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 BLEND TREE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016752" y="4517136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s01 = Shader::MakeBlend(mode, s0, s1);</a:t>
            </a:r>
            <a:endParaRPr lang="en-US" sz="11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tree = Shader::MakeBlend(mode, s01, s2);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1170432" y="5193792"/>
            <a:ext cx="9838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 Key 小注：结构与静态接口进入 Key；Matrix、Threshold 等数值通常仍由 Uniform 承载。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Cache 只能复用已见 Program；AOT 还必须同时解决编译时机与可预编译程序集合的边界。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 · TWO CONDITIONS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需要同时解决“何时编译”和“编译哪些程序”两个问题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将编译移出渲染路径只是第一步；只有程序集合具备有限边界，构建期预编译才具备可执行条件。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" y="1938528"/>
            <a:ext cx="5138928" cy="276148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938528"/>
            <a:ext cx="5138928" cy="2761488"/>
          </a:xfrm>
          <a:prstGeom prst="rect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3969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问题一：何时编译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6883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82496" y="2615184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 Shader 首次使用 → 运行时生成和编译 → 当前帧承担成本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82496" y="3264408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构建期完成 Shader 编译 → 运行时直接使用资产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005840" y="4096512"/>
            <a:ext cx="1024128" cy="347472"/>
          </a:xfrm>
          <a:prstGeom prst="rect">
            <a:avLst/>
          </a:prstGeom>
          <a:solidFill>
            <a:srgbClr val="D5EFEB"/>
          </a:solidFill>
          <a:ln w="12700">
            <a:solidFill>
              <a:srgbClr val="D5EF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冷启动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194560" y="4096512"/>
            <a:ext cx="1024128" cy="34747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4288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首次页面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83280" y="4096512"/>
            <a:ext cx="1024128" cy="347472"/>
          </a:xfrm>
          <a:prstGeom prst="rect">
            <a:avLst/>
          </a:prstGeom>
          <a:solidFill>
            <a:srgbClr val="D5EFEB"/>
          </a:solidFill>
          <a:ln w="12700">
            <a:solidFill>
              <a:srgbClr val="D5E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93008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首次动画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0" y="4096512"/>
            <a:ext cx="1024128" cy="34747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81728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帧时间长尾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47104" y="2139696"/>
            <a:ext cx="4626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2F6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问题二：编译哪些程序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47104" y="26883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F6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23760" y="2615184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效果树由运行时 API 动态组合 → 无法逐项列出全部完整程序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547104" y="33375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23760" y="3264408"/>
            <a:ext cx="3895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先定义有限、可描述的程序空间 → 构建期才能生成完整资产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547104" y="4096512"/>
            <a:ext cx="1024128" cy="347472"/>
          </a:xfrm>
          <a:prstGeom prst="rect">
            <a:avLst/>
          </a:prstGeom>
          <a:solidFill>
            <a:srgbClr val="DCEAF6"/>
          </a:solidFill>
          <a:ln w="12700">
            <a:solidFill>
              <a:srgbClr val="DCEA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56832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2F6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固定能力集</a:t>
            </a:r>
            <a:endParaRPr lang="en-US" sz="1220" dirty="0"/>
          </a:p>
        </p:txBody>
      </p:sp>
      <p:sp>
        <p:nvSpPr>
          <p:cNvPr id="30" name="Shape 28"/>
          <p:cNvSpPr/>
          <p:nvPr/>
        </p:nvSpPr>
        <p:spPr>
          <a:xfrm>
            <a:off x="7735824" y="4096512"/>
            <a:ext cx="1024128" cy="347472"/>
          </a:xfrm>
          <a:prstGeom prst="rect">
            <a:avLst/>
          </a:prstGeom>
          <a:solidFill>
            <a:srgbClr val="CFE0F0"/>
          </a:solidFill>
          <a:ln w="12700">
            <a:solidFill>
              <a:srgbClr val="CFE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项目资产集合</a:t>
            </a:r>
            <a:endParaRPr lang="en-US" sz="1220" dirty="0"/>
          </a:p>
        </p:txBody>
      </p:sp>
      <p:sp>
        <p:nvSpPr>
          <p:cNvPr id="32" name="Shape 30"/>
          <p:cNvSpPr/>
          <p:nvPr/>
        </p:nvSpPr>
        <p:spPr>
          <a:xfrm>
            <a:off x="8924544" y="4096512"/>
            <a:ext cx="1024128" cy="347472"/>
          </a:xfrm>
          <a:prstGeom prst="rect">
            <a:avLst/>
          </a:prstGeom>
          <a:solidFill>
            <a:srgbClr val="DCEAF6"/>
          </a:solidFill>
          <a:ln w="12700">
            <a:solidFill>
              <a:srgbClr val="DCEA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4272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2F6F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调用方申报组合</a:t>
            </a:r>
            <a:endParaRPr lang="en-US" sz="1220" dirty="0"/>
          </a:p>
        </p:txBody>
      </p:sp>
      <p:sp>
        <p:nvSpPr>
          <p:cNvPr id="34" name="Shape 32"/>
          <p:cNvSpPr/>
          <p:nvPr/>
        </p:nvSpPr>
        <p:spPr>
          <a:xfrm>
            <a:off x="10113264" y="4096512"/>
            <a:ext cx="1024128" cy="347472"/>
          </a:xfrm>
          <a:prstGeom prst="rect">
            <a:avLst/>
          </a:prstGeom>
          <a:solidFill>
            <a:srgbClr val="CFE0F0"/>
          </a:solidFill>
          <a:ln w="12700">
            <a:solidFill>
              <a:srgbClr val="CFE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222992" y="4096512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库内结构归约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3319272" y="4718304"/>
            <a:ext cx="1673352" cy="384048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60536" y="4718304"/>
            <a:ext cx="-1673352" cy="384048"/>
          </a:xfrm>
          <a:prstGeom prst="line">
            <a:avLst/>
          </a:prstGeom>
          <a:noFill/>
          <a:ln w="22860">
            <a:solidFill>
              <a:srgbClr val="2F6FA3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993392" y="5157216"/>
            <a:ext cx="8211312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67712" y="5285232"/>
            <a:ext cx="766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的成立条件：编译前移 + 程序集合有限化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2267712" y="5705856"/>
            <a:ext cx="7662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D9E7F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行业方案的核心差异，是采用何种方式获得有限程序集合。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 · IMPELLER FIXED SET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Impeller 先固定源码集合，再在构建期完成编译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13232" y="1426464"/>
            <a:ext cx="6693408" cy="3529584"/>
          </a:xfrm>
          <a:prstGeom prst="rect">
            <a:avLst/>
          </a:prstGeom>
          <a:solidFill>
            <a:srgbClr val="F4F7F9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8" name="Image 0" descr="/Users/shenxianfei/Documents/tgfx/docs/presentation/assets/flutter-impeller-shaders-49d0823c.png">    </p:cNvPr>
          <p:cNvPicPr>
            <a:picLocks noChangeAspect="1"/>
          </p:cNvPicPr>
          <p:nvPr/>
        </p:nvPicPr>
        <p:blipFill>
          <a:blip r:embed="rId1"/>
          <a:srcRect l="16949" r="-16949" t="42818" b="-42818"/>
          <a:stretch/>
        </p:blipFill>
        <p:spPr>
          <a:xfrm>
            <a:off x="822960" y="1536192"/>
            <a:ext cx="6473952" cy="33101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736592"/>
            <a:ext cx="6291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b="1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OFFICIAL SOURCE TREE · flutter/flutter · commit 49d0823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7626096" y="146304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3900" dirty="0"/>
          </a:p>
        </p:txBody>
      </p:sp>
      <p:sp>
        <p:nvSpPr>
          <p:cNvPr id="11" name="Text 8"/>
          <p:cNvSpPr/>
          <p:nvPr/>
        </p:nvSpPr>
        <p:spPr>
          <a:xfrm>
            <a:off x="7626096" y="207568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sources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26096" y="2286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 .vert + 47 .frag</a:t>
            </a:r>
            <a:endParaRPr lang="en-US" sz="1160" dirty="0"/>
          </a:p>
        </p:txBody>
      </p:sp>
      <p:sp>
        <p:nvSpPr>
          <p:cNvPr id="13" name="Text 10"/>
          <p:cNvSpPr/>
          <p:nvPr/>
        </p:nvSpPr>
        <p:spPr>
          <a:xfrm>
            <a:off x="9528048" y="1463040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3900" dirty="0"/>
          </a:p>
        </p:txBody>
      </p:sp>
      <p:sp>
        <p:nvSpPr>
          <p:cNvPr id="14" name="Text 11"/>
          <p:cNvSpPr/>
          <p:nvPr/>
        </p:nvSpPr>
        <p:spPr>
          <a:xfrm>
            <a:off x="9528048" y="207568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shared GLSL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528048" y="228600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均不是 PSO 数</a:t>
            </a:r>
            <a:endParaRPr lang="en-US" sz="1160" dirty="0"/>
          </a:p>
        </p:txBody>
      </p:sp>
      <p:sp>
        <p:nvSpPr>
          <p:cNvPr id="16" name="Shape 13"/>
          <p:cNvSpPr/>
          <p:nvPr/>
        </p:nvSpPr>
        <p:spPr>
          <a:xfrm>
            <a:off x="7589520" y="2670048"/>
            <a:ext cx="3639312" cy="22677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90688" y="2816352"/>
            <a:ext cx="3236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SOLID_FILL.FRAG · REAL SOURCE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90688" y="3108960"/>
            <a:ext cx="3236976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uniform FragInfo {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vec4 color;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 frag_info;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 vec4 frag_color;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void main() {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frag_color = frag_info.color;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320" dirty="0"/>
          </a:p>
        </p:txBody>
      </p:sp>
      <p:sp>
        <p:nvSpPr>
          <p:cNvPr id="19" name="Shape 16"/>
          <p:cNvSpPr/>
          <p:nvPr/>
        </p:nvSpPr>
        <p:spPr>
          <a:xfrm>
            <a:off x="1591056" y="5102352"/>
            <a:ext cx="2767584" cy="43891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00784" y="5102352"/>
            <a:ext cx="2548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固定源码集合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95216" y="5321808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06112" y="5102352"/>
            <a:ext cx="2767584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15840" y="5102352"/>
            <a:ext cx="2548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构建期编译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510272" y="5321808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821168" y="5102352"/>
            <a:ext cx="2767584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30896" y="5102352"/>
            <a:ext cx="25481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已知 Shader / PSO 资产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243584" y="5577840"/>
            <a:ext cx="9692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i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官方定义：Impeller 在引擎构建期预编译更小、更简单的一组 Shader。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固定源码集合是一种有限化方式；Graphite 则由调用方申报需要提前创建的组合。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06 · GRAPHITE CANDIDATES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Skia Graphite 由调用方申报要提前创建的组合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Ganesh 主要复用已经出现的程序；Graphite 让调用方显式列出有限候选，并在首次绘制前创建相应 Pipeline。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901952"/>
            <a:ext cx="5961888" cy="19933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48256"/>
            <a:ext cx="555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MINIMAL GRAPHITE 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555955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PaintOptions options;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options.setShaders({shader0, shader1});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options.setColorFilters({filter0, filter1});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options.setBlendModes({blend0, blend1});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Precompile(context, options, drawTypes,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renderPassProperties);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13232" y="4151376"/>
            <a:ext cx="5961888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51376"/>
            <a:ext cx="57424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 shader × 2 filter × 2 blend = 8 candidates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43216" y="1901952"/>
            <a:ext cx="3822192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52944" y="1901952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调用方列候选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54312" y="2450592"/>
            <a:ext cx="0" cy="201168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443216" y="2688336"/>
            <a:ext cx="3822192" cy="53035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2688336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354312" y="3236976"/>
            <a:ext cx="0" cy="201168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443216" y="3474720"/>
            <a:ext cx="3822192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52944" y="3474720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提前创建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43216" y="43159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遗漏合法组合 → inline compile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1248" y="5029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4992624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已知组合可提前创建 · 后续直接复用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27648" y="50292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不足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67728" y="4992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完整性依赖申报 · 组合数按乘积增长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Graphite 能提前创建已申报组合，但候选完整性与规模仍由调用方承担。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 · UNREAL TWO LAYERS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 分两层前移 Shader 排列与 PSO 创建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Unreal 先在 Cook 阶段生成项目所需的 Shader permutations，再把 Shader 与顶点布局、Mesh Pass 和渲染状态组合为 PSO candidate 并 precache。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 · COOK SHADER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2212848"/>
            <a:ext cx="4956048" cy="20665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59152"/>
            <a:ext cx="4553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CONCEPTUAL · NOT COMPLETE UE API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651760"/>
            <a:ext cx="45537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Material switches</a:t>
            </a:r>
            <a:endParaRPr lang="en-US" sz="13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USE_NORMAL_MAP = true</a:t>
            </a:r>
            <a:endParaRPr lang="en-US" sz="13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USE_CLEAR_COAT = false</a:t>
            </a:r>
            <a:endParaRPr lang="en-US" sz="1340" dirty="0"/>
          </a:p>
          <a:p>
            <a:pPr algn="l" indent="0" marL="0">
              <a:lnSpc>
                <a:spcPct val="100000"/>
              </a:lnSpc>
              <a:buNone/>
            </a:pPr>
            <a:endParaRPr lang="en-US" sz="13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USE_NORMAL_MAP 1</a:t>
            </a:r>
            <a:endParaRPr lang="en-US" sz="13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4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#define USE_CLEAR_COAT 0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1170432" y="4553712"/>
            <a:ext cx="4041648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4553712"/>
            <a:ext cx="38221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Cook Shader Permutation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63056" y="19019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 · PSO PRECACHE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73952" y="2212848"/>
            <a:ext cx="4443984" cy="420624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212848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Material Shader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695944" y="2651760"/>
            <a:ext cx="0" cy="146304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73952" y="2816352"/>
            <a:ext cx="4443984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816352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Vertex Layout + Mesh Pass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8695944" y="3255264"/>
            <a:ext cx="0" cy="146304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73952" y="3419856"/>
            <a:ext cx="4443984" cy="420624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419856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Blend / Depth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8695944" y="3858768"/>
            <a:ext cx="0" cy="146304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73952" y="4023360"/>
            <a:ext cx="4443984" cy="42062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4023360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PSO Candidate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695944" y="4462272"/>
            <a:ext cx="0" cy="146304"/>
          </a:xfrm>
          <a:prstGeom prst="line">
            <a:avLst/>
          </a:prstGeom>
          <a:noFill/>
          <a:ln w="1905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73952" y="4626864"/>
            <a:ext cx="4443984" cy="4206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626864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Precache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163056" y="5230368"/>
            <a:ext cx="5138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4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Missed / Untracked / Too late：覆盖缺口或发现过晚，仍会留下首次运行时成本。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Cook Shader 与 PSO Precache 是两个层级：前者生成排列，后者提前创建完整管线候选。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08 · LIBRARY-OWNED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在库内把开放输入归约为固定执行空间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下游不修改 TGFX，也不提供候选清单；公开递归效果树保持开放，TGFX 在库内完成分析、静态选择与运行时数据写入。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01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总体模型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286000"/>
            <a:ext cx="1901952" cy="84124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860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公开递归</a:t>
            </a:r>
            <a:endParaRPr lang="en-US" sz="15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效果树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88336" y="2706624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9232" y="2286000"/>
            <a:ext cx="1901952" cy="84124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22860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库内分析</a:t>
            </a:r>
            <a:endParaRPr lang="en-US" sz="15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与归约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2706624"/>
            <a:ext cx="274320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248656" y="2286000"/>
            <a:ext cx="1901952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58384" y="22860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固定 Shader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+ runtime data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50208" y="3364992"/>
            <a:ext cx="0" cy="420624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78992" y="3913632"/>
            <a:ext cx="5742432" cy="56692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3913632"/>
            <a:ext cx="5522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超容量且语义允许 → intermediate + multi-pass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26096" y="1901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三条边界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26096" y="2249424"/>
            <a:ext cx="457200" cy="493776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2249424"/>
            <a:ext cx="237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02752" y="2249424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下游不改 TGFX，也不提供组合清单。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7626096" y="3108960"/>
            <a:ext cx="457200" cy="493776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35824" y="3108960"/>
            <a:ext cx="237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02752" y="3108960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参数数据化；静态接口维度保持有限。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7626096" y="3968496"/>
            <a:ext cx="457200" cy="493776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3968496"/>
            <a:ext cx="2377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02752" y="3968496"/>
            <a:ext cx="2962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只有语义可保持时才允许切分。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7626096" y="4828032"/>
            <a:ext cx="3639312" cy="512064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08976" y="4892040"/>
            <a:ext cx="3273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6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Draw Bounds 只决定中间纹理范围、坐标偏移与成本，不限制输入组合。</a:t>
            </a:r>
            <a:endParaRPr lang="en-US" sz="1260" dirty="0"/>
          </a:p>
        </p:txBody>
      </p:sp>
      <p:sp>
        <p:nvSpPr>
          <p:cNvPr id="32" name="Shape 30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不收窄公开输入；库内用固定 Shader、运行时数据和语义安全的 Multi-pass 承接具体结构。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 · RUNTIME DECISION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运行时沿四级阶梯寻找安全的固定表达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每一级都有明确失败条件；只有当前级无法安全表达输入，才继续向下。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901952"/>
            <a:ext cx="530352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190195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75104" y="190195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已有固定 Shader 可表达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504688" y="2167128"/>
            <a:ext cx="694944" cy="0"/>
          </a:xfrm>
          <a:prstGeom prst="line">
            <a:avLst/>
          </a:prstGeom>
          <a:noFill/>
          <a:ln w="22860">
            <a:solidFill>
              <a:srgbClr val="4F7F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64224" y="1901952"/>
            <a:ext cx="4334256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90195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直接使用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453896" y="2450592"/>
            <a:ext cx="0" cy="2286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810512" y="248716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无法表达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88720" y="2724912"/>
            <a:ext cx="530352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8448" y="272491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75104" y="272491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结构可归约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504688" y="2990088"/>
            <a:ext cx="694944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64224" y="2724912"/>
            <a:ext cx="4334256" cy="53035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272491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 Pass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453896" y="3273552"/>
            <a:ext cx="0" cy="2286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810512" y="331012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容量不足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188720" y="3547872"/>
            <a:ext cx="530352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98448" y="354787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975104" y="354787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容量不足且语义允许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5504688" y="3813048"/>
            <a:ext cx="694944" cy="0"/>
          </a:xfrm>
          <a:prstGeom prst="line">
            <a:avLst/>
          </a:prstGeom>
          <a:noFill/>
          <a:ln w="22860">
            <a:solidFill>
              <a:srgbClr val="4F7F0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64224" y="3547872"/>
            <a:ext cx="4334256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73952" y="354787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Multi-pass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53896" y="4096512"/>
            <a:ext cx="0" cy="2286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810512" y="41330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不能安全切分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188720" y="4370832"/>
            <a:ext cx="530352" cy="53035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98448" y="4370832"/>
            <a:ext cx="310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975104" y="4370832"/>
            <a:ext cx="3401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无安全表达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5504688" y="4636008"/>
            <a:ext cx="694944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64224" y="4370832"/>
            <a:ext cx="4334256" cy="53035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4370832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记录未覆盖结构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212848" y="5358384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i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JIT 仅作为迁移期对照、诊断与缺口定位，不是终态分支。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终态只执行已构建的固定 Shader；无法安全表达的结构必须被明确记录，而不是静默回落 JIT。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 · VARIANT CRITERION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 Variant 用于静态 GPU 接口，不能被 Uniform 替代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Uniform 只能改变已编译 Shader 中的数据，不能改变资源声明、跨阶段接口或目标读取能力。因此 AOT 需要有限 Variant，但其维度不是效果枚举，而是静态接口差异。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02996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Variant 内可变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537960" y="202996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必须形成 Variant / Family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32688" y="2615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Matrix coefficients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892040" y="264261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9904" y="2414016"/>
            <a:ext cx="0" cy="2697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261518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sampler count / type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479024" y="2642616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INTERFACE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2688" y="3218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Threshold / color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904" y="2414016"/>
            <a:ext cx="0" cy="2697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3218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vertex attribute layout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479024" y="324612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INTERFACE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3822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pointwise OpType + order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892040" y="384962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9904" y="2414016"/>
            <a:ext cx="0" cy="2697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56832" y="382219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varying interface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479024" y="3849624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INTERFACE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2688" y="44256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 binding content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892040" y="44531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89904" y="2414016"/>
            <a:ext cx="0" cy="269748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56832" y="44256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destination access mode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479024" y="445312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INTERFACE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005072" y="5193792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判据：是否改变编译期接口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 Variant 是静态 GPU 接口的必要表示，不是对公开效果树逐项枚举。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11 · JIT SPECIALIZATION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 JIT 专用化算子拓扑，数值仍由 Uniform 提供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输入固定为 Texture → ColorMatrix → AlphaThreshold → SrcOver。旧 JIT 把算子类型、拓扑和顺序写进专用 Shader；Matrix 与 Threshold 数值仍是 Uniform，不会因数值变化重写源码。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029968"/>
            <a:ext cx="6638544" cy="2487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6236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EMITCODE EXPANSION · CORE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623620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vec4 c = ColorMatrix * unpremul(input) + ColorVector;</a:t>
            </a:r>
            <a:endParaRPr lang="en-US" sz="15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 = clamp(c, 0.0, 1.0);</a:t>
            </a:r>
            <a:endParaRPr lang="en-US" sz="15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c.rgb *= c.a;</a:t>
            </a:r>
            <a:endParaRPr lang="en-US" sz="1520" dirty="0"/>
          </a:p>
          <a:p>
            <a:pPr algn="l" indent="0" marL="0">
              <a:lnSpc>
                <a:spcPct val="100000"/>
              </a:lnSpc>
              <a:buNone/>
            </a:pPr>
            <a:endParaRPr lang="en-US" sz="15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vec4 outColor = vec4(unpremul(c).rgb,</a:t>
            </a:r>
            <a:endParaRPr lang="en-US" sz="15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             step(Threshold, c.a));</a:t>
            </a:r>
            <a:endParaRPr lang="en-US" sz="15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outColor = clamp(outColor, 0.0, 1.0);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772400" y="2029968"/>
            <a:ext cx="3511296" cy="56692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0299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Texture → Matrix → Threshold → SrcOver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0" y="2944368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写进 Shader 结构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3273552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算子类型 · 拓扑 · 顺序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0" y="400507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仍由 Uniform 提供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334256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Matrix · bias · Threshold 数值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 JIT 专用化结构而非参数数值；AOT 要替换的是结构专用化方式。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 · FIXED TWO-SLOT SHADER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固定两槽 Shader 以 runtime slot data 表达同一计算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PointwiseTailShader 固定采样、槽循环和算子库；运行时只写入两个槽的类型与参数。控制骨架保持不变，Matrix 与 Threshold 的语义及顺序由 slot data 表达。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011680"/>
            <a:ext cx="5806440" cy="31546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57984"/>
            <a:ext cx="5404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POINTWISE_TAIL.FRAG · 5 LINES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50592"/>
            <a:ext cx="5404104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vec4 color = texture(TextureSampler_0, finalCoord) * Color.a;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vec4 result = color;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 (int i = 0; i &lt; PointwiseSlotCount; ++i) {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result = applyPointwiseOp(i, result);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6931152" y="20116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C++ upload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31152" y="2304288"/>
            <a:ext cx="4407408" cy="841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245059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UNIFORM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32320" y="2743200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PointwiseSlotCount = MaxSlots;  // MaxSlots = 2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931152" y="340156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slot[0]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54112" y="3273552"/>
            <a:ext cx="3584448" cy="51206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0" y="327355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ColorMatrix(matrix4x4, bias) · full RGBA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31152" y="4041648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slot[1]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54112" y="3913632"/>
            <a:ext cx="3584448" cy="512064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391363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AlphaThreshold(.25) · full RGBA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31152" y="4681728"/>
            <a:ext cx="4407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未激活槽：OP_NONE 透传 · SrcOver：fixed function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一个固定编译版本可通过两槽运行时数据复现同一 Matrix → Threshold 计算链。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13 · FAMILY DECLARATION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C++ 声明把 Shader 文件与静态维度绑定为一个 Family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PointwiseTailShader 的 C++ 元数据声明稳定名称、Vertex/Fragment Shader 文件和排列域。HAS_COVERAGE 与 HAS_XP 表达静态接口差异，Matrix、Threshold 和 OpType 不进入排列域。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975104"/>
            <a:ext cx="6720840" cy="34930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6318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POINTWISETAILSHADER.H · 11 LINES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14016"/>
            <a:ext cx="6318504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PermutationBool("HAS_COVERAGE");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PermutationInt("HAS_XP", 3);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return {"PointwiseTailShader",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"level1/textured_effect.vert",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"level1/pointwise_tail.frag",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VD::domain(),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FD::domain(),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PermutationDomain({}),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"",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       ""};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7927848" y="2066544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HAS_COVERAGE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27848" y="2340864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Coverage varying 是否存在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27848" y="2752344"/>
            <a:ext cx="340156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7848" y="285292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HAS_XP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927848" y="312724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目标颜色访问 / 混合路径 · 3 values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927848" y="3538728"/>
            <a:ext cx="340156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3639312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 FILES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27848" y="3913632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 Vertex 与 Fragment 骨架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927848" y="4325112"/>
            <a:ext cx="340156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27848" y="4425696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REGISTER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27848" y="4700016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TGFX_REGISTER_SHADER 供构建工具发现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27848" y="5111496"/>
            <a:ext cx="3401568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Family 声明固定算法骨架，排列域只保留会改变已编译接口的静态维度。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14 · BUILD EXPANSION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构建工具将排列索引展开为 Backend 资产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构建工具使用 defineListFor() 将排列索引解码为宏列表，再由 PrependDefines() 注入固定源码；GLSL #if 据此形成确定接口，最后编译为各 Backend 的 Stage Artifact 并写入 Bundle。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1975104"/>
            <a:ext cx="6537960" cy="2395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21408"/>
            <a:ext cx="6135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 BUILD TOOL · 4 LINES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14016"/>
            <a:ext cx="61356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vertDefines = vertDomain.defineListFor(vi);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fragDefines = fragDomain.defineListFor(fi);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expandedVert = PrependDefines(vertSource, vertDefines);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auto expandedFrag = PrependDefines(fragSource, fragDefines);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7589520" y="1975104"/>
            <a:ext cx="3886200" cy="2395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90688" y="2121408"/>
            <a:ext cx="3483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GLSL STATIC INTERFACE · 3 LINES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90688" y="2414016"/>
            <a:ext cx="348386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#if HAS_COVERAGE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layout(location = 1) in float vCoverage;</a:t>
            </a:r>
            <a:endParaRPr lang="en-US" sz="13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#endif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1828800" y="4736592"/>
            <a:ext cx="1901952" cy="56692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38528" y="473659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expanded stages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67328" y="5020056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041648" y="4736592"/>
            <a:ext cx="1901952" cy="56692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51376" y="473659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Backend compile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80176" y="5020056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54496" y="4736592"/>
            <a:ext cx="1901952" cy="56692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64224" y="473659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Reflection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193024" y="5020056"/>
            <a:ext cx="23774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67344" y="4736592"/>
            <a:ext cx="1901952" cy="56692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4736592"/>
            <a:ext cx="16824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Bundle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13648" y="5358384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Artifact ≠ PSO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构建宏确定静态接口并生成 Backend 资产，而运行时参数不参与排列展开。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 · RUNTIME DATA WRITE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Runtime Writer 只写槽类型与本次参数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Writer 按槽写入 OpType、ColorMatrix、ColorVector 与 Threshold；它只填充 Reflection 已定义的数据布局，不改变 Shader 的静态接口。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2029968"/>
            <a:ext cx="6272784" cy="24871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76272"/>
            <a:ext cx="5870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6B9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AOTPOINTWISESLOTWRITER.CPP · EXCERPT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587044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setArrayElement("OpType", slot, int(type));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setArrayElement("ColorMatrix", slot, matrix);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setArrayElement("ColorVector", slot, bias);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EEF4F7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setArrayElement("Threshold", slot, threshold);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7388352" y="2029968"/>
            <a:ext cx="3913632" cy="74980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2139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静态接口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68512" y="2029968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 Family / Variant 在构建期确定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388352" y="2999232"/>
            <a:ext cx="3913632" cy="74980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07808" y="310896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运行时数据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68512" y="2999232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算子类型、顺序与参数写入 Uniform 数组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7388352" y="3968496"/>
            <a:ext cx="3913632" cy="749808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40782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空槽语义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68512" y="396849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OP_NONE 透传输入颜色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1078992" y="4919472"/>
            <a:ext cx="5541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Matrix 4×5 → Matrix4x4 + bias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Variant 通过 Uniform 数组获得本次绘制的算子、顺序与参数。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 · BUILD / RUNTIME MAPPING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Compose 统一 Shader 版本映射，其他正确性独立验证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 Compose 只保证相同的静态接口输入映射到同一 Shader 版本；Binding、Pipeline 创建与像素一致性分别由独立机制和测试保障。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19385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249424"/>
            <a:ext cx="2464308" cy="640080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2494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Family static inputs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50692" y="2569464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88436" y="2249424"/>
            <a:ext cx="2464308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8164" y="22494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shared Compose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2569464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27064" y="2249424"/>
            <a:ext cx="2464308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6792" y="22494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encode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27948" y="2569464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65692" y="2249424"/>
            <a:ext cx="2464308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5420" y="2249424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compile + Bundle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182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RUNTIME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" y="3493008"/>
            <a:ext cx="2464308" cy="640080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3493008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ProgramInfo inputs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50692" y="3813048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488436" y="3493008"/>
            <a:ext cx="2464308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8164" y="3493008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shared Compose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89320" y="3813048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27064" y="3493008"/>
            <a:ext cx="2464308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36792" y="3493008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same encode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727948" y="3813048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65692" y="3493008"/>
            <a:ext cx="2464308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75420" y="3493008"/>
            <a:ext cx="22448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lookup + draw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24128" y="4590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版本映射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490118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shared Compose + encode</a:t>
            </a:r>
            <a:endParaRPr lang="en-US" sz="1420" dirty="0"/>
          </a:p>
        </p:txBody>
      </p:sp>
      <p:sp>
        <p:nvSpPr>
          <p:cNvPr id="34" name="Text 32"/>
          <p:cNvSpPr/>
          <p:nvPr/>
        </p:nvSpPr>
        <p:spPr>
          <a:xfrm>
            <a:off x="4754880" y="4590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Binding / Pipeline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54880" y="490118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Reflection + creation checks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8485632" y="4590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像素一致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85632" y="490118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2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AOT / JIT byte-exact</a:t>
            </a:r>
            <a:endParaRPr lang="en-US" sz="1420" dirty="0"/>
          </a:p>
        </p:txBody>
      </p:sp>
      <p:sp>
        <p:nvSpPr>
          <p:cNvPr id="38" name="Shape 36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同一映射只闭合版本选择；资源绑定、Pipeline 与像素正确性必须分别验证。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17 · SCALE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Family、Reachable Pair 与 Stage Entry 是不同统计单位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Family 表示稳定骨架，Reachable Pair 表示库内规则允许的静态接口组合，Stage Entry 表示去重后的顶点或片元入口；这些数字都不等于 PSO 数或产品覆盖率。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029968"/>
            <a:ext cx="1795882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Shader Family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8298" y="2359152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94330" y="2029968"/>
            <a:ext cx="1795882" cy="65836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4058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static interface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26787" y="2359152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82819" y="2029968"/>
            <a:ext cx="1795882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2547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Reachable Pair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15277" y="2359152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71309" y="2029968"/>
            <a:ext cx="1795882" cy="65836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81037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stage dedup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03766" y="2359152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59798" y="2029968"/>
            <a:ext cx="1795882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9526" y="2029968"/>
            <a:ext cx="1576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Stage Entry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31821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841248" y="37947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Shader Families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07792" y="31821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308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2907792" y="37947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Reachable Pairs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74336" y="31821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101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4974336" y="37947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Vertex Stages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1821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274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7040880" y="37947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Fragment Stages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107424" y="3182112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375</a:t>
            </a:r>
            <a:endParaRPr lang="en-US" sz="3900" dirty="0"/>
          </a:p>
        </p:txBody>
      </p:sp>
      <p:sp>
        <p:nvSpPr>
          <p:cNvPr id="31" name="Text 29"/>
          <p:cNvSpPr/>
          <p:nvPr/>
        </p:nvSpPr>
        <p:spPr>
          <a:xfrm>
            <a:off x="9107424" y="3794760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Stage Entries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304288" y="4608576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375 = 101 Vertex Stages + 274 Fragment Stages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27248" y="50474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不等于 PSO 数 · 不等于产品覆盖率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规模控制来自静态接口判据、库内可达规则与 Stage 去重；统计单位必须分开解释。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18 · TWO-SLOT TAIL CUT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单纹理线性 Tail 超过两槽时，才进入受控 Multi-pass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本页只讨论单纹理、同像素、线性 pointwise Tail：Matrix → Luma → AlphaThreshold 的长度 3 超过两槽容量，因此在可证明保持顺序语义的位置切分。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299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ORIGINAL LINEAR TAIL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61872" y="2322576"/>
            <a:ext cx="1810512" cy="621792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3225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Image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108960" y="2633472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28416" y="2322576"/>
            <a:ext cx="1810512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3225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Matrix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75504" y="2633472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94960" y="2322576"/>
            <a:ext cx="1810512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04688" y="23225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Luma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242048" y="2633472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61504" y="2322576"/>
            <a:ext cx="1810512" cy="621792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71232" y="23225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Threshold .25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08592" y="2633472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528048" y="2322576"/>
            <a:ext cx="1810512" cy="62179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37776" y="2322576"/>
            <a:ext cx="15910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SrcOver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3236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PASS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225296" y="3529584"/>
            <a:ext cx="1408176" cy="65836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35024" y="35295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Image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670048" y="3858768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889504" y="3529584"/>
            <a:ext cx="1408176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5295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Matrix | Luma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34256" y="3858768"/>
            <a:ext cx="182880" cy="0"/>
          </a:xfrm>
          <a:prstGeom prst="line">
            <a:avLst/>
          </a:prstGeom>
          <a:noFill/>
          <a:ln w="22860">
            <a:solidFill>
              <a:srgbClr val="008C8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53712" y="3529584"/>
            <a:ext cx="1408176" cy="65836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52958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Intermediate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98464" y="3858768"/>
            <a:ext cx="566928" cy="530352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5650992" y="448056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2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语义安全切边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6967728" y="32369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PASS 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59168" y="3529584"/>
            <a:ext cx="1286256" cy="65836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68896" y="3529584"/>
            <a:ext cx="106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Intermediate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82000" y="3858768"/>
            <a:ext cx="14630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64880" y="3529584"/>
            <a:ext cx="1286256" cy="65836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74608" y="3529584"/>
            <a:ext cx="106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Threshold(.25)</a:t>
            </a:r>
            <a:endParaRPr lang="en-US" sz="122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| OP_NONE</a:t>
            </a:r>
            <a:endParaRPr lang="en-US" sz="1220" dirty="0"/>
          </a:p>
        </p:txBody>
      </p:sp>
      <p:sp>
        <p:nvSpPr>
          <p:cNvPr id="40" name="Shape 38"/>
          <p:cNvSpPr/>
          <p:nvPr/>
        </p:nvSpPr>
        <p:spPr>
          <a:xfrm>
            <a:off x="9887712" y="3858768"/>
            <a:ext cx="146304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070592" y="3529584"/>
            <a:ext cx="1286256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80320" y="3529584"/>
            <a:ext cx="106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SrcOver</a:t>
            </a:r>
            <a:endParaRPr lang="en-US" sz="122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→ Target</a:t>
            </a:r>
            <a:endParaRPr lang="en-US" sz="1220" dirty="0"/>
          </a:p>
        </p:txBody>
      </p:sp>
      <p:sp>
        <p:nvSpPr>
          <p:cNvPr id="43" name="Text 41"/>
          <p:cNvSpPr/>
          <p:nvPr/>
        </p:nvSpPr>
        <p:spPr>
          <a:xfrm>
            <a:off x="1975104" y="50657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不代表所有三算子结构都可切分；任意递归树或 DAG 不在此结论内。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两槽容量只约束该线性 Tail；Multi-pass 仅用于已证明语义安全的超容量链。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19 · COST AND MAPPING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Multi-pass 的代价由中间存储与像素映射共同决定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每个切边都会增加中间 Render Target、一次写入与读取以及额外 Pass；正确性还取决于原始浮点边界、坐标 offset、exact-fit 分配和中间格式量化能否保持原语义。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1872691" cy="749808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57400"/>
            <a:ext cx="1653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float bounds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32227" y="2432304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88259" y="2057400"/>
            <a:ext cx="1872691" cy="74980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7987" y="2057400"/>
            <a:ext cx="1653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roundOut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allocation only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7526" y="2432304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53558" y="2057400"/>
            <a:ext cx="1872691" cy="74980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63286" y="2057400"/>
            <a:ext cx="1653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exact-fit W×H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062826" y="2432304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8858" y="2057400"/>
            <a:ext cx="1872691" cy="749808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8586" y="2057400"/>
            <a:ext cx="1653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RGBA8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intermediate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28125" y="2432304"/>
            <a:ext cx="219456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84157" y="2057400"/>
            <a:ext cx="1872691" cy="749808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3885" y="2057400"/>
            <a:ext cx="1653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restore</a:t>
            </a:r>
            <a:endParaRPr lang="en-US" sz="13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coordOffset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55648" y="30632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roundOut 不取整原始浮点坐标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89520" y="3063240"/>
            <a:ext cx="2788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像素中心映射保持一致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9264" y="3712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4WH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969264" y="4325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temporary bytes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21024" y="3712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8WH</a:t>
            </a:r>
            <a:endParaRPr lang="en-US" sz="3900" dirty="0"/>
          </a:p>
        </p:txBody>
      </p:sp>
      <p:sp>
        <p:nvSpPr>
          <p:cNvPr id="27" name="Text 25"/>
          <p:cNvSpPr/>
          <p:nvPr/>
        </p:nvSpPr>
        <p:spPr>
          <a:xfrm>
            <a:off x="3621024" y="4325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write + read traffic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712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8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+1</a:t>
            </a:r>
            <a:endParaRPr lang="en-US" sz="3900" dirty="0"/>
          </a:p>
        </p:txBody>
      </p:sp>
      <p:sp>
        <p:nvSpPr>
          <p:cNvPr id="29" name="Text 27"/>
          <p:cNvSpPr/>
          <p:nvPr/>
        </p:nvSpPr>
        <p:spPr>
          <a:xfrm>
            <a:off x="6272784" y="4325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 switch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924544" y="371246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+1</a:t>
            </a:r>
            <a:endParaRPr lang="en-US" sz="3900" dirty="0"/>
          </a:p>
        </p:txBody>
      </p:sp>
      <p:sp>
        <p:nvSpPr>
          <p:cNvPr id="31" name="Text 29"/>
          <p:cNvSpPr/>
          <p:nvPr/>
        </p:nvSpPr>
        <p:spPr>
          <a:xfrm>
            <a:off x="8924544" y="4325112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27D9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extra pass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316736" y="5074920"/>
            <a:ext cx="9555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RGBA8 中间量化构成语义边界 · Metal byte-exact 仅为已完成的验证结果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Multi-pass 只有在合法切分、实际中间尺寸和量化误差均可接受时才构成有效 AOT 扩展。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20 · COST REPLACEMENT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前移 Shader 生成与跨编译，但保留平台运行时边界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固定源码可在构建期展开并编译进 Bundle；但 RuntimeEffect 依赖可能阻止完全移除 toolchain，Pipeline 首次创建仍存在，OpenGL 仍由 driver compile/link。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933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MOVED TO BUILD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2286000"/>
            <a:ext cx="2423160" cy="640080"/>
          </a:xfrm>
          <a:prstGeom prst="rect">
            <a:avLst/>
          </a:prstGeom>
          <a:solidFill>
            <a:srgbClr val="E6F4F3"/>
          </a:solidFill>
          <a:ln w="12700">
            <a:solidFill>
              <a:srgbClr val="E6F4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2860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8C8C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fixed source expansion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00984" y="2606040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38728" y="2286000"/>
            <a:ext cx="2423160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22860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backend compile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98464" y="2606040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36208" y="2286000"/>
            <a:ext cx="242316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2860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95944" y="2606040"/>
            <a:ext cx="201168" cy="0"/>
          </a:xfrm>
          <a:prstGeom prst="line">
            <a:avLst/>
          </a:prstGeom>
          <a:noFill/>
          <a:ln w="2286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33688" y="2286000"/>
            <a:ext cx="2423160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3416" y="228600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compressed Bundle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2735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RUNTIME REMAINS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" y="3566160"/>
            <a:ext cx="242316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load / index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00984" y="3886200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38728" y="3566160"/>
            <a:ext cx="2423160" cy="640080"/>
          </a:xfrm>
          <a:prstGeom prst="rect">
            <a:avLst/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48456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module creation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98464" y="3886200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36208" y="3566160"/>
            <a:ext cx="2423160" cy="640080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first Pipeline creation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695944" y="3886200"/>
            <a:ext cx="201168" cy="0"/>
          </a:xfrm>
          <a:prstGeom prst="line">
            <a:avLst/>
          </a:prstGeom>
          <a:noFill/>
          <a:ln w="2286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933688" y="3566160"/>
            <a:ext cx="2423160" cy="640080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43416" y="3566160"/>
            <a:ext cx="22037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bind / draw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9536" y="4590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RuntimeEffect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动态源码或静态接口依赖可能保留部分 toolchain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17136" y="4590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OpenGL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17136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预置 GLSL 仍需 driver compile / link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174736" y="459028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74736" y="4882896"/>
            <a:ext cx="3273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首次创建与缓存成本仍需单独测量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AOT 移除可静态确定的动态生成与跨编译路径，不等于移除 RuntimeEffect、Pipeline 或驱动成本。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21 · EVIDENCE AND RISKS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已有案例证明机制闭环，也暴露三类明确风险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现有案例回答“能否工作”，不回答“产品净收益是否为正”。证据与风险必须并列呈现，避免把功能闭环误写成性能结论。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已有案例证据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8096" y="2395728"/>
            <a:ext cx="1901952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395728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Bundle lookup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9504" y="2395728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构建资产可被运行时定位并加载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" y="3255264"/>
            <a:ext cx="1901952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3255264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Metal byte-exact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9504" y="3255264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 Shader 与 JIT 参考像素一致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" y="4114800"/>
            <a:ext cx="1901952" cy="53035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11480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Linear Tail split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9504" y="4114800"/>
            <a:ext cx="26883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三算子线性链可由两个固定 Pass 执行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98464" y="1993392"/>
            <a:ext cx="0" cy="320040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D95D4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明确风险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19088" y="2395728"/>
            <a:ext cx="2029968" cy="53035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239572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Fixed Shader GPU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0" y="2395728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更多指令、Uniform 与寄存器压力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19088" y="3255264"/>
            <a:ext cx="2029968" cy="53035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325526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Bundle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686800" y="3255264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构建、分发、加载与常驻内存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19088" y="4114800"/>
            <a:ext cx="2029968" cy="53035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8816" y="411480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Multi-pass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686800" y="4114800"/>
            <a:ext cx="2578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带宽、RT 切换与中间格式量化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现有证据证明 AOT 机制闭环；GPU、资产与 Multi-pass 风险仍需真实负载量化。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56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F7F00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22 · MEASUREMENT AND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8368" y="530352"/>
            <a:ext cx="1087495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下一步只差产品测量，技术结论已经清晰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58368" y="6382512"/>
            <a:ext cx="10874959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4739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627D98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TGFX AOT SHADER ARCHITECTURE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1149279" y="6455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298448"/>
            <a:ext cx="1087495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技术路径已把开放递归输入转为有限、可构建、可选择和可验证的执行空间；产品化判断取决于四组真实负载数据。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" y="1975104"/>
            <a:ext cx="2487168" cy="2267712"/>
          </a:xfrm>
          <a:prstGeom prst="rect">
            <a:avLst/>
          </a:prstGeom>
          <a:solidFill>
            <a:srgbClr val="F4F7F9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17627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9264" y="2670048"/>
            <a:ext cx="20848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hit / miss 结构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Family 分布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不可安全切分结构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529584" y="1975104"/>
            <a:ext cx="2487168" cy="2267712"/>
          </a:xfrm>
          <a:prstGeom prst="rect">
            <a:avLst/>
          </a:prstGeom>
          <a:solidFill>
            <a:srgbClr val="EFF7DF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217627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0752" y="2670048"/>
            <a:ext cx="20848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构建时间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Bundle 原始 / 压缩体积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解压与常驻内存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1975104"/>
            <a:ext cx="2487168" cy="2267712"/>
          </a:xfrm>
          <a:prstGeom prst="rect">
            <a:avLst/>
          </a:prstGeom>
          <a:solidFill>
            <a:srgbClr val="FBECE9"/>
          </a:solidFill>
          <a:ln w="10160">
            <a:solidFill>
              <a:srgbClr val="FBEC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17627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性能与正确性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670048"/>
            <a:ext cx="20848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cold start / CPU / GPU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功耗与 Pipeline 首建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Multi-pass 成本与误差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0" y="1975104"/>
            <a:ext cx="2487168" cy="2267712"/>
          </a:xfrm>
          <a:prstGeom prst="rect">
            <a:avLst/>
          </a:prstGeom>
          <a:solidFill>
            <a:srgbClr val="F4F7F9"/>
          </a:solidFill>
          <a:ln w="1016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217627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Backend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53728" y="2670048"/>
            <a:ext cx="20848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Metal / Vulkan / OpenGL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资产链与运行边界</a:t>
            </a:r>
            <a:endParaRPr lang="en-US" sz="140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4E6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发布版本匹配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" y="44988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4F7F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技术总结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27632" y="4370832"/>
            <a:ext cx="1627632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37360" y="4370832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公开输入</a:t>
            </a:r>
            <a:endParaRPr lang="en-US" sz="1160" dirty="0"/>
          </a:p>
        </p:txBody>
      </p:sp>
      <p:sp>
        <p:nvSpPr>
          <p:cNvPr id="23" name="Shape 21"/>
          <p:cNvSpPr/>
          <p:nvPr/>
        </p:nvSpPr>
        <p:spPr>
          <a:xfrm>
            <a:off x="3310128" y="4681728"/>
            <a:ext cx="182880" cy="0"/>
          </a:xfrm>
          <a:prstGeom prst="line">
            <a:avLst/>
          </a:prstGeom>
          <a:noFill/>
          <a:ln w="1778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566160" y="4370832"/>
            <a:ext cx="1627632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4370832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库内归约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5248656" y="4681728"/>
            <a:ext cx="182880" cy="0"/>
          </a:xfrm>
          <a:prstGeom prst="line">
            <a:avLst/>
          </a:prstGeom>
          <a:noFill/>
          <a:ln w="1778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504688" y="4370832"/>
            <a:ext cx="1627632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14416" y="4370832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固定 Shader</a:t>
            </a:r>
            <a:endParaRPr lang="en-US" sz="116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+ 运行时数据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7187184" y="4681728"/>
            <a:ext cx="182880" cy="0"/>
          </a:xfrm>
          <a:prstGeom prst="line">
            <a:avLst/>
          </a:prstGeom>
          <a:noFill/>
          <a:ln w="17780">
            <a:solidFill>
              <a:srgbClr val="76B90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443216" y="4370832"/>
            <a:ext cx="1627632" cy="621792"/>
          </a:xfrm>
          <a:prstGeom prst="rect">
            <a:avLst/>
          </a:prstGeom>
          <a:solidFill>
            <a:srgbClr val="FBECE9"/>
          </a:solidFill>
          <a:ln w="12700">
            <a:solidFill>
              <a:srgbClr val="FBEC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52944" y="4370832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D95D4F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安全 Multi-pass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9125712" y="4681728"/>
            <a:ext cx="182880" cy="0"/>
          </a:xfrm>
          <a:prstGeom prst="line">
            <a:avLst/>
          </a:prstGeom>
          <a:noFill/>
          <a:ln w="17780">
            <a:solidFill>
              <a:srgbClr val="D95D4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81744" y="4370832"/>
            <a:ext cx="1627632" cy="62179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91472" y="4370832"/>
            <a:ext cx="14081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版本 / Binding</a:t>
            </a:r>
            <a:endParaRPr lang="en-US" sz="116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160" b="1" dirty="0">
                <a:solidFill>
                  <a:srgbClr val="102A43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Pipeline / 像素验证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658368" y="5742432"/>
            <a:ext cx="10874959" cy="438912"/>
          </a:xfrm>
          <a:prstGeom prst="rect">
            <a:avLst/>
          </a:prstGeom>
          <a:solidFill>
            <a:srgbClr val="EFF7DF"/>
          </a:solidFill>
          <a:ln w="12700">
            <a:solidFill>
              <a:srgbClr val="EFF7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" y="5742432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102A4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TGFX AOT 的技术闭环已成立；最终价值由覆盖、资产、性能与跨 Backend 数据确认。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Tencent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TGFX AOT 复合绘制架构</dc:title>
  <dc:subject>TGFX AOT Shader architecture</dc:subject>
  <dc:creator>TGFX Graphics Team</dc:creator>
  <cp:lastModifiedBy>TGFX Graphics Team</cp:lastModifiedBy>
  <cp:revision>1</cp:revision>
  <dcterms:created xsi:type="dcterms:W3CDTF">2026-08-24T10:01:49Z</dcterms:created>
  <dcterms:modified xsi:type="dcterms:W3CDTF">2026-08-24T10:01:49Z</dcterms:modified>
</cp:coreProperties>
</file>