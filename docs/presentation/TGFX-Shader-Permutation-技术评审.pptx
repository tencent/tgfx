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9164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架构技术评审 · 完整版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Permutation 预编译系统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消除运行时 Shader 拼接与跨语言翻译，构建期编译、运行时查表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343400"/>
            <a:ext cx="10362895" cy="1554480"/>
          </a:xfrm>
          <a:prstGeom prst="roundRect">
            <a:avLst>
              <a:gd name="adj" fmla="val 2941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本次评审覆盖范围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07008" y="4828032"/>
            <a:ext cx="97776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问题定义与目标、总体架构、开发者工作流、源文件规范、Processor 清单与变体规模分析、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声明系统详细设计、构建工具链、运行时集成机制、错误检查体系，以及与既往方案的关键决策差异对比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图形引擎  ·  GPU 渲染管线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评审导读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本次评审需要确认的四个关键问题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499856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94767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 · 架构决策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444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以「一个 Shader 类声明的全部 Permutation」取代「整棵 Processor 树」作为预编译单元，这个粒度下沉是否成立？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4998568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691640"/>
            <a:ext cx="499856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6553048" y="194767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· 完备性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53048" y="2377440"/>
            <a:ext cx="444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EffectDecomposer 递归分解 + 构建期检查 + 过渡期兜底三层机制，能否保证任意 draw 不产生运行时 miss？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977640"/>
            <a:ext cx="4998568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977640"/>
            <a:ext cx="499856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23367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· 规模可控性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663440"/>
            <a:ext cx="444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目前仅 3 个代表性 Processor 完成逐 bit 分析；PerlinNoise 阶数上限收紧属于公开 API 变更，是否需要单独评审？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977640"/>
            <a:ext cx="4998568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3977640"/>
            <a:ext cx="499856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6553048" y="423367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 · 方案取舍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53048" y="4663440"/>
            <a:ext cx="444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相较既往「全 multi-pass 分解 + shader 注释声明变体」方案，本方案的关键决策差异是否被认可？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问题背景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现状：Shader 拼接开销卡在渲染关键路径上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DrawOp::execute() 关键路径上，ProgramBuilder::CreateProgram() 每遇到新的 programKey 都要完成以下三步：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41549" y="3337560"/>
            <a:ext cx="6908597" cy="0"/>
          </a:xfrm>
          <a:prstGeom prst="line">
            <a:avLst/>
          </a:prstGeom>
          <a:noFill/>
          <a:ln w="19050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1821" y="32278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2531821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3362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拼接 GLSL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359359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递归拼接 GP / FP[] / XP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 emitCode()，生成源码文本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6120" y="32278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5986120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4418" y="2697480"/>
            <a:ext cx="3362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 SPIR-V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41850" y="359359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 shaderc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完成编译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40418" y="32278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9440418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68717" y="2697480"/>
            <a:ext cx="3362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翻译目标语言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96149" y="359359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SPIRV-Cross / Tint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翻译为 MSL / WGSL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257800"/>
            <a:ext cx="10362895" cy="73152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5257800"/>
            <a:ext cx="64008" cy="731520"/>
          </a:xfrm>
          <a:prstGeom prst="rect">
            <a:avLst/>
          </a:prstGeom>
          <a:solidFill>
            <a:srgbClr val="E94F4F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5257800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三者均发生在渲染提交路径上，而非构建期 —— 本应一次性的编译工作，被摊到了每一次首次命中的渲染帧里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问题背景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代价：首帧延迟与运行时体积（均为估算值）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52848" cy="2606040"/>
          </a:xfrm>
          <a:prstGeom prst="roundRect">
            <a:avLst>
              <a:gd name="adj" fmla="val 1754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947672"/>
            <a:ext cx="436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15–70 ms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07008" y="2606040"/>
            <a:ext cx="436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首帧延迟（非实测）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7008" y="2971800"/>
            <a:ext cx="436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首帧遇到 10–20 个新 programKey 时，按拼接/编译/翻译单次操作耗时（1–5 ms/次量级）累加推算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24448" y="1691640"/>
            <a:ext cx="4952848" cy="2606040"/>
          </a:xfrm>
          <a:prstGeom prst="roundRect">
            <a:avLst>
              <a:gd name="adj" fmla="val 1754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7056" y="1947672"/>
            <a:ext cx="436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9–14 MB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17056" y="2606040"/>
            <a:ext cx="436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运行时编译器体积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17056" y="2971800"/>
            <a:ext cx="436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shaderc（含 glslang + SPIRV-Tools）+ SPIRV-Cross + Tint，Release arm64 静态库常驻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两项均为估算值，非端到端实测，编译器体积未做逐符号核实。本方案不依赖这两个数字支撑架构决策，仅作历史动机参考。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设计目标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构建期完成编译，运行时只查表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52848" cy="3794760"/>
          </a:xfrm>
          <a:prstGeom prst="roundRect">
            <a:avLst>
              <a:gd name="adj" fmla="val 1205"/>
            </a:avLst>
          </a:prstGeom>
          <a:solidFill>
            <a:srgbClr val="FCEBEB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BEFORE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2194560"/>
            <a:ext cx="436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运行时拼接 + 编译 + 翻译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697480"/>
            <a:ext cx="43676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每个新 programKey 触发一次 emitCode() 拼接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shaderc → SPIRV-Cross/Tint 现场翻译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首帧成本：15–70 ms* 累积卡顿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三套编译器需常驻运行时二进制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4448" y="1691640"/>
            <a:ext cx="4952848" cy="3794760"/>
          </a:xfrm>
          <a:prstGeom prst="roundRect">
            <a:avLst>
              <a:gd name="adj" fmla="val 1205"/>
            </a:avLst>
          </a:prstGeom>
          <a:solidFill>
            <a:srgbClr val="E6F7F5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7056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AFTER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17056" y="2194560"/>
            <a:ext cx="436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构建期编译，运行时查表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17056" y="2697480"/>
            <a:ext cx="43676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shader_build_tool 在 CMake 构建期枚举全部 Permutation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运行时按 PipelineKey 二分查找已编译产物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首帧成本：0（查表，不再拼接/翻译）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瘦身构建下可移除运行时编译器依赖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约束条件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六项设计约束：本方案必须满足的边界条件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62895" cy="379476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159752"/>
              </a:tblGrid>
              <a:tr h="542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说明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C1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变种声明位置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使用 C++ 类型系统声明 Permutation 维度，不使用 shader 文件内的注释元数据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C2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构建工具技术栈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C++ 独立可执行文件，CMake 驱动；不引入 Python 依赖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C3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架构基线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以单 Pass 为主（覆盖绝大多数场景），多 Pass 仅作为少数复杂 Processor 组合的兜底手段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C4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热重载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不支持。修改 shader 源码等价于修改一个 .cpp，走正常的 CMake 增量构建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C5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RuntimeEffect 隔离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用户自定义着色器（RuntimeEffect.h）保持独立运行时编译路径，不受本方案影响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C6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目标后端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 / Vulkan / Metal / WebGPU，与 include/tgfx/gpu/Backend.h 中 Backend enum 一致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6235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既往方案在 C1 / C2 / C3 三项上的选择与本方案不同，具体差异对比见后文「决策差异」部分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总体架构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从声明到 Bundle：构建期编译流程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0690" y="2423160"/>
            <a:ext cx="8290316" cy="0"/>
          </a:xfrm>
          <a:prstGeom prst="line">
            <a:avLst/>
          </a:prstGeom>
          <a:noFill/>
          <a:ln w="1905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0962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840962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开发者编写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679192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.h 声明维度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.frag/.vert 逻辑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13541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3913541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32699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自注册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0131" y="2679192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ShaderRegistry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静态收集全部 Shader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6120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5986120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05278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枚举组合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32710" y="2679192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PermutationDomain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笛卡尔积展开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58699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8058699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77857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裁剪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05289" y="2679192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ShouldCompile()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剔除不可达组合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31278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31278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250436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编译产出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7868" y="2679192"/>
            <a:ext cx="19262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GLSL→SPIR-V→MSL/WGSL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打包 Bundle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023360"/>
            <a:ext cx="10362895" cy="1737360"/>
          </a:xfrm>
          <a:prstGeom prst="roundRect">
            <a:avLst>
              <a:gd name="adj" fmla="val 2632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产物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07008" y="4498848"/>
            <a:ext cx="977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build/generated/shader_bundle.{opengl|vulkan|metal|webgpu}.bin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07008" y="4901184"/>
            <a:ext cx="977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 App 包体打入；每个已编译 Permutation 对应一条可二分查找的索引项（Bundle 格式详见后文构建工具链部分）。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5230368"/>
            <a:ext cx="977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驱动方式：CMake custom command，依赖 shader_build_tool 本身 + src/gpu/shaders/**/*.{h,vert,frag}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总体架构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draw 调用到 GPU 提交：运行时查表流程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0690" y="2423160"/>
            <a:ext cx="8290316" cy="0"/>
          </a:xfrm>
          <a:prstGeom prst="line">
            <a:avLst/>
          </a:prstGeom>
          <a:noFill/>
          <a:ln w="1905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0962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840962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分解 Processor 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67919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EffectDecomposer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::Decompose()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13541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3913541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32699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 PipelineKey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0131" y="267919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shaderName + index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渲染状态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6120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5986120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05278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32710" y="267919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PrecompiledShaderCache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::find()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58699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8058699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77857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 缓存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05289" y="267919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复用现有 GlobalCache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LRU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31278" y="231343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31278" y="2313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250436" y="1783080"/>
            <a:ext cx="198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 GPU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7868" y="2679192"/>
            <a:ext cx="1926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createShaderModule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createRenderPipeline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977640"/>
            <a:ext cx="4998568" cy="86868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3977640"/>
            <a:ext cx="64008" cy="86868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Text 28"/>
          <p:cNvSpPr/>
          <p:nvPr/>
        </p:nvSpPr>
        <p:spPr>
          <a:xfrm>
            <a:off x="1280160" y="3977640"/>
            <a:ext cx="435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命中已注册 Shader Permutation → 单 Pass 直接查表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78728" y="3977640"/>
            <a:ext cx="4998568" cy="86868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32" name="Shape 30"/>
          <p:cNvSpPr/>
          <p:nvPr/>
        </p:nvSpPr>
        <p:spPr>
          <a:xfrm>
            <a:off x="6278728" y="3977640"/>
            <a:ext cx="64008" cy="868680"/>
          </a:xfrm>
          <a:prstGeom prst="rect">
            <a:avLst/>
          </a:prstGeom>
          <a:solidFill>
            <a:srgbClr val="E94F4F"/>
          </a:solidFill>
          <a:ln/>
        </p:spPr>
      </p:sp>
      <p:sp>
        <p:nvSpPr>
          <p:cNvPr id="33" name="Text 31"/>
          <p:cNvSpPr/>
          <p:nvPr/>
        </p:nvSpPr>
        <p:spPr>
          <a:xfrm>
            <a:off x="6644488" y="3977640"/>
            <a:ext cx="435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复合效果未命中 → 拆分为多个 Pass，每段仍各自查表，不产生拼接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不再调用 ProgramBuilder::CreateProgram() / emitCode() 拼接字符串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核心架构决策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预编译单元：Shader 类的 Permutation，而非整棵 Processor 树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10362895" cy="1371600"/>
          </a:xfrm>
          <a:prstGeom prst="roundRect">
            <a:avLst>
              <a:gd name="adj" fmla="val 3333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37744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决策：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预编译单元 = 「一个 C++ Shader 描述类声明的全部 Permutation」，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「某一次 draw 对应的完整 Processor 树」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命中时走单 Pass；命不中的复合效果（colorFilter + maskFilter + 高级 BlendMode 等）才拆多 Pass，每段仍是查表得到的预编译 Shader，不产生新的拼接。具体论证见下一页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核心架构决策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决策论证：为何粒度下沉到 Shader 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0195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 programKey 是 GP.key + FP[].key（递归）+ XP.key 的拼接；FP 树的嵌套深度由用户通过 Shader::MakeBlend() 等 API 在运行时决定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90779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以「整棵 Processor 树」为预编译单元，其组合数量在编译期不可确定，构建期无法完整枚举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91363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将粒度下沉到「单个 Shader 类的 Permutation」后，一次 draw 是否可预编译，等价于它能否被分解为若干已注册 Shader 类的具体取值——这是封闭、可枚举的问题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可行性论证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任意 draw 均可被覆盖的可行性论证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10362895" cy="5943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91640"/>
            <a:ext cx="64008" cy="5943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691640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结论：任意合法 draw 产生的 Processor 树，都能被递归分解为有限数量的预编译 Shader 组合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10362895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278892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事实一：其余位置类型有限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990088"/>
            <a:ext cx="9082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除 colors[0]（brush.shader 产出的 FP）外，Processor 树其余位置的可能类型均由有限个内部类工厂方法决定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703320"/>
            <a:ext cx="10362895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0432" y="397764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384048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事实二：colors[0] 是唯一无界位置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4178808"/>
            <a:ext cx="9082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Shader::MakeBlend() 通过 XfermodeFragmentProcessor 递归嵌套子 Shader，理论嵌套深度无界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892040"/>
            <a:ext cx="10362895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0432" y="516636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02920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事实三：递归嵌套由多 Pass 兜住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5367528"/>
            <a:ext cx="9082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EffectDecomposer 对容器节点做递归拆解：每拆一层，子 Shader 先各自渲染到临时纹理（仍是单 Pass 查表），再用极小维度的合并 Shader 完成拼接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完备性由三层机制共同保证——构建期检查全量匹配 + Decompose() 递归天然终止 + 过渡期兜底，而非依赖对 FP 树形状的枚举（详见后文完备性保证章节）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贯穿示例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教学简化版：4 维度 TextureFillShader（生产版为 8 维度，见后文）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4998568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691640"/>
            <a:ext cx="459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TextureFillShader.h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" y="2194560"/>
            <a:ext cx="4523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TGFX_DEFINE_DIMS(HAS_YUV, ALPHA_ONLY,
    HAS_RGBAAA, HAS_SUBSET);
using D = Dims;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PrecompiledShaderInfo info() const override {
  return {"TextureFillShader", vs, fs,
          D::domain(), ShouldCompile};
}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static bool ShouldCompile(const Values&amp; v);
// 排除 YUV 与 alpha-only / RGBAAA 同现的组合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TGFX_REGISTER_SHADER(tgfx::TextureFillShader)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691640"/>
            <a:ext cx="4998568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9896" y="1691640"/>
            <a:ext cx="459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texture_fill.frag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6472" y="2194560"/>
            <a:ext cx="4523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#if HAS_YUV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uniform sampler2D u_texY, u_texU, u_texV;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#else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uniform sampler2D u_sampler;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#endif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void main() {
  vec4 color = SampleColor();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#if ALPHA_ONLY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color = vec4(0,0,0,color.a);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#elif HAS_RGBAAA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color.a = texture(u_alphaSampler, uv).r;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#endif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贯穿示例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构建期对声明的处理流程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1051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9814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ShaderRegistry::All() 取得工厂函数，构造描述类实例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2505456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78024"/>
            <a:ext cx="9814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 D::domain() 笛卡尔积：4 个 bool 维度 → 2⁴ = 16 个裸组合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172968"/>
            <a:ext cx="9814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对每个组合调用 ShouldCompile：排除 6 个 YUV+(alpha) 组合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14400" y="3895344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867912"/>
            <a:ext cx="9814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剩余 10 个有效组合各自宏展开 → 走后端转换链路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14400" y="4590288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562856"/>
            <a:ext cx="9814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个变体 × 已启用 backend 数，写入对应 shader_bundle.{backend}.bin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贯穿示例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运行时如何消费构建产物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10362895" cy="3931920"/>
          </a:xfrm>
          <a:prstGeom prst="roundRect">
            <a:avLst>
              <a:gd name="adj" fmla="val 1163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69164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TextureEffect.cpp（运行时）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" y="2194560"/>
            <a:ext cx="9887407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onComputePermutationValues()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using D = TextureFillShader::Dims;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values[D::HAS_YUV] = yuvTexture ? 1 : 0;
values[D::ALPHA_ONLY] = isAlphaOnly() ? 1 : 0;
values[D::HAS_RGBAAA] = ...;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DrawOp::execute()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result = EffectDecomposer::Decompose(gp, fps, xp, mode);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auto* program = globalCache()-&gt;findProgram(key.toKey());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(!program) program = CreateProgramFromBlob(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context, precompiledShaderCache()-&gt;find(key));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开发者工作流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新增或修改一个 Shader，只需两项改动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92024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声明 Permutation 维度（.h）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44499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定义/修改 PrecompiledShader 子类</a:t>
            </a:r>
            <a:endParaRPr lang="en-US" sz="135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列出 Permutation 维度与 ShouldCompile 裁剪规则</a:t>
            </a:r>
            <a:endParaRPr lang="en-US" sz="135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文件末尾调用 TGFX_REGISTER_SHADER(...) 自注册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8728" y="1691640"/>
            <a:ext cx="4998568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192024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编写渲染逻辑（.frag/.vert）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3048" y="2468880"/>
            <a:ext cx="44499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使用纯 GLSL 编写渲染逻辑</a:t>
            </a:r>
            <a:endParaRPr lang="en-US" sz="135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 #if DIMNAME 消费第①步声明的宏</a:t>
            </a:r>
            <a:endParaRPr lang="en-US" sz="135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命名与格式约定见下一页「源文件规范」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4754880"/>
            <a:ext cx="10362895" cy="5943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754880"/>
            <a:ext cx="64008" cy="5943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54880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不需要改动：PipelineKey 拼接逻辑（运行时统一处理）、EffectDecomposer 匹配表（除非引入新的多 Pass 拆分点）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本地验证：① cmake --build --target tgfx_shader_bundles（构建期静态检查，报错含具体 Permutation 取值定位）  ② 运行截图测试验证渲染正确性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源文件规范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.vert/.frag 应如何组织、如何消费维度宏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502142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892808"/>
            <a:ext cx="44727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文件组织与命名约定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447278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只包含渲染逻辑，不含变种元数据注释——维度已在 C++ 侧声明</a:t>
            </a:r>
            <a:endParaRPr lang="en-US" sz="125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枚举维度用 #if DIMNAME == N，N 为 PermutationEnum::valueNames 下标</a:t>
            </a:r>
            <a:endParaRPr lang="en-US" sz="125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bool 维度用 #if DIMNAME</a:t>
            </a:r>
            <a:endParaRPr lang="en-US" sz="125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文件顶部注明依赖的宏与声明位置（纯文档作用，工具不解析）</a:t>
            </a:r>
            <a:endParaRPr lang="en-US" sz="125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 Shader 复用代码放入 src/gpu/shaders/common/*.glsl，构建工具做 #include 级联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691640"/>
            <a:ext cx="5021428" cy="4114800"/>
          </a:xfrm>
          <a:prstGeom prst="roundRect">
            <a:avLst>
              <a:gd name="adj" fmla="val 1111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1691640"/>
            <a:ext cx="5021428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57036" y="1691640"/>
            <a:ext cx="46190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tiled_texture_fill.frag（枚举维度示例）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3612" y="2194560"/>
            <a:ext cx="45459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uniform sampler2D u_sampler;
#if HAS_SUBSET
  uniform SubsetBlock { vec4 u_subset; };
#endif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void main() {
  vec2 coord = v_texCoord;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#if SHADER_MODE_X == 1  // Clamp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coord.x = ClampSubsetX(coord.x, u_subset);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#endif
  // ... 其余 SHADER_MODE_X/Y 分支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fragColor = texture(u_sampler, coord);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清单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 Processor 全景清单（12 GP + 22 FP + 2 XP）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3271418" cy="4526280"/>
          </a:xfrm>
          <a:prstGeom prst="roundRect">
            <a:avLst>
              <a:gd name="adj" fmla="val 1398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3271418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6916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GeometryProcessor（12）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2148840"/>
            <a:ext cx="290565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DefaultGeometryProcessor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QuadPerEdgeAAGeometryProcessor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NonAARRectGeometryProcessor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ComplexNonAARRectGeometryProcessor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RoundStrokeRectGeometryProcessor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EllipseGeometryProcessor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ComplexEllipseGeometryProcessor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HairlineLineGeometryProcessor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HairlineQuadGeometryProcessor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MeshGeometryProcessor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ShapeInstancedGeometryProcessor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AtlasTextGeometryProcessor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0138" y="1691640"/>
            <a:ext cx="3271418" cy="4526280"/>
          </a:xfrm>
          <a:prstGeom prst="roundRect">
            <a:avLst>
              <a:gd name="adj" fmla="val 1398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0138" y="1691640"/>
            <a:ext cx="3271418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298" y="16916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FragmentProcessor（22）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43018" y="2148840"/>
            <a:ext cx="290565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AARectEffect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AlphaThresholdFragmentProcessor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ClampedGradientEffect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ColorMatrixFragmentProcessor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ColorSpaceXformEffect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ComposeFragmentProcessor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ConicGradientLayout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ConstColorProcessor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DeviceSpaceTextureEffect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DiamondGradientLayout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DualIntervalGradientColorizer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GaussianBlur1DFragmentProcessor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LinearGradientLayout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LumaFragmentProcessor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PerlinNoiseFragmentProcessor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RadialGradientLayout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SingleIntervalGradientColorizer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TextureEffect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TextureGradientColorizer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TiledTextureEffect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UnrolledBinaryGradientColorizer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XfermodeFragmentProcessor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05877" y="1691640"/>
            <a:ext cx="327141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5877" y="1691640"/>
            <a:ext cx="3271418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7" name="Text 15"/>
          <p:cNvSpPr/>
          <p:nvPr/>
        </p:nvSpPr>
        <p:spPr>
          <a:xfrm>
            <a:off x="8143037" y="16916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XferProcessor（2）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88757" y="2148840"/>
            <a:ext cx="29056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EmptyXferProcessor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PorterDuffXferProcessor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05877" y="3246120"/>
            <a:ext cx="3271418" cy="2971800"/>
          </a:xfrm>
          <a:prstGeom prst="roundRect">
            <a:avLst>
              <a:gd name="adj" fmla="val 1538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7045" y="342900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统计口径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07045" y="3703320"/>
            <a:ext cx="286908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src/gpu/processors/ 下 DEFINE_PROCESSOR_CLASS_ID 的实际数量，2026-07-02 统计；后续新增需同步更新本表。</a:t>
            </a: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endParaRPr lang="en-US" sz="9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渐变家族与合成家族归类后，独立的“渐变 shader 组合逻辑”数量少于 22，具体归并方式在细化阶段确定。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变体规模分析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TextureEffect：8 个独立 bit 的组合空间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62895" cy="352044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6976872"/>
              </a:tblGrid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bit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HAS_YUV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yuvTexture != nullptr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HAS_RGBAAA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alphaStart == Point::Zero()（RGBAAA 布局标志）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ALPHA_ONLY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textureProxy-&gt;isAlphaOnly()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YUV_FORMAT_NOT_I420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yuvTexture-&gt;yuvFormat() != I420（仅 YUV 有效）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YUV_RANGE_FULL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YUV color range 是否为 limited（仅 YUV 有效）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HAS_SUBSET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needSubset()：是否需要子区域裁剪采样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STRICT_CONSTRAINT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constraint == Strict：采样约束模式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HAS_PERSPECTIVE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coordTransform.matrix.hasPerspective()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5394960"/>
            <a:ext cx="10362895" cy="5943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5394960"/>
            <a:ext cx="64008" cy="5943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5394960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裸组合数：2⁸ = 256。排除“YUV 同时具有 alpha-only 或 RGBAAA”的结构性不可达组合后，有效变体数由构建工具在枚举阶段实际统计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变体规模分析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TiledTextureEffect：环绕采样填充，648 种裸组合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4998568" cy="2606040"/>
        </p:xfrm>
        <a:graphic>
          <a:graphicData uri="http://schemas.openxmlformats.org/drawingml/2006/table">
            <a:tbl>
              <a:tblPr/>
              <a:tblGrid>
                <a:gridCol w="1645920"/>
                <a:gridCol w="548640"/>
                <a:gridCol w="26517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取值数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shaderModeX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X 轴 ShaderMode（None/Clamp/RepeatNearestNone/...）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shaderModeY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 轴 ShaderMode（onComputeProcessorKey 中 &lt;&lt;4 与 X 轴打包）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isAlphaOnly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textureProxy-&gt;isAlphaOnly()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constraint == Strict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SrcRectConstraint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hasPerspective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坐标变换是否含透视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78728" y="1691640"/>
            <a:ext cx="4998568" cy="2606040"/>
          </a:xfrm>
          <a:prstGeom prst="roundRect">
            <a:avLst>
              <a:gd name="adj" fmla="val 1754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4760" y="1947672"/>
            <a:ext cx="448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9 × 9 × 2 × 2 × 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34760" y="2377440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648 裸组合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34760" y="2788920"/>
            <a:ext cx="4486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ShaderMode::None 表示该轴完全由硬件采样器处理——是否需要为其设计更简单的变体，是构建期裁剪规则需要回答的问题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54406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TextureEffect 是两个职责不重叠的 Shader：TiledTextureEffect::getTextureView() 显式排除 YUV 纹理，因此本 FP 处理环绕采样模式，TextureEffect 处理格式/YUV/RGBAAA——两者不应共用同一个示例混合其维度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待决维度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PerlinNoiseFragmentProcessor：规模问题待决议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62895" cy="1463040"/>
        </p:xfrm>
        <a:graphic>
          <a:graphicData uri="http://schemas.openxmlformats.org/drawingml/2006/table">
            <a:tbl>
              <a:tblPr/>
              <a:tblGrid>
                <a:gridCol w="3200400"/>
                <a:gridCol w="71597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取值数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noiseType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2（FractalNoise / Turbulence）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numOctaves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当前上限 255（MAX_OCTAVES）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stitchTiles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342900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255×2×2=1020 个变体，仅此一个 FP 就与 C3 目标冲突，直接枚举不可行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此前方案提出收紧上限至 8（8 阶以上振幅衰减 &lt;0.4%，视觉不可分辨），本方案采纳该方向作为前提，但这是公开 API 变更，需单独评审确认</a:t>
            </a:r>
            <a:endParaRPr lang="en-US" sz="14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已核对 onComputeProcessorKey() 源码：仅 numOctaves×noiseType×stitchTiles 三个独立维度，收紧后正确变体数为 8×2×2=32——此前的估算值均有误，现已修正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7150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在收紧决议前，暂列为待决维度，不计入单 Pass 覆盖率统计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判定规则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 Pass / 多 Pass 的判定原则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62895" cy="3017520"/>
        </p:xfrm>
        <a:graphic>
          <a:graphicData uri="http://schemas.openxmlformats.org/drawingml/2006/table">
            <a:tbl>
              <a:tblPr/>
              <a:tblGrid>
                <a:gridCol w="722376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场景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GP + 单个 colorFP + 可选 coverageFP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类型有限的 colorFilter（ColorMatrix 等）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GaussianBlur（maskFilter 场景）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ColorFilter+MaskFilter+高级 BlendMode 同现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Shader::MakeBlend() 递归嵌套子 Shader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Pass（逐层拆解）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4937760"/>
            <a:ext cx="64008" cy="8229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4937760"/>
            <a:ext cx="9722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判定原则：笛卡尔积裁剪后若不显著膨胀（参考阈值 ≤256 变体），优先归入该 Shader 的 Permutation；否则拆分为独立 Shader，多 Pass 串联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声明系统详细设计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三种维度类型，覆盖已观察到的全部 key 参数形态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324093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920240"/>
            <a:ext cx="2728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PermutationBool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313432"/>
            <a:ext cx="27288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布尔开关维度，映射为单个 #define NAME 0/1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70432" y="3886200"/>
            <a:ext cx="2728874" cy="34747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886200"/>
            <a:ext cx="2728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HAS_YUV / ALPHA_ONLY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75378" y="1691640"/>
            <a:ext cx="324093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1410" y="1920240"/>
            <a:ext cx="2728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PermutationEnum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1410" y="2313432"/>
            <a:ext cx="27288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枚举维度，valueNames.size() 必须等于对应 C++ enum 值数量；宏被定义为 0-based 下标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31410" y="3886200"/>
            <a:ext cx="2728874" cy="34747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4731410" y="3886200"/>
            <a:ext cx="2728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ShaderMode（9 个值）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36357" y="1691640"/>
            <a:ext cx="324093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2389" y="1920240"/>
            <a:ext cx="2728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92389" y="2313432"/>
            <a:ext cx="27288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有界整数维度，取值范围 [0, count)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92389" y="3886200"/>
            <a:ext cx="2728874" cy="34747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92389" y="3886200"/>
            <a:ext cx="2728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mip level 数等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48920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的 Processor / Shader 类数量为 36 个同量级，不构成模板实例化膨胀的压力；运行时用具名下标而非模板参数位置保证类型安全（详见下一页）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声明系统详细设计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为何不采用 UE 式模板参数包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36289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UE 的 TShaderPermutationDomain&lt;Dim1, Dim2, ...&gt; 通过模板参数包在编译期展开维度组合，代价是每种维度组合都会实例化一份新类型</a:t>
            </a:r>
            <a:endParaRPr lang="en-US" sz="1600" dirty="0"/>
          </a:p>
          <a:p>
            <a:pPr marL="254000" indent="-254000">
              <a:lnSpc>
                <a:spcPct val="12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的 Shader 类数量与 Processor 同量级（36 个），不构成模板实例化膨胀的压力，无需为此付出模板复杂度</a:t>
            </a:r>
            <a:endParaRPr lang="en-US" sz="1600" dirty="0"/>
          </a:p>
          <a:p>
            <a:pPr marL="254000" indent="-254000">
              <a:lnSpc>
                <a:spcPct val="12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运行时改用 std::vector&lt;std::variant&lt;...&gt;&gt; 描述维度组合，类型安全通过具名下标访问保证，而非依赖模板参数位置</a:t>
            </a:r>
            <a:endParaRPr lang="en-US" sz="1600" dirty="0"/>
          </a:p>
          <a:p>
            <a:pPr marL="254000" indent="-254000">
              <a:lnSpc>
                <a:spcPct val="12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对全 bool 维度场景（如 TextureFillShader），推荐用 TGFX_DEFINE_DIMS 宏一行声明，内部生成的仍是由 PermutationBool 组成的 PermutationDomain，不需要逐个手写维度类型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声明系统详细设计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PermutationDomain：mixed-radix 编解码公式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10362895" cy="1417320"/>
          </a:xfrm>
          <a:prstGeom prst="roundRect">
            <a:avLst>
              <a:gd name="adj" fmla="val 3226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874520"/>
            <a:ext cx="9777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index = Σ v[i] · stride[i]，i ∈ [0, 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07008" y="2350008"/>
            <a:ext cx="97776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stride[0] = 1，stride[i] = stride[i-1] · dimensions[i-1].valueCount()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07008" y="2679192"/>
            <a:ext cx="977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0 个维度（声明顺序最先）权重最小；后续维度按前面全部维度 valueCount() 的累积乘积递增权重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10362895" cy="1234440"/>
          </a:xfrm>
          <a:prstGeom prst="roundRect">
            <a:avLst>
              <a:gd name="adj" fmla="val 3704"/>
            </a:avLst>
          </a:prstGeom>
          <a:solidFill>
            <a:srgbClr val="E6F7F5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3474720"/>
            <a:ext cx="9777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 bool domain 退化为标准位打包（LSB-first）：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07008" y="3794760"/>
            <a:ext cx="97776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index = Σ v[i] · 2ⁱ  ——  第 i 个维度恰好占第 i 个 bit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7008" y="4224528"/>
            <a:ext cx="9777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这是直接使用 1u &lt;&lt; D::DIM_NAME 位运算、且结果与 domain.encode({...}) 完全等价的前提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关键约束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193792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encode()/decode() 必须严格遵循该公式，不得采用 MSB-first 或其他打包顺序</a:t>
            </a:r>
            <a:endParaRPr lang="en-US" sz="1250" dirty="0"/>
          </a:p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 PermutationEnum/PermutationInt 维度的 Shader 不满足“每维度恰占 1 bit”前提，仍需走通用的 domain.encode({...}) 按位置传值路径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声明系统详细设计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PrecompiledShader 基类与静态自注册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4998568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691640"/>
            <a:ext cx="459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PrecompiledShader.h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" y="2194560"/>
            <a:ext cx="4523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struct PrecompiledShaderInfo {
  std::string name, vertexFile, fragmentFile;
  PermutationDomain domain;
  ShouldCompileFn shouldCompile;
};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class PrecompiledShader {
 public:
  virtual PrecompiledShaderInfo
      info() const = 0;
};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ShaderRegistry::Register() / All() 见右侧宏说明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4760" y="1892808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两个宏，消除手写同步负担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4760" y="2286000"/>
            <a:ext cx="44865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TGFX_REGISTER_SHADER(ClassName)
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静态初始化期把工厂函数注册进 ShaderRegistry；用 __COUNTER__ 生成唯一注册器名，不对 ClassName 做 token 粘贴（因其可能含 :: ，粘贴是未定义行为）
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TGFX_DEFINE_DIMS(A, B, C, ...)
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把“维度声明”与“维度下标”合并为一次声明——生成 enum { A=0, B=1, C=2, COUNT } 与对应的 PermutationDomain::domain()，两者永不漂移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4663440"/>
            <a:ext cx="4998568" cy="10515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8728" y="4663440"/>
            <a:ext cx="64008" cy="10515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6644488" y="4663440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COUNT 是编译期常量，用于 static_assert(D::COUNT == N)：增删维度后若忘记同步更新裁剪/运行时代码，编译直接失败，而不是留下静默的下标错位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生产环境完整声明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TextureFillShader：8 维度声明与运行时位拼装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92808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个 Permutation 维度（均为 bool）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286000"/>
            <a:ext cx="448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HAS_YUV · YUV_FORMAT_NOT_I420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YUV_RANGE_FULL · ALPHA_ONLY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HAS_RGBAAA · HAS_SUBSET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73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STRICT_CONSTRAINT · HAS_PERSPECTIVE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3291840"/>
            <a:ext cx="44865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均为独立 bool，互不嵌套，可一次 TGFX_DEFINE_DIMS 声明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YUV_FORMAT_NOT_I420 / YUV_RANGE_FULL 仅在 HAS_YUV 时被消费，仍声明为平级独立 bool，避免维度间隐式耦合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ShouldCompile 排除“YUV 同时具有 alpha-only 或 RGBAAA”的结构性不可达组合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static_assert(D::COUNT == 8) 防止后续增删维度时裁剪逻辑与声明脱钩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7F8FC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691640"/>
            <a:ext cx="4998568" cy="36576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9896" y="1691640"/>
            <a:ext cx="459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运行时位拼装（等价于 encode）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6472" y="2194560"/>
            <a:ext cx="4523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using D = TextureFillShader::Dims;
static_assert(D::COUNT == 8, "...");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uint32_t idx = 0;
if (hasYuv)    idx |= 1u &lt;&lt; D::HAS_YUV;
if (alphaOnly) idx |= 1u &lt;&lt; D::ALPHA_ONLY;
if (hasRgbaaa) idx |= 1u &lt;&lt; D::HAS_RGBAAA;
// ... 其余维度同理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PipelineKey key{"TextureFillShader", idx,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rtFormat, sampleCount, blendState};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构建工具链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shader_build_tool 整体流程与后端转换链路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92808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main() 逻辑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70432" y="2359152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19072" y="2331720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遍历 ShaderRegistry::All() 取得每个已注册 Shader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1170432" y="30175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19072" y="2990088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 domain.totalCount() 个裸组合，逐一调用 shouldCompile 裁剪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1170432" y="3675888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19072" y="3648456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有效组合：defineListFor() 生成宏 → 走后端转换链路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1170432" y="4334256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19072" y="4306824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WriteBundles() 打包产物，WriteReportJson() 写构建报告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1170432" y="4992624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19072" y="49651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report.hasErrors() 为真时非零退出，令 CMake build 直接失败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278728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4760" y="1892808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后端转换链路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4760" y="2286000"/>
          <a:ext cx="4486504" cy="1737360"/>
        </p:xfrm>
        <a:graphic>
          <a:graphicData uri="http://schemas.openxmlformats.org/drawingml/2006/table">
            <a:tbl>
              <a:tblPr/>
              <a:tblGrid>
                <a:gridCol w="914400"/>
                <a:gridCol w="3566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宏展开后的 GLSL 直接作为产物（运行时仍需 glCompileShader）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GLSL → glslang → SPIR-V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GLSL → glslang → SPIR-V → spirv-cross → MSL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GLSL → glslang → SPIR-V → tint → WGSL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534760" y="4160520"/>
            <a:ext cx="448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OpenGL 需按 ShaderCaps profile（framebuffer fetch / ES/Desktop 差异）拆分为多个 Bundle；文件名含 profileTag，拼接规则运行时与构建期共享同一实现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构建工具链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CMake 依赖追踪与 Bundle 二进制格式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502142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92808"/>
            <a:ext cx="45093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CMake 依赖追踪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313432"/>
            <a:ext cx="45093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file(GLOB_RECURSE ... CONFIGURE_DEPENDS ...) 收集 shader 源文件，新增/删除文件也能正确触发重跑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add_custom_command DEPENDS 包含 shader_build_tool 本身与全部 shader 源文件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add_custom_target tgfx_shader_bundles 挂到 TGFXFullTest_OpenGL 等目标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改一个 .frag 触发重跑，体验等价于修改一个 .cpp 后的正常增量编译（符合 C4）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1691640"/>
            <a:ext cx="502142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4468" y="1892808"/>
            <a:ext cx="4564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结构（每个 backend/profile 各一份）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84468" y="2286000"/>
            <a:ext cx="4564228" cy="438912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3" name="Text 11"/>
          <p:cNvSpPr/>
          <p:nvPr/>
        </p:nvSpPr>
        <p:spPr>
          <a:xfrm>
            <a:off x="6667348" y="2286000"/>
            <a:ext cx="41984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FileHeader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84468" y="2816352"/>
            <a:ext cx="4564228" cy="438912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5" name="Text 13"/>
          <p:cNvSpPr/>
          <p:nvPr/>
        </p:nvSpPr>
        <p:spPr>
          <a:xfrm>
            <a:off x="6667348" y="2816352"/>
            <a:ext cx="41984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IndexEntry[entryCount]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84468" y="3346704"/>
            <a:ext cx="4564228" cy="438912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7" name="Text 15"/>
          <p:cNvSpPr/>
          <p:nvPr/>
        </p:nvSpPr>
        <p:spPr>
          <a:xfrm>
            <a:off x="6667348" y="3346704"/>
            <a:ext cx="41984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Reflection Data Pool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84468" y="3877056"/>
            <a:ext cx="4564228" cy="438912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67348" y="3877056"/>
            <a:ext cx="41984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 Data Pool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84468" y="4544568"/>
            <a:ext cx="45642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0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索引表按 (pipelineKeyHashHi, pipelineKeyHashLo) 字典序排列，构建期校验无重复，运行时二分查找</a:t>
            </a:r>
            <a:endParaRPr lang="en-US" sz="1030" dirty="0"/>
          </a:p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0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 struct 用 #pragma pack(push,1) 保证跨平台无 padding 的可移植序列化</a:t>
            </a:r>
            <a:endParaRPr lang="en-US" sz="1030" dirty="0"/>
          </a:p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0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OpenGL 无 SPIR-V 中间产物：只经 glslang buildReflection() 提取布局后保留原始 GLSL 文本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运行时集成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与现有 GlobalCache 的关系，以及 PrecompiledShaderCache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92808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GlobalCache 的关系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286000"/>
            <a:ext cx="448650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不替换缓存机制，只替换“未命中时如何生成 Program”这一步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现状：未命中调用 ProgramBuilder::CreateProgram() 动态拼接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改造后：未命中改为 precompiledShaderCache()-&gt;find(pipelineKey) 查表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PipelineKey::toKey() 序列化为 BytesKey，直接复用现有 GlobalCache 基础设施；编码含固定前缀 tag 字节，与旧路径 key 空间区分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4760" y="1892808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PrecompiledShaderCache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4760" y="2240280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Context 持有一个实例：loadBundle(path) / find(key) -&gt; Blob*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534760" y="2651760"/>
            <a:ext cx="44865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实例方法而非静态：按 Context 粒度隔离，同进程内多个 backend 的 Context 各自持有并加载自己的 Bundle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loadBundle() 由 GPU::init() 内部自动调用一次，无需用户手动触发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loadBundle() 必须先于任何 find() 完成，完成后视为只读——find() 天然线程安全，不需要额外加锁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find() 返回构建期产物（二进制/文本+Reflection），是否创建 Program 仍遵循既有分层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运行时集成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填充机制、EffectDecomposer 递归分解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92808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填充机制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240280"/>
            <a:ext cx="448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 改造消除“生成 shader 代码”，不改变“填充 uniform 数值”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70432" y="2743200"/>
            <a:ext cx="44865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Processor::setData()/onSetData() 写入数值路径不变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需改造：uniform 名字 → buffer 偏移/binding 的映射，改为从 Bundle 的 ReflectionEntry/UniformDesc 静态读取</a:t>
            </a:r>
            <a:endParaRPr lang="en-US" sz="1200" dirty="0"/>
          </a:p>
          <a:p>
            <a:pPr marL="254000" indent="-2540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UniformDesc.name 与 Processor 侧命名一致性无法构建期静态检查，只能靠命名约定 + 运行时防御检查暴露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1691640"/>
            <a:ext cx="4998568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4760" y="1892808"/>
            <a:ext cx="448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EffectDecomposer 递归分解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4760" y="2286000"/>
            <a:ext cx="448650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Decompose() 三步：识别匹配的已注册 Shader 类 → 调用各 Processor 的 onComputePermutationValues() → encode() 组装 PipelineKey</a:t>
            </a:r>
            <a:endParaRPr lang="en-US" sz="115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容器节点递归下探：子结果均单 Pass 且父为 Compose 时并入同一 Shader；父为 Xfermode 或子结果已多 Pass 时新增 Pass 边界</a:t>
            </a:r>
            <a:endParaRPr lang="en-US" sz="115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递归终止条件是叶子 FP——类型集合有限，任意深度的树都在有限步内终止</a:t>
            </a:r>
            <a:endParaRPr lang="en-US" sz="115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RuntimeEffect 已用独立 CommandEncoder 路径，不受本方案影响，但仍需 shaderc 等作为运行时依赖，与瘦身构建互斥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完备性保证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 Pass 优先、多 Pass 兜底的判定表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62895" cy="3566160"/>
        </p:xfrm>
        <a:graphic>
          <a:graphicData uri="http://schemas.openxmlformats.org/drawingml/2006/table">
            <a:tbl>
              <a:tblPr/>
              <a:tblGrid>
                <a:gridCol w="7223760"/>
                <a:gridCol w="3108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场景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处理方式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GP + 单个 colorFP（纹理/渐变/常量色）+ 可选 coverageFP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类型有限的 colorFilter（ColorMatrix / AlphaThreshold 等）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GaussianBlur（maskFilter 场景）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ColorFilter + MaskFilter + 高级 BlendMode 同时出现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Shader::MakeBlend() 递归嵌套子 Shader（唯一无界位置）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4F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 Pass（逐层拆解）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完备性保证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三层机制共同保证覆盖，均可在构建期验证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01168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构建期检查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26618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扫描全部已注册 Processor 子类，核对匹配表是否有对应规则，缺失即报错阻断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0618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0618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938" y="201168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递归天然终止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64938" y="2560320"/>
            <a:ext cx="26618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叶子 FP 类型有限，Decompose() 对任意深度的树都能在有限步内终止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6837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6837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8341157" y="201168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过渡期兜底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41157" y="2560320"/>
            <a:ext cx="26618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未覆盖的组合保留 ProgramBuilder::CreateProgram() 动态拼接，不中断渲染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变体规模评估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 变体规模评估结果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3210458" cy="2331720"/>
          </a:xfrm>
          <a:prstGeom prst="roundRect">
            <a:avLst>
              <a:gd name="adj" fmla="val 1961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928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256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70432" y="2468880"/>
            <a:ext cx="26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TextureEffect 裸组合数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70432" y="2971800"/>
            <a:ext cx="2698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个独立 bool 维度，2⁸=256；裁剪结构性不可达组合后更少（待构建工具统计）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90618" y="1691640"/>
            <a:ext cx="3210458" cy="2331720"/>
          </a:xfrm>
          <a:prstGeom prst="roundRect">
            <a:avLst>
              <a:gd name="adj" fmla="val 1961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6650" y="18928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648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46650" y="2468880"/>
            <a:ext cx="26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TiledTextureEffect 裸组合数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46650" y="2971800"/>
            <a:ext cx="2698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X/Y 两轴各 9 种 ShaderMode + isAlphaOnly + constraint + hasPerspective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6837" y="1691640"/>
            <a:ext cx="3210458" cy="2331720"/>
          </a:xfrm>
          <a:prstGeom prst="roundRect">
            <a:avLst>
              <a:gd name="adj" fmla="val 1961"/>
            </a:avLst>
          </a:prstGeom>
          <a:solidFill>
            <a:srgbClr val="10173A"/>
          </a:solidFill>
          <a:ln w="12700">
            <a:solidFill>
              <a:srgbClr val="101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2869" y="18928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2869" y="2468880"/>
            <a:ext cx="2698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PerlinNoise（待决议）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2869" y="2971800"/>
            <a:ext cx="2698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已核对源码：3 个独立维度（8×2×2=32）；上限收紧属公开 API 变更，需单独评审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251960"/>
            <a:ext cx="10362895" cy="54864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251960"/>
            <a:ext cx="64008" cy="54864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425196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判定阈值：单 Shader ≤ 256 个已编译变体（工程经验值），超过由构建工具告警，非自动阻断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当前置信度：TGFX 共 36 个 Processor 子类（12 GP + 22 FP + 2 XP），本方案仅对 3 个代表性 FP 完成逐 bit 分析；其余标注为「待细化」，不影响架构方向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错误检查体系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 / 构建期 / 运行时三层，多数错误在构建期暴露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10362895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54864" cy="1143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1801368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编译期（C++ 编译阶段）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7008" y="2130552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400"/>
              </a:spcAft>
              <a:buSzPct val="100000"/>
              <a:buChar char="▪"/>
            </a:pPr>
            <a:r>
              <a:rPr lang="en-US" sz="11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类未实现 info()：纯虚函数，直接编译报错</a:t>
            </a:r>
            <a:endParaRPr lang="en-US" sz="1130" dirty="0"/>
          </a:p>
          <a:p>
            <a:pPr marL="254000" indent="-254000">
              <a:lnSpc>
                <a:spcPct val="122000"/>
              </a:lnSpc>
              <a:spcAft>
                <a:spcPts val="400"/>
              </a:spcAft>
              <a:buSzPct val="100000"/>
              <a:buChar char="▪"/>
            </a:pPr>
            <a:r>
              <a:rPr lang="en-US" sz="11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TGFX_DEFINE_DIMS 维度数量变化后，配套 static_assert(D::COUNT==N) 强制开发者检视相关代码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10362895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971800"/>
            <a:ext cx="54864" cy="19659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3081528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构建期（shader_build_tool，9 项检查）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07008" y="3410712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400"/>
              </a:spcAft>
              <a:buSzPct val="100000"/>
              <a:buChar char="▪"/>
            </a:pPr>
            <a:r>
              <a:rPr lang="en-US" sz="11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目录扫描 vs 注册表比对、维度声明自检、ShouldCompile 下标安全性</a:t>
            </a:r>
            <a:endParaRPr lang="en-US" sz="1130" dirty="0"/>
          </a:p>
          <a:p>
            <a:pPr marL="254000" indent="-254000">
              <a:lnSpc>
                <a:spcPct val="122000"/>
              </a:lnSpc>
              <a:spcAft>
                <a:spcPts val="400"/>
              </a:spcAft>
              <a:buSzPct val="100000"/>
              <a:buChar char="▪"/>
            </a:pPr>
            <a:r>
              <a:rPr lang="en-US" sz="11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宏展开后 GLSL 语法校验（报错含维度取值定位）、全零覆盖检查、变体数膨胀预警（&gt;256）</a:t>
            </a:r>
            <a:endParaRPr lang="en-US" sz="1130" dirty="0"/>
          </a:p>
          <a:p>
            <a:pPr marL="254000" indent="-254000">
              <a:lnSpc>
                <a:spcPct val="122000"/>
              </a:lnSpc>
              <a:spcAft>
                <a:spcPts val="400"/>
              </a:spcAft>
              <a:buSzPct val="100000"/>
              <a:buChar char="▪"/>
            </a:pPr>
            <a:r>
              <a:rPr lang="en-US" sz="11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构建报告 JSON、Uniform 名长度校验（≤31 字节）、Processor 覆盖率检查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914400" y="5074920"/>
            <a:ext cx="10362895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074920"/>
            <a:ext cx="54864" cy="1143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1207008" y="5184648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运行时（防御性检查）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07008" y="5513832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400"/>
              </a:spcAft>
              <a:buSzPct val="100000"/>
              <a:buChar char="▪"/>
            </a:pPr>
            <a:r>
              <a:rPr lang="en-US" sz="11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PipelineKey 查不到：Debug 断言中止，Release 跳过绘制并记录日志</a:t>
            </a:r>
            <a:endParaRPr lang="en-US" sz="1130" dirty="0"/>
          </a:p>
          <a:p>
            <a:pPr marL="254000" indent="-254000">
              <a:lnSpc>
                <a:spcPct val="122000"/>
              </a:lnSpc>
              <a:spcAft>
                <a:spcPts val="400"/>
              </a:spcAft>
              <a:buSzPct val="100000"/>
              <a:buChar char="▪"/>
            </a:pPr>
            <a:r>
              <a:rPr lang="en-US" sz="113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版本（sourceHash）不匹配：无编译器可回退，Debug 断言中止，Release 拒绝启动该 backend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决策差异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与既往方案的关键选型对比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62895" cy="233172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4325112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既往方案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本方案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变种声明位置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文件 //! 注释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C++ 类声明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解析方式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Python 正则解析 GLSL 注释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C++ 静态自注册，构建工具直接调用 C++ API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架构基线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全部改为多 Pass，废弃单 Pass 拼接模型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 为主，多 Pass 仅作复杂组合兜底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原子 Shader 数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固定集合（估算 ~359）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按已注册 Shader 类的维度动态确定，不预设总数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选择理由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66344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C++ 类声明可获得编译期类型检查（info() 纯虚函数强制实现），//! 注释的正确性只能在构建期或运行时暴露</a:t>
            </a:r>
            <a:endParaRPr lang="en-US" sz="1300" dirty="0"/>
          </a:p>
          <a:p>
            <a:pPr marL="254000" indent="-2540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全面多 Pass 改造意味着放弃全部单 Pass 场景的现有性能特征；消除运行时拼接、控制变体规模两个目标，可以同时通过“Shader 类粒度的 Permutation”达成，不必绑定“废弃单 Pass”这一决策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实施建议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分阶段推进，新旧路径过渡期并存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1549" y="2926080"/>
            <a:ext cx="6908597" cy="0"/>
          </a:xfrm>
          <a:prstGeom prst="line">
            <a:avLst/>
          </a:prstGeom>
          <a:noFill/>
          <a:ln w="1905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31821" y="28163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2531821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 · 声明系统 + 构建工具链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318211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PermutationDomain / PrecompiledShader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shader_build_tool + CMake 集成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6120" y="28163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5986120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14418" y="210312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 · 运行时集成 + 逐步迁移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41850" y="318211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PrecompiledShaderCache 落地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ProgramBuilder 兜底并存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40418" y="2816352"/>
            <a:ext cx="219456" cy="219456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9440418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68717" y="210312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 · 覆盖率达标后瘦身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96149" y="3182112"/>
            <a:ext cx="33079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移除运行时编译器依赖</a:t>
            </a:r>
            <a:endParaRPr lang="en-US" sz="12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RuntimeEffect 单独评估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3949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下线运行时编译器的具体时间表是独立的里程碑决策，需后续单独评审，本方案不预设时间表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风险与兜底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过渡期风险控制机制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1984248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过渡期兜底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70432" y="2468880"/>
            <a:ext cx="269839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未覆盖组合保留 ProgramBuilder::CreateProgram() 动态拼接，不中断渲染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90618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0618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4746650" y="1984248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项构建期检查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46650" y="2468880"/>
            <a:ext cx="269839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语法校验、裁剪自检、变体膨胀预警、Processor 覆盖率核对等，任一失败即中止 CMake 构建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6837" y="1691640"/>
            <a:ext cx="32104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6837" y="1691640"/>
            <a:ext cx="3210458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8322869" y="1984248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RuntimeEffect 隔离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22869" y="2468880"/>
            <a:ext cx="269839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用户自定义着色器走独立运行时编译路径，不受本方案影响（但仍依赖 shaderc 等，与瘦身构建互斥）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5488"/>
            <a:ext cx="128016" cy="12801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风险与兜底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需要明确告知的关键风险：Bundle 版本不匹配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1036289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10362895" cy="2743200"/>
          </a:xfrm>
          <a:prstGeom prst="roundRect">
            <a:avLst>
              <a:gd name="adj" fmla="val 1667"/>
            </a:avLst>
          </a:prstGeom>
          <a:solidFill>
            <a:srgbClr val="FCEBEB"/>
          </a:solidFill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64008" cy="2743200"/>
          </a:xfrm>
          <a:prstGeom prst="rect">
            <a:avLst/>
          </a:prstGeom>
          <a:solidFill>
            <a:srgbClr val="E94F4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920240"/>
            <a:ext cx="9722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FileHeader.sourceHash 与当前源码不一致，说明 Bundle 未随源码同步重新构建。此时没有可退到的运行时编译器（瘦身构建下 shaderc/spirv-cross/tint 均不在运行时二进制中）；因此加载时直接拒绝：Debug 断言中止并提示需重新构建，Release 拒绝启动对应 backend 并记录致命日志。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83280"/>
            <a:ext cx="9722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保留运行时编译器作为回退不是本方案选项，因为这与消除运行时拼接的目标直接冲突。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PipelineKey → 128-bit hash 由构建工具与运行时链接同一份 Hash128 实现，一致性由“单一实现”结构性保证；碰撞抗性受限于两个独立 64-bit hash 拼接（约 2⁻³² 量级），在万级变体规模下可忽略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9436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把不确定的运行时开销，换成确定的构建期投入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210458" cy="146304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6" name="Text 4"/>
          <p:cNvSpPr/>
          <p:nvPr/>
        </p:nvSpPr>
        <p:spPr>
          <a:xfrm>
            <a:off x="1152144" y="2194560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15–70 ms → 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2144" y="2651760"/>
            <a:ext cx="2734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首帧延迟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52144" y="2926080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查表替代拼接与翻译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90618" y="2011680"/>
            <a:ext cx="3210458" cy="146304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0" name="Text 8"/>
          <p:cNvSpPr/>
          <p:nvPr/>
        </p:nvSpPr>
        <p:spPr>
          <a:xfrm>
            <a:off x="4728362" y="2194560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-9~14 MB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28362" y="2651760"/>
            <a:ext cx="2734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运行时二进制体积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28362" y="2926080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瘦身构建下移除三套编译器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66837" y="2011680"/>
            <a:ext cx="3210458" cy="146304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4" name="Text 12"/>
          <p:cNvSpPr/>
          <p:nvPr/>
        </p:nvSpPr>
        <p:spPr>
          <a:xfrm>
            <a:off x="8304581" y="2194560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 个文件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04581" y="2651760"/>
            <a:ext cx="2734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 Shader 的改动量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04581" y="2926080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.h 声明维度 + .frag/.vert 逻辑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794760"/>
            <a:ext cx="10362895" cy="0"/>
          </a:xfrm>
          <a:prstGeom prst="line">
            <a:avLst/>
          </a:prstGeom>
          <a:noFill/>
          <a:ln w="12700">
            <a:solidFill>
              <a:srgbClr val="3E4F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&amp; A · 待确认事项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103628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变体规模评估目前仅覆盖 3 个代表性 Processor（TextureEffect/TiledTextureEffect/PerlinNoise），其余 33 个待补齐同等深度分析</a:t>
            </a:r>
            <a:endParaRPr lang="en-US" sz="1250" dirty="0"/>
          </a:p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PerlinNoise 阶数收紧（255→8）属于公开 API 变更，需单独评审确认，且需完整覆盖 1–8 全部取值</a:t>
            </a:r>
            <a:endParaRPr lang="en-US" sz="1250" dirty="0"/>
          </a:p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GaussianBlur 作为 coverageFP 时单/多 Pass 下的时序差异，继承既往方案中的待办事项，需专项设计</a:t>
            </a:r>
            <a:endParaRPr lang="en-US" sz="1250" dirty="0"/>
          </a:p>
          <a:p>
            <a:pPr marL="254000" indent="-254000">
              <a:lnSpc>
                <a:spcPct val="12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运行时编译器下线时间表尚未确定，作为独立里程碑单独决策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6263640"/>
            <a:ext cx="10362895" cy="0"/>
          </a:xfrm>
          <a:prstGeom prst="line">
            <a:avLst/>
          </a:prstGeom>
          <a:noFill/>
          <a:ln w="9525">
            <a:solidFill>
              <a:srgbClr val="3E4F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 </a:t>
            </a:r>
            <a:pPr algn="l" indent="0" marL="0">
              <a:buNone/>
            </a:pPr>
            <a:r>
              <a:rPr lang="en-US" sz="1100" dirty="0">
                <a:solidFill>
                  <a:srgbClr val="829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TGFX Shader Permutation · 技术评审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1153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291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 Shader Permutation 系统设计方案 · 技术评审完整版</dc:title>
  <dc:subject>PptxGenJS Presentation</dc:subject>
  <dc:creator>TGFX Graphics Team</dc:creator>
  <cp:lastModifiedBy>TGFX Graphics Team</cp:lastModifiedBy>
  <cp:revision>1</cp:revision>
  <dcterms:created xsi:type="dcterms:W3CDTF">2026-07-03T08:19:29Z</dcterms:created>
  <dcterms:modified xsi:type="dcterms:W3CDTF">2026-07-03T08:19:29Z</dcterms:modified>
</cp:coreProperties>
</file>