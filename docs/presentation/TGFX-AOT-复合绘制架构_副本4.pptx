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源码依据：src/gpu/ProgramBuilder.cpp:41-49 的真实拼接顺序；src/gpu/shaders/glsl/level1/texture_fill.frag 主流程。删减说明：FS 片段为三段流程的示意节选，真实文件还含 subset clamp、coverage 与 XP 阶段；正文省略 GeometryProcessor/FragmentProcessor/XferProcessor 类名。适用边界：普通 SrcOver 落入 attachment 固定功能混合，emitAndInstallXferProc 不等于所有混合都在 shader 内计算。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源码依据：src/gpu/shaders/glsl/level1/texture_fill.frag:35-46（TextureSampler_0 与 HAS_DEVICE_MASK 下的 MaskTextureSampler）、:61-65（AlphaOnly uniform 分支）；src/gpu/shaders/level1/TextureFillShader.h:41-42 说明 AlphaOnly/HasRgbaaa 折叠为运行时 uniform。删减说明：左右各取一个代表性差异，未列出全部维度。适用边界：只讨论 FS 侧；VS 同理按 varying/属性接口划分。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源码依据：src/gpu/ProgramInfo.cpp:151-175 的 key 组成（blendMode、format、sampleCount、depthStencil 等即 Pipeline 状态）；各后端 src/gpu/opengl、vulkan、metal、webgpu 的 Program/Pipeline 创建代码。删减说明：每后端只保留一句代表性工作。适用边界：OpenGL 无独立 Pipeline 对象，其等价成本是 driver 编译与链接。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源码依据：src/gpu/ProgramInfo.cpp:161-173（blendMode/format/sampleCount/depthStencil 写入键）、:181-182（buildProgramKey + findProgram）；src/gpu/GlobalCache.cpp:74。删减说明：键字段只展开 sampleCount 一行作代表。适用边界：uniform 值通常不形成新键，但改变资源接口或绘制状态必然换键。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大纲依据：docs/tgfx-aot-presentation-v2.md 第 5 节。删减说明：漏斗为逻辑收窄示意，不对应具体数字。适用边界：本页只提出归属问题，回答在第 06-10 页的行业对照与第 11 页起的 TGFX 方案中展开。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本页为第 07-10 页的总纲：Flutter（引擎掌握算法+使用）、Graphite（调用方掌握使用并申报）、Unreal（项目掌握资产与平台）、TGFX（只有库内信息）。删减说明：信息要素归纳为四项。适用边界：判断标准是“谁同时掌握算法与使用”，不评价各方案优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外部依据：Flutter Impeller 的设计方向（构建期离线编译全部着色器、删除运行时编译路径），属公开资料；63 个 stage 源文件为审查确认的固定快照计数，是 Shader 源文件数而非 Pipeline 数。删减说明：不展开 Impeller 的具体分层，只保留与 TGFX 可对照的因果链。适用边界：结论仅用于对照“谁掌握信息”，不代表 TGFX 可复制该前提。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外部依据：Skia Graphite 的 Precompile 公开 API（PaintOptions + Precompile 入口），代码为真实 API 的最小调用形态，参数列表有删减。适用边界：申报依赖调用方配合；下游不维护清单时该机制无输入。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外部依据：Unreal 的 Shader Library（Cook 阶段产出）与 PSO Cache（采集+预热）机制，属公开资料。删减说明：两层各保留清单来源与产出，不展开材质系统细节。适用边界：方案成立依赖项目上下文完整可见，与库形态不兼容。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大纲依据：docs/tgfx-aot-presentation-v2.md 第 5 节候选方式表；项目约束见 feedback：下游不改库且 API 参数无界，闭包必须在库内完成。删减说明：三种外部来源各压缩为一个不成立的前提。适用边界：规则必须同时满足有限与可覆盖，这是第 11-19 页的主题。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源码依据：src/gpu/shaders/glsl/level1/texture_fill.frag:35-46（HAS_DEVICE_MASK 编译期分支与 MaskTextureSampler 声明）、:61-65（AlphaOnly 运行时 uniform 分支）；src/gpu/shaders/level1/TextureFillShader.h:37-52。删减说明：GLSL 为原文件节选，只保留同时证明三层共存的代表性行。适用边界：分层按“是否改变静态版本”划分，不是按数据类型划分。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源码依据：src/gpu/shaders/level1/TextureFillShader.h:47-52（domain() 声明原文：HAS_XP 3 值 × HAS_DEVICE_MASK 2 值）、:37-45（AlphaOnly/HasRgbaaa 折叠为运行时 uniform，ColorMatrix/Threshold 同为运行时数据）；VS 侧接口不随这两个开关变化。删减说明：右侧只展开 FS 的乘法；高亮的 FS v3 对应第 19 页 Mask=1, XP=0 → v=3 的例子，版本号编码与查找细节见第 19 页。适用边界：声明给出候选上界，真实编译范围由第 17 页的可达性筛选决定。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源码依据：src/gpu/ProgramInfo.cpp:151-175（Program 键的完整组成）；构建产物 cmake-build-debug-metal/generated/shaders/shader_build_report.json 中 artifactProfiles 以 VS/FS 分开计数（101/274 逻辑、78/250 去重）。删减说明：Stage 键压缩为一行文字。适用边界：OpenGL 无独立 Pipeline 对象，其“Pipeline”指等价的绘制时状态绑定。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源码依据：src/gpu/shaders/glsl/level1/texture_fill.frag:37-46（HAS_DEVICE_MASK 编译期维度）、:61-65（AlphaOnly 运行时分支）；src/gpu/shaders/level1/TextureFillShader.h:41-42。删减说明：两段 GLSL 为原文件节选。适用边界：纯 fragment 数学才可折叠为 uniform；改绑定布局或顶点接口的差异不能折叠。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设计依据：src/gpu/shaders/level1/ 下每个 shader 声明自己的有限维度（如 TextureFillShader.h:43-53），而非合并为单一全能 FS；变体体积分析见项目记录（混合表等逻辑体积来源）。删减说明：以对照形式陈述，不展开具体 shader。适用边界：拆分的前提是维度相互独立且取值有限；维度之间耦合会重新引入乘法膨胀。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源码依据：构建管线按 domain() 声明逐项枚举并注入宏，同一份 GLSL 分后端编译；数据来自 cmake-build-debug-metal/generated/shaders/shader_build_report.json（30 个模板、compiledCount 合计 308、unique 合计 328，Metal 2026-08-19 本地快照）。删减说明：流程压缩为六个节点；宏组合只列 TextureFillShader 一例，可达性筛选的逐 shader 数字见第 17 页。适用边界：308/328 为 Metal 快照，其他后端同规则、不同 profile，数值不同。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数据来源：cmake-build-debug-metal/generated/shaders/shader_build_report.json 逐 shader 的 rawCount 与 compiledCount；规则单一作者见 src/gpu 内 Compose 映射（规则可达集迁移已完成，清单由规则生成）。删减说明：30 个 shader 只列三个代表加合计。适用边界：数字随规则演进变化，仅 Metal 快照；其他后端数值不同。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数据来源：cmake-build-debug-metal/generated/shaders/shader_build_report.json（rawCount 合计 4164，compiledCount 合计 308，logical 101+274=375，unique 78+250=328）。删减说明：308 → 375 增大是因为同一版本的 VS/FS 作为独立 Stage 计数。适用边界：数字为 Metal 后端本地快照，其他后端同规则、不同 profile，数值会变；逻辑口径的数字不等于分发体积。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源码依据：src/gpu/shaders/level1/TextureFillShader.h:73-76 的混合进制编码同时服务构建期展开与运行时查找；src/gpu/PermutationMatcher.cpp 的运行时匹配（如 :585-586 的编码后索引）；src/gpu/ProgramInfo.cpp:177-216（findProgram → PrecompiledProgramCreator::CreateProgram）。删减说明：右侧代码为查找与组装的示意形态，压缩了类型与错误处理；两条泳道各合并了中间步骤。适用边界：OpenGL 的“后端编译/链接”指 driver 的 compile+link，Vulkan/Metal/WebGPU 指 module 与 pipeline 对象创建。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源码依据：include/tgfx/core/Shader.h:50-59（MakeImageShader / MakeBlend 公开签名，可递归嵌套）。删减说明：示例为三层嵌套的真实 API 调用，省略错误处理。适用边界：下游不改库且参数无界（项目约束），因此“开放组合”是必须接受的前提，不可通过收窄 API 消除。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 的节点种类枚举与图校验（如 IsPointwiseTailOp :144-149 只接受四种一元颜色运算）。删减说明：图为第 20 页示例的关系化表示，省略坐标与几何细节。适用边界：只覆盖逐点颜色运算；含几何依赖或非局部效果的组合不在此转换范围内。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源码依据：src/gpu/processors/AOTPointwiseChainProcessor.h:78-87（拓扑、运算种类、参数全部走 uniform，sampler 索引保持静态）；src/gpu/shaders/level1/PointwiseChainShader.h:25-30。删减说明：记录表为四节点示意，真实记录含更多参数位。适用边界：只覆盖逐点颜色 DAG；运算种类超出有限集合或超出预算时不走此路径。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源码依据：src/gpu/processors/AOTPointwiseChainProcessor.h:91（MaxSlots = 16）；src/gpu/PermutationMatcher.cpp:703-707（非空链以四个 sampler 子节点出现，路由接受口径 0/1/2/4 真实源、3 拒绝，幻影补齐见 :115-119 与同文件 padding 逻辑）。删减说明：拒绝原因只保留路由口径，不展开双色彩空间等次级拒绝。适用边界：预算指单 Pass 分支路径；线性长链另有路径（第 24-25 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源码依据：src/gpu/AOTEffectDecomposer.cpp:151-193（线性链拆分，slotCount &lt; 2 即每段最多 2 个颜色运算）、:350（线性路径优先判定）。删减说明：不展开每段的 kernel 细节。适用边界：线性路径只接受一元颜色运算链（颜色矩阵/亮度/阈值/色彩空间），含分支即回到分支路径或拒绝。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源码依据：src/gpu/AOTEffectDecomposer.cpp:167-192（首段含源节点、后续段依赖前一段、每段 slotCount &lt; 2、中间段 materializesOutput）。删减说明：示例为 4 节点链的最小多 Pass 形态。适用边界：拆分仅对一元颜色运算链成立；准备失败仅在迁移期回放，终态不依赖 JIT。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依据：第 19 页（AOT 后仍有后端编译与 Pipeline 组装）、第 25 页（中间纹理物化）。字节计算：RGBA8 128×128×4 = 65,536 B。删减说明：只算一张中间纹理的稳态占用，不计分配策略与复用。适用边界：多 Pass 仅用于线性长链；单 Pass 路径无此项开销。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数据来源：resources/shaders/ 当前产物（格式 v4，zstd 压缩）：Metal 1.14 MB、Vulkan 1.77 MB、OpenGL 153 KB、WebGPU 545 KB（WGSL 文本未压缩约 8.4 MB，压缩比约 15:1）；条目数 101 VS + 274 FS = 375（WebGPU 99 VS + 184 FS = 283）。工具链库：cmake-build-*/CMakeFiles/shader-tool-vendor.dir/arm64/libshader-tool-vendor.a 各后端均为 19 MB，合计约 76 MB；WebGPU 另需 tint。静态库：cmake-build-* 根目录 tgfx.a，Metal 418 MB、Vulkan 423 MB、OpenGL 398 MB；WebGPU 的 libtgfx_zstd.a 3.5 MB 仅为嵌入 Bundle 的 zstd 压缩辅助库，完整 libtgfx 未在当前构建中生成。删减说明：三列各自只保留大数字与一句注脚，不逐项对比。适用边界：所有数字为当前构建快照，随构建配置与变体集演进变化；静态库体积为 Release 配置产物，分发体积以 Bundle 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依据：test/src/ShaderPermutationTest.cpp（含 findProgram 双键对比 :891-892）与 AOT-vs-JIT 门禁测试；WebGPU 本地验证链 web/test（npm run test:webgpu），生成端 532/546、真实 miss 0 为 2026-08-25 快照；规则迁移 30/30 为 2026-08-19 项目记录。删减说明：阶梯四级各保留一句。适用边界：所有数字是各自日期的快照；当前工作树是否通过必须当次执行确认。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每个新的绘制结构都会生成一份完整VS/FS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07008" y="1481328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481328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图片纹理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27248" y="2157984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07008" y="2514600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514600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颜色矩阵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27248" y="3191256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07008" y="3547872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547872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透明度阈值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27248" y="4224528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07008" y="4581144"/>
            <a:ext cx="3840480" cy="658368"/>
          </a:xfrm>
          <a:prstGeom prst="rect">
            <a:avLst/>
          </a:prstGeom>
          <a:solidFill>
            <a:srgbClr val="123C6D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581144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 FS 源码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6968" y="5541264"/>
            <a:ext cx="4480560" cy="32918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554126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 SrcOver 由固定功能混合完成，不进入 FS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389888"/>
            <a:ext cx="5498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源码按固定顺序拼接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1719072"/>
            <a:ext cx="5498287" cy="9144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773936"/>
            <a:ext cx="52056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emitAndInstallGeoProc(&amp;color, &amp;coverage);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emitAndInstallFragProcessors(&amp;color, &amp;coverage);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emitAndInstallXferProc(color, coverage);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2816352"/>
            <a:ext cx="5498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生成的 FS（节选）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145536"/>
            <a:ext cx="5498287" cy="1170432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3200400"/>
            <a:ext cx="520567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vec4 color = texture(TextureSampler_0, coord);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color = uColorMatrix * color + uColorBias;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(color.a &lt; uThreshold) { discard; }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fragColor = color;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26480" y="4498848"/>
            <a:ext cx="54982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矩阵与阈值是 uniform：数值变化时源码逐字节不变。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结构决定源码；颜色矩阵和阈值数值只作为运行时参数。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参数变化不会生成Shader，接口变化会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5346040" cy="4480560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371600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57276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仅参数变化 → Shader 不变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011680"/>
            <a:ext cx="490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Matrix 数值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Threshold 数值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AlphaOnly 开关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" y="3108960"/>
            <a:ext cx="4907128" cy="85953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63824"/>
            <a:ext cx="461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color = vec4(color.r);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" y="4133088"/>
            <a:ext cx="490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 fragment 数学折叠为 uniform 分支：同一份 Shader 覆盖两种取值，运行时只更新 uniform。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1371600"/>
            <a:ext cx="5346040" cy="4480560"/>
          </a:xfrm>
          <a:prstGeom prst="rect">
            <a:avLst/>
          </a:prstGeom>
          <a:solidFill>
            <a:srgbClr val="FFFFFF"/>
          </a:solidFill>
          <a:ln w="2032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371600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8184" y="157276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增加设备遮罩 → 新的 FS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8184" y="20116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资源接口多一个 sampler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8184" y="2395728"/>
            <a:ext cx="4907128" cy="122529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4488" y="2450592"/>
            <a:ext cx="4614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0)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TextureSampler_0;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1)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MaskTextureSampler;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8184" y="3785616"/>
            <a:ext cx="490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sampler 数量与绑定布局属于编译期接口，无法用 uniform 表达：必须生成另一份 Shader。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首次成本来自结构与资源接口变化，不来自颜色参数数值。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生成源码后还要完成后端编译和Pipeline创建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VS/FS 源码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478024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60472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3624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 编译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71568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54016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7168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Module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65112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47559" y="1426464"/>
            <a:ext cx="1883664" cy="603504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0711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58655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41103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4255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状态组成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Module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45654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00518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附件格式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24380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9244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混合状态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03107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7971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采样数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81833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6697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深度模板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960559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15423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顶点布局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10128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1680"/>
                <a:gridCol w="475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侧工作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 侧工作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驱动编译 VS/FS 源码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链接 GL Program（状态在绘制时绑定）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VkShaderModule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VkPipeline（状态全部冻结）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取得 MTLFunction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MTLRenderPipelineState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GPUShaderModule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GPURenderPipeline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只是 Pipeline 的一个输入；Pipeline 仍是按绘制状态组装的运行时对象。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缓存只能解决重复创建，不能解决首次创建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28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1463040"/>
                <a:gridCol w="419983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输入变化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缓存键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首次成本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Matrix / Threshold 数值变化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sampleCount 1 → 4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编译 + 组装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增加 DeviceMask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生成源码 + 编译 + 组装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3101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键同时包含结构、资源接口与关键绘制状态；参数数值不进入键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3657600"/>
            <a:ext cx="11057839" cy="786384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712464"/>
            <a:ext cx="1076523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key.write(static_cast&lt;uint32_t&gt;(renderTarget-&gt;sampleCount()));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program = globalCache-&gt;findProgram(programKey);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4663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未命中时缓存无事可做：它记录的是“已经见过”，回答不了“第一次见到”。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缓存消除重复成本；首次成本只能前移，不能靠缓存。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边界 / THE BOUNDARY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运行时组合开放，构建期资产必须有限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40968" y="1554480"/>
            <a:ext cx="9509760" cy="676656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4120" y="1554480"/>
            <a:ext cx="9363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API 可组合出无界绘制结构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95848" y="2249424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46808" y="2596896"/>
            <a:ext cx="7498080" cy="676656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9960" y="2596896"/>
            <a:ext cx="7351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运行缓存只能覆盖已经见过的组合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48" y="3291840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52648" y="3639312"/>
            <a:ext cx="5486400" cy="676656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5800" y="3639312"/>
            <a:ext cx="5340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构建期只能准备有限份 Shader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48" y="4334256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12768" y="4681728"/>
            <a:ext cx="3566160" cy="676656"/>
          </a:xfrm>
          <a:prstGeom prst="rect">
            <a:avLst/>
          </a:prstGeom>
          <a:solidFill>
            <a:srgbClr val="FAEAE7"/>
          </a:solidFill>
          <a:ln w="1778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5920" y="4681728"/>
            <a:ext cx="3419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由谁定义这个有限范围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的关键不是提前编译，而是定义有限且可覆盖的候选集合。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预编译范围必须由掌握完整信息的一方提供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28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定义候选范围需要的信息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通常由谁掌握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全部支持的运算种类和实现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库 / 引擎的实现者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实际会用到哪些组合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调用方或项目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资产清单与目标平台集合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项目构建流程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统一的构建入口与产出分发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引擎或项目的构建系统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四者缺一会发生什么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11057839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4114800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缺使用信息 → 范围溢出：编译大量永远用不到的版本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626864"/>
            <a:ext cx="11057839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4626864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缺算法信息 → 范围缺失：运行时遇到清单外组合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5138928"/>
            <a:ext cx="11057839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5138928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信息齐备 → 范围有限且可覆盖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没有完整信息的一方，给出的清单必然溢出或缺失。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Flutter由引擎集中维护有限的Shader能力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4128" y="1463040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463040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引擎自绘全栈，绘制能力由引擎收敛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13048" y="2121408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24128" y="2395728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395728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算法与全部用法都在引擎内部可见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13048" y="305409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4128" y="3328416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328416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构建期枚举并编译有限 Shader 集合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813048" y="3986784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4128" y="4261104"/>
            <a:ext cx="5577840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261104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运行时零着色器编译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1517904"/>
            <a:ext cx="4675327" cy="4059936"/>
          </a:xfrm>
          <a:prstGeom prst="rect">
            <a:avLst/>
          </a:prstGeom>
          <a:solidFill>
            <a:srgbClr val="FFFFFF"/>
          </a:solidFill>
          <a:ln w="20320">
            <a:solidFill>
              <a:srgbClr val="D97B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517904"/>
            <a:ext cx="4675327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173736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成立前提与代价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68896" y="2139696"/>
            <a:ext cx="42364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前提：引擎同时拥有算法实现与全部调用点。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代价：以收窄公开绘制能力换取有限性，新增能力必须先进引擎。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 选择删除运行时着色器编译路径，正是建立在这个前提之上。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24128" y="52486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固定快照：16 个 .vert + 47 个 .frag + 5 个共享 .glsl = 63 个 Shader stage 源文件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" y="55595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 Shader stage 源文件数，不是 Pipeline 数；Pipeline 仍需结合后端与绘制状态在运行时组装。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集中维护有效，因为引擎有权收窄能力；库没有这个权力。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Graphite由调用方申报需要预编译的候选组合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28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调用方用公开 API 申报自己的用法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5943600" cy="13716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92224"/>
            <a:ext cx="5650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graphite::PaintOptions options;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options.setShaders({ gradient, imageShader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options.setBlendModes({ BlendMode::kSrcOver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graphite::Precompile(recorder, options, drawTypes);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594360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调用方枚举自己的组合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38728" y="3950208"/>
            <a:ext cx="0" cy="21945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187952"/>
            <a:ext cx="594360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87952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引擎在预编译窗口构建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38728" y="4754880"/>
            <a:ext cx="0" cy="21945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4992624"/>
            <a:ext cx="594360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9262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运行时直接命中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49440" y="1737360"/>
            <a:ext cx="4675327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1938528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职责划分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68896" y="2322576"/>
            <a:ext cx="4236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引擎：提供算法实现与预编译机制。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调用方：掌握自己的用法，负责把候选组合喂给引擎。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范围的完整性来自调用方，不来自引擎。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68896" y="4663440"/>
            <a:ext cx="4236415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4663440"/>
            <a:ext cx="41266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前提：调用方能够且愿意枚举自己的用法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申报制把“谁知道会用到什么”显式交给调用方回答。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Unreal依靠项目上下文分别准备Shader和Pipeline状态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层：项目 Cook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2066544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材质图 × 目标平台 × 渲染特性开关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在项目构建期生成 Shader Library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" y="3108960"/>
            <a:ext cx="4907128" cy="512064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108960"/>
            <a:ext cx="476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清单来源：项目资产与构建设置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3803904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产出随项目打包分发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层：状态缓存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8184" y="2066544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运行/采集阶段记录 Pipeline 状态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预热创建，绑定具体渲染目标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8184" y="3108960"/>
            <a:ext cx="4907128" cy="512064"/>
          </a:xfrm>
          <a:prstGeom prst="rect">
            <a:avLst/>
          </a:prstGeom>
          <a:solidFill>
            <a:srgbClr val="FCF0E3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1336" y="3108960"/>
            <a:ext cx="476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清单来源：同一项目的真实绘制记录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8184" y="3803904"/>
            <a:ext cx="490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Shader Library 互补，不互相替代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98448" y="5614416"/>
            <a:ext cx="9594799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5614416"/>
            <a:ext cx="9485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借鉴的是“有限开关生成 Shader 版本 + Shader/Pipeline 分层”，不照搬 Material Cook 和 PSO 枚举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“项目”这一资产边界是两层清单共同的来源；库看不到项目资产。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TGFX无法依赖外部清单，只能在库内定义预编译范围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28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47484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外部清单来源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成立前提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 是否具备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引擎固定能力（Flutter）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引擎有权删减对外绘制能力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不具备：TGFX 不能收窄公开 API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调用方申报（Graphite）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调用方能枚举预计使用的组合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不具备：下游不提供组合清单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项目资产 Cook（Unreal）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构建时能看到项目资产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不具备：库构建时没有项目上下文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库内规则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 自己定义支持的运算和接口取值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唯一可行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968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排除之后剩下的唯一来源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315968"/>
            <a:ext cx="11057839" cy="603504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315968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库内规则：TGFX 预先定义支持哪些 Shader 算法、每个接口开关有哪些取值，构建期枚举生成候选版本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029968" y="5084064"/>
            <a:ext cx="8131759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84832" y="5084064"/>
            <a:ext cx="8022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最小例子：HAS_XP 3 种目标读取 × HAS_DEVICE_MASK 0/1 → 最多 6 个候选 FS 接口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外部清单全部不可得，候选版本只能由库内规则枚举给出。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TGFX将算法代码、资源接口和运行时参数分层处理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3442106" cy="2688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3442106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固定算法代码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8096" y="2011680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构建期确定的源码文本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" y="2523744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运算种类与执行顺序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035808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例：采样 → 矩阵 → 阈值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66160"/>
            <a:ext cx="30397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算法顺序在构建期固定（第 01 页）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4794" y="1426464"/>
            <a:ext cx="3442106" cy="2688336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4794" y="1426464"/>
            <a:ext cx="3442106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5962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5962" y="2011680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0826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sampler 数量与 binding 布局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5962" y="2523744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0826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目标读取方式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5962" y="3035808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0826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例：有无设备遮罩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5962" y="3566160"/>
            <a:ext cx="30397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接口变化才生成新 Shader（第 02 页）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2661" y="1426464"/>
            <a:ext cx="3442106" cy="2688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2661" y="1426464"/>
            <a:ext cx="3442106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3829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运行时参数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383829" y="2011680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8693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矩阵、阈值、AlphaOnly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83829" y="2523744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8693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纹理对象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83829" y="3035808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8693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运行时更新，不换版本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83829" y="3566160"/>
            <a:ext cx="30397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参数变化不生成 Shader（第 02 页）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4261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 GLSL 证明：三层共存于同一份 Shader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6928" y="4590288"/>
            <a:ext cx="6492240" cy="13716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4645152"/>
            <a:ext cx="6199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#if HAS_DEVICE_MASK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uniform sampler2D MaskTextureSampler;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#endif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vec4 color = texture(TextureSampler_0, coord);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color = vec4(color.r);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406640" y="4590288"/>
            <a:ext cx="42181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#if 编译期分支 = 资源接口（静态）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 采样行 = 固定算法代码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AlphaOnly 分支 = 运行时参数（uniform）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资源接口决定静态版本；算法代码决定 Shader 归属；参数值留在运行时。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一个Shader的静态版本由源码和接口取值共同决定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静态维度的真实声明（TextureFillShader 源码原文）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5943600" cy="1792224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92224"/>
            <a:ext cx="565099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static PermutationDomain domain()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PermutationDomain({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PermutationInt("HAS_XP", 3),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PermutationBool("HAS_DEVICE_MASK"),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371246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维度只含接口开关，且每个开关取值有限、可数。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737360"/>
            <a:ext cx="4766767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737360"/>
            <a:ext cx="4766767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975104"/>
            <a:ext cx="4766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× 2 = 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0" y="2596896"/>
            <a:ext cx="4766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个候选 FS 接口（3 种目标读取 × 遮罩 0/1）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0" y="3035808"/>
            <a:ext cx="47667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接口不变 → 只有 1 个版本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15568" y="4041648"/>
            <a:ext cx="9960559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041648"/>
            <a:ext cx="98508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AlphaOnly、ColorMatrix、Threshold 不在静态维度中：它们是运行时 uniform，不参与版本划分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45537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枚举结果：逐项展开，无手工列表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49628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2780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82900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6052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6172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9324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149444" y="4956048"/>
            <a:ext cx="868680" cy="475488"/>
          </a:xfrm>
          <a:prstGeom prst="rect">
            <a:avLst/>
          </a:prstGeom>
          <a:solidFill>
            <a:srgbClr val="123C6D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22596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82716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5868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15988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89140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57820" y="4956048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06460" y="4956048"/>
            <a:ext cx="1600200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61324" y="4956048"/>
            <a:ext cx="149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仅 1 个版本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开发者声明开关与源码，不手写最终构建清单。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Program、单阶段资产和Pipeline具有不同复用范围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28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2103120"/>
                <a:gridCol w="18223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身份的键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创建时机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能否随包分发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Stage 资产（VS/FS 二进制）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名 + 单 Stage 取值 + 后端 profile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构建期产物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Program（GPU 程序对象）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 + 资源接口 + 关键绘制状态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运行时创建并缓存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不能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Pipeline（渲染管线对象）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附件格式 / 采样数 / 混合 / 深度模板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运行时按绘制状态组装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不能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657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与 FS 是分开的资产：同一 FS 可服务多个 VS，复用以 Stage 为粒度。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029968" y="4206240"/>
            <a:ext cx="8131759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3120" y="420624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可分发的是 Stage 资产；Program 与 Pipeline 永远留在运行时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三者的键、时机与生命周期不同，复用范围不能混为一谈。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算法代码或资源接口变化才需要新的静态版本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资源接口变化 → 新静态版本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" y="2048256"/>
            <a:ext cx="4907128" cy="113385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103120"/>
            <a:ext cx="4614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#if HAS_DEVICE_MASK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1)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MaskTextureSampler;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#endif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" y="3346704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编译期分支改变 sampler 绑定布局，两个取值对应两份真实 FS。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纯参数变化 → 同一版本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8184" y="2048256"/>
            <a:ext cx="4907128" cy="85953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4488" y="2103120"/>
            <a:ext cx="461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color = vec4(color.r);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8184" y="3072384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 分支不改资源接口，两个取值共享同一份 FS，运行时只改 uniform。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8184" y="4206240"/>
            <a:ext cx="4907128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048" y="420624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判据：是否改变资源绑定，而不是“代码看起来不同”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版本划分的唯一判据是算法结构与资源绑定，不是行为差异本身。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全功能Shader会扩大资源接口、分支和验证范围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全功能单 Shader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" y="210312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资源接口：所有可能 sampler 的并集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分支：全部路径堆叠在一份源码里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验证：组合数随特性乘法膨胀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结果：任何一个特性变化都牵动整份资产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" y="4572000"/>
            <a:ext cx="4907128" cy="457200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57200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接口、分支、验证同时被放大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按维度拆分的有限版本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8184" y="210312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资源接口：按维度声明，只有用到的 sampler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分支：每个版本只含自己的路径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验证：按版本独立对比与回归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结果：单个维度变化只影响自己的版本族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8184" y="4572000"/>
            <a:ext cx="4907128" cy="457200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3048" y="457200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版本数受控 = 维度独立 × 取值有限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8184" y="513892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全库声明候选 4164 个，规模见后文。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拒绝全功能 Shader，是为了让接口、分支与验证都可逐一掌控。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构建期按开关枚举并编译，写入各后端Bundle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声明开关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4560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58456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1608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逐项枚举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86088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49984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3136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注入宏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77616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41512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4664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 GLSL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9144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33039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6191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分后端编译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60671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24567" y="1700784"/>
            <a:ext cx="1600200" cy="658368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97719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2724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TextureFillShader 为例：同一份 GLSL 源，注入 6 组宏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3072384"/>
            <a:ext cx="6492240" cy="192024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127248"/>
            <a:ext cx="619963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源码唯一：level1/texture_fill.frag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-DHAS_XP=0 -DHAS_DEVICE_MASK=0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-DHAS_XP=0 -DHAS_DEVICE_MASK=1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-DHAS_XP=1 -DHAS_DEVICE_MASK=0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-DHAS_XP=1 -DHAS_DEVICE_MASK=1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-DHAS_XP=2 -DHAS_DEVICE_MASK=0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-DHAS_XP=2 -DHAS_DEVICE_MASK=1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06640" y="3072384"/>
            <a:ext cx="4218127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200400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接口不变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253167" y="3145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个版本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406640" y="4133088"/>
            <a:ext cx="4218127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261104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FS 接口 6 种取值组合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253167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个版本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406640" y="5138928"/>
            <a:ext cx="42181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每个版本按各后端 profile 分别编译一次。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55412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全库当前 30 种算法模板 · 308 个可达版本 · 328 个唯一 Stage 二进制（Metal 2026-08-19 快照）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同一份源码按开关展开为有限版本；分后端编译全部在构建期完成并写入 Bundle。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Build只编译支持规则能够产生的Shader版本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可达性筛选的真实数字（Metal，2026-08-19 本地快照）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42912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声明候选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实际编译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被排除的组合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PerlinNoiseFillShader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规则永远不会产生的搭配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AtlasTextFillShader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NonAARRectFillShader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全库合计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4164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93% 的候选不可达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420624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“可达”由运行时同一份支持规则判定：规则在绘制时产生不了的组合，构建期就不编译。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029968" y="4754880"/>
            <a:ext cx="8131759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84832" y="4754880"/>
            <a:ext cx="8022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编译清单的唯一作者是规则，不是人工维护的列表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构建期与运行时用同一规则说话，清单之外即不可达。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可达性筛选与内容去重将4164个候选压缩为328个Stage二进制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4164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声明候选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每个开关只允许几个固定取值，逐项枚举出的组合总数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80944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60394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0394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60394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规则可达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06698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支持规则真正能够产生的版本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74410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3861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3861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B6C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375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353861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 Stage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00165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VS / FS 分开计数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67877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47327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47327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328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247327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唯一二进制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93631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内容相同的只保留一份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24128" y="4224528"/>
            <a:ext cx="3291840" cy="402336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4164 → 308：可达性筛选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44568" y="4224528"/>
            <a:ext cx="3291840" cy="402336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308 → 375：拆为独立 Stage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65008" y="4224528"/>
            <a:ext cx="3291840" cy="402336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987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375 → 328：内容去重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480974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口径依次为：声明候选（按维度取值逐项枚举）→ 规则可达（支持规则能产生）→ 逻辑 Stage（VS / FS 分开计数）→ 唯一二进制（内容去重）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51572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数据来源：shader_build_report.json · Metal 后端 · 2026-08-19 本地快照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两级压缩都来自规则本身，不来自手工删减清单。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运行时算同一版本号，从Bundle取资产并组装Pipeline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11057839" cy="11338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481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 泳道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规则输入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51328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448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同一映射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9000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35728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888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版本号 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3400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20127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3279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67799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04527" y="1828800"/>
            <a:ext cx="192024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77679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3310128"/>
            <a:ext cx="11057839" cy="1133856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419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RUNTIME 泳道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 Draw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819656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970271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3423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提取同类输入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22999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373613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6765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同一映射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26341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776956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0108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版本号 v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029684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180299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3451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 Bundle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33027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83642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56794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Module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836370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986984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60136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按当前状态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Pipeline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239712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390327" y="3767328"/>
            <a:ext cx="123444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63479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394960" y="2377440"/>
            <a:ext cx="704088" cy="1389888"/>
          </a:xfrm>
          <a:prstGeom prst="line">
            <a:avLst/>
          </a:prstGeom>
          <a:noFill/>
          <a:ln w="17780">
            <a:solidFill>
              <a:srgbClr val="647788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355080" y="2578608"/>
            <a:ext cx="1554480" cy="32918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9944" y="257860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同一版本号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355080" y="2962656"/>
            <a:ext cx="2011680" cy="29260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9944" y="296265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Mask=1, XP=0 → v=3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66928" y="46268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首次使用：按版本号取资产，按当前状态组装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66928" y="4956048"/>
            <a:ext cx="6400800" cy="104241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" y="5010912"/>
            <a:ext cx="61081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vh = VertexKey("TextureFillShader", 0, profile);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fh = FragmentKey("TextureFillShader", 3, profile);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frag = bundle-&gt;findFragment(fh);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pipeline = gpu-&gt;createRenderPipeline(desc);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315200" y="4956048"/>
            <a:ext cx="4309567" cy="1042416"/>
          </a:xfrm>
          <a:prstGeom prst="rect">
            <a:avLst/>
          </a:prstGeom>
          <a:solidFill>
            <a:srgbClr val="FFFFFF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5065776"/>
            <a:ext cx="39438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之外仍在运行时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7498080" y="5413248"/>
            <a:ext cx="3943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后端编译 / 链接 · 创建 Module · 组装 Pipeline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消除源码生成与前端编译，不消除后端编译/链接与 Pipeline 创建。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公开API可以递归产生开放的颜色结构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81328"/>
            <a:ext cx="5760720" cy="173736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536192"/>
            <a:ext cx="54681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image  = Shader::MakeImageShader(picture);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tinted = Shader::MakeBlend(BlendMode::kPlus,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image, Shader::MakeColorShader(color));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paint.setShader(Shader::MakeBlend(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BlendMode::kSrcIn, tinted, mask));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公开 API：Shader.h:58 MakeBlend 可任意嵌套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81328"/>
            <a:ext cx="219456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48132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Blend(SrcIn)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95360" y="2011680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75520" y="2011680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2322576"/>
            <a:ext cx="18288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232257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Blend(Plus)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09760" y="2322576"/>
            <a:ext cx="146304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2322576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Mask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0" y="2852928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0" y="2852928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3163824"/>
            <a:ext cx="128016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3163824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Image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0" y="3163824"/>
            <a:ext cx="164592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163824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ConstColor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0" y="4023360"/>
            <a:ext cx="402336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0064" y="402336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深度与宽度都不受 API 限制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47548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组合无界，但算子种类有限：采样、颜色矩阵、亮度、阈值、色彩空间、常量色、混合。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开放的是组合形状，不是算子集合。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运行时组合先转换为可验证的颜色关系图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嵌套树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8988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55648" y="2276856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87168" y="2276856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2551176"/>
            <a:ext cx="173736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5117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ColorMatrix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70048" y="2551176"/>
            <a:ext cx="173736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55117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ConstColor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18488" y="3044952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6968" y="3319272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3192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2743200"/>
            <a:ext cx="82296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57784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颜色关系图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18288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18288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几何颜色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18288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8288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纹理采样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27432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7432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颜色矩阵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77840" y="27432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27432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常量色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36576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36576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混合（③,④）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15300" y="2359152"/>
            <a:ext cx="0" cy="365760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178040" y="3273552"/>
            <a:ext cx="0" cy="365760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418320" y="1783080"/>
            <a:ext cx="2206447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0" y="1947672"/>
            <a:ext cx="1840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可验证的三条性质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01200" y="2313432"/>
            <a:ext cx="18406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节点种类 ∈ 有限算子集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边只表达数据流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无环 → 可拓扑排序求值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图把“任意组合”改写为“有限算子的任意接线”，从而可以逐项检查。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有界分支颜色关系可以作为运行时数据在单Pass内执行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分支图（两个纹理输入）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 采样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7004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T2 采样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81328" y="227685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01568" y="227685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709928" y="2569464"/>
            <a:ext cx="16916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2569464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混合(①,②)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51176" y="3063240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09928" y="3355848"/>
            <a:ext cx="16916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355848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颜色矩阵(③)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07008" y="4114800"/>
            <a:ext cx="292608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41148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拓扑是数据，不是代码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 FS 读取的运行时记录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55648"/>
          <a:ext cx="6687007" cy="914400"/>
        </p:xfrm>
        <a:graphic>
          <a:graphicData uri="http://schemas.openxmlformats.org/drawingml/2006/table">
            <a:tbl>
              <a:tblPr/>
              <a:tblGrid>
                <a:gridCol w="1337401"/>
                <a:gridCol w="1337401"/>
                <a:gridCol w="1337401"/>
                <a:gridCol w="1337401"/>
                <a:gridCol w="13374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记录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 0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 1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T1 绑定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T2 绑定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Blend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Plus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④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 个 float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937760" y="4297680"/>
            <a:ext cx="66870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换一种接线 = 换一组记录，Shader 不变。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4754880"/>
            <a:ext cx="4858207" cy="438912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07024" y="4754880"/>
            <a:ext cx="47484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一个版本服务同预算内的任意拓扑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接线放在 uniform 里，代码只有一份；单 Pass 内完成全部运算。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单Pass的固定预算是16个记录和最多4个纹理输入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517904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颜色记录上限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28529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每个节点占一条记录；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记录数 ≤ 16 才能单 Pass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33088" y="1517904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308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133088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纹理输入上限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28529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非空资产固定 4 个 sampler 接口；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空链用 0 个的版本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99248" y="1517904"/>
            <a:ext cx="392551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0416" y="1700784"/>
            <a:ext cx="35231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当前路由口径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00416" y="2103120"/>
            <a:ext cx="3523183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103120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接受：0 / 1 / 2 / 4 个真实纹理源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0416" y="2633472"/>
            <a:ext cx="3523183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633472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拒绝：3 个真实纹理源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0416" y="3200400"/>
            <a:ext cx="3523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1-2 个真实源用占位 sampler 补齐到 4 个接口。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42062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预算是资产的静态形状：超过 16 条记录或不在接受口径内的图，不进入单 Pass 路径。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预算硬边界：16 条记录、最多 4 个纹理输入；超出即改走其他路径。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长线性颜色链采用另一条补充执行路径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28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1680"/>
                <a:gridCol w="475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分支路径（任意有向无环图）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线性路径（链式长组合）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图形状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任意有向无环图（含分支）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链：每个节点只有一个输入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预算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≤16 条记录，≤4 个纹理输入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每段 ≤2 个颜色运算，链长不限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执行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 一次完成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按顺序拆成多个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短而宽的组合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长而窄的组合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为什么不矛盾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4187952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链是图的特例，但长度无界：16 条记录装不下任意长的链。线性路径用另一种预算（每段 ≤2 个运算）换取链长不受限，代价是中间结果要落纹理。两条路径覆盖不同形状，都不在运行时生成代码。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记录单 Pass 与 2 运算多 Pass 是互补的两条局部路径，不是同一预算的例外。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线性颜色链按顺序拆分为多个Pass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 / 28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链：Texture → ColorMatrix → Luma → ColorMatrix（4 个节点）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1920240"/>
            <a:ext cx="2651760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2024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 1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纹理采样 + 颜色矩阵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3872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61688" y="2029968"/>
            <a:ext cx="1645920" cy="640080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02996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中间纹理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76288" y="1920240"/>
            <a:ext cx="2651760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92024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 2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亮度 + 颜色矩阵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7376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96728" y="2029968"/>
            <a:ext cx="1234440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9880" y="2029968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24528" y="3108960"/>
            <a:ext cx="3840480" cy="402336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310896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Pass 最多 2 个颜色运算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链节点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所在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段内序号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Texture（源）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源节点，不计运算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 #1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1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Luma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1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 #2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2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766560" y="3840480"/>
            <a:ext cx="48582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链更长 → Pass 更多；顺序与结果不变，只是中间值落纹理。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拆分只改变中间结果的存放位置，不改变链的执行语义。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成本账本 / COST LEDGER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AOT前移Shader成本，Multi-pass额外增加GPU工作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 / 28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3749040"/>
                <a:gridCol w="36511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策略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成本发生点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首次绘制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额外 GPU 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运行时编译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首次绘制时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生成源码 + 编译 + 链接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AOT 单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加载资产 + 组装 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AOT 多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加载资产 + 组装 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中间纹理 + 多次绘制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中间纹理的实际字节（以 128×128 为例）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913632"/>
            <a:ext cx="6035040" cy="9144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968496"/>
            <a:ext cx="5742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128 × 128 × 4 B = 65,536 B ≈ 64 KB / 段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每段一次写入 + 一次读取；N 段 → N-1 张中间纹理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949440" y="3840480"/>
            <a:ext cx="46753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Pass 用 GPU 显存与带宽，换取消运行时编译；链越短越省，链越长越贵，但成本可预期。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把成本前移到构建期；多 Pass 是其中唯一新增 GPU 工作的路径。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包体收益 / BUNDLE SIZE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的包体收益：分发 3.5 MB Bundle，工具链与静态库留在构建机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371600"/>
            <a:ext cx="109481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把编译工具链从运行时转移到构建机：分发的是 3.5 MB Bundle，而非 19 MB 工具链库或数百 MB 的静态库。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3503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体积（分发资产）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304288"/>
            <a:ext cx="3503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resources/shaders/ · 格式 v4 · zstd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15184"/>
          <a:ext cx="350306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05840"/>
                <a:gridCol w="162854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体积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条目数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1.14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101+274=375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1.77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101+274=375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153 KB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101+274=375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545 KB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99+184=283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3.5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四后端分发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66928" y="4498848"/>
            <a:ext cx="3503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WebGPU 为 WGSL 文本：未压缩约 8.4 MB，zstd 压缩比约 15:1。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5029200"/>
            <a:ext cx="3503066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5029200"/>
            <a:ext cx="3503066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193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3.5 MB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2441448" y="5138928"/>
            <a:ext cx="14639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四后端合计，随应用分发的全部 Shader 资产。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344314" y="2011680"/>
            <a:ext cx="3503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必须携带的编译工具链库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344314" y="2304288"/>
            <a:ext cx="3503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运行时编译模式下必须分发 · 每后端一份</a:t>
            </a:r>
            <a:endParaRPr lang="en-US" sz="105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4314" y="2615184"/>
          <a:ext cx="350306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6343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libshader-tool-vendor.a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 MB + tint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76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4344314" y="4498848"/>
            <a:ext cx="3503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库内携带 shaderc/glslang、SPIRV-Cross 等编译器；WebGPU 还需额外 tint 工具链（WGSL → 后端 IR）。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344314" y="5029200"/>
            <a:ext cx="3503066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344314" y="5029200"/>
            <a:ext cx="3503066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08906" y="5193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76 MB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6218834" y="5138928"/>
            <a:ext cx="14639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四后端工具链库合计，必须随应用分发。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121701" y="2011680"/>
            <a:ext cx="3503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Release 静态库 tgfx.a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121701" y="2304288"/>
            <a:ext cx="3503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构建机产物 · 运行时编译需整体链接分发</a:t>
            </a:r>
            <a:endParaRPr lang="en-US" sz="1050" dirty="0"/>
          </a:p>
        </p:txBody>
      </p:sp>
      <p:graphicFrame>
        <p:nvGraphicFramePr>
          <p:cNvPr id="8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1701" y="2615184"/>
          <a:ext cx="350306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6343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静态库体积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418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423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398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3.5 MB *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7"/>
          <p:cNvSpPr/>
          <p:nvPr/>
        </p:nvSpPr>
        <p:spPr>
          <a:xfrm>
            <a:off x="8121701" y="4041648"/>
            <a:ext cx="35030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 libtgfx_zstd.a 仅为嵌入 Bundle 的 zstd 压缩辅助库；完整 libtgfx 未在当前构建中生成。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121701" y="5029200"/>
            <a:ext cx="3503066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B2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121701" y="5029200"/>
            <a:ext cx="3503066" cy="7315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286293" y="5193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D97B2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数百 MB</a:t>
            </a:r>
            <a:endParaRPr lang="en-US" sz="2400" dirty="0"/>
          </a:p>
        </p:txBody>
      </p:sp>
      <p:sp>
        <p:nvSpPr>
          <p:cNvPr id="36" name="Text 31"/>
          <p:cNvSpPr/>
          <p:nvPr/>
        </p:nvSpPr>
        <p:spPr>
          <a:xfrm>
            <a:off x="9996221" y="5138928"/>
            <a:ext cx="14639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完整静态库是构建中间产物，只保留在构建机。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是最终分发的资产；工具链库与静态库留在构建机，这是 AOT 的包体收益。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证据门禁 / EVIDENCE GATES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测试已定义正确性门禁，但当前版本仍需独立执行记录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 / 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395020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95020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78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规则迁移完成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4370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30/30 编译清单由规则生成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317296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317296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生成端验证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10712" y="35935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WebGPU 532/546，真实 miss = 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1888" y="239572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39572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AOT-vs-JIT 门禁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08192" y="2816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同输入双路径逐像素对比已建成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59368" y="161848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D97B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9368" y="1618488"/>
            <a:ext cx="2468880" cy="7315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05672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当前版本独立执行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05672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每个后端单独运行并留存记录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047488"/>
            <a:ext cx="329184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47488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测试源码定义了正确性标准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41648" y="5047488"/>
            <a:ext cx="310896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504748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≠ 当前工作树已执行通过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33488" y="5020056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发布口径：以各后端当次独立执行的记录为准，不以门禁存在代替执行证据。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门禁回答“什么算对”；执行记录回答“这次对不对”，两者不可互相替代。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Tencent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TGFX-AOT-复合绘制架构</dc:title>
  <dc:subject>TGFX AOT composite-draw architecture</dc:subject>
  <dc:creator>TGFX Graphics Team</dc:creator>
  <cp:lastModifiedBy>TGFX Graphics Team</cp:lastModifiedBy>
  <cp:revision>1</cp:revision>
  <dcterms:created xsi:type="dcterms:W3CDTF">2026-08-26T02:38:13Z</dcterms:created>
  <dcterms:modified xsi:type="dcterms:W3CDTF">2026-08-26T02:38:13Z</dcterms:modified>
</cp:coreProperties>
</file>