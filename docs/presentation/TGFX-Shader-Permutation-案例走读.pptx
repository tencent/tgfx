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CASE WALKTHROUGH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Permutation 预编译系统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 TextureEffect 处理 alpha-only 纹理的一次 draw 为线索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对比改造前后的完整执行链路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4114800"/>
            <a:ext cx="10728655" cy="146304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" y="4206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贯穿案例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50976" y="4443984"/>
            <a:ext cx="1028974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Canvas 绘制 alpha-only 纹理（文字 atlas，最高频路径）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isAlphaOnly()==true, alphaStart==Point::Zero()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非 YUV、无 Subset；4 维度展示，8 维度生产版同构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全局视图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执行路径总览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10728655" cy="1645920"/>
          </a:xfrm>
          <a:prstGeom prst="rect">
            <a:avLst/>
          </a:prstGeom>
          <a:solidFill>
            <a:srgbClr val="FCEBEB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6093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F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改造前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22672" y="1883664"/>
            <a:ext cx="201168" cy="201168"/>
          </a:xfrm>
          <a:prstGeom prst="ellipse">
            <a:avLst/>
          </a:prstGeom>
          <a:solidFill>
            <a:srgbClr val="E94F4F"/>
          </a:solidFill>
          <a:ln/>
        </p:spPr>
      </p:sp>
      <p:sp>
        <p:nvSpPr>
          <p:cNvPr id="9" name="Text 7"/>
          <p:cNvSpPr/>
          <p:nvPr/>
        </p:nvSpPr>
        <p:spPr>
          <a:xfrm>
            <a:off x="1522672" y="1883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723840" y="1984248"/>
            <a:ext cx="1289696" cy="0"/>
          </a:xfrm>
          <a:prstGeom prst="line">
            <a:avLst/>
          </a:prstGeom>
          <a:noFill/>
          <a:ln w="9525">
            <a:solidFill>
              <a:srgbClr val="E94F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139696"/>
            <a:ext cx="149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Canvas draw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013536" y="1883664"/>
            <a:ext cx="201168" cy="201168"/>
          </a:xfrm>
          <a:prstGeom prst="ellipse">
            <a:avLst/>
          </a:prstGeom>
          <a:solidFill>
            <a:srgbClr val="E94F4F"/>
          </a:solidFill>
          <a:ln/>
        </p:spPr>
      </p:sp>
      <p:sp>
        <p:nvSpPr>
          <p:cNvPr id="13" name="Text 11"/>
          <p:cNvSpPr/>
          <p:nvPr/>
        </p:nvSpPr>
        <p:spPr>
          <a:xfrm>
            <a:off x="3013536" y="1883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214704" y="1984248"/>
            <a:ext cx="1289696" cy="0"/>
          </a:xfrm>
          <a:prstGeom prst="line">
            <a:avLst/>
          </a:prstGeom>
          <a:noFill/>
          <a:ln w="9525">
            <a:solidFill>
              <a:srgbClr val="E94F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68688" y="2139696"/>
            <a:ext cx="149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TextureEffect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Make()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04400" y="1883664"/>
            <a:ext cx="201168" cy="201168"/>
          </a:xfrm>
          <a:prstGeom prst="ellipse">
            <a:avLst/>
          </a:prstGeom>
          <a:solidFill>
            <a:srgbClr val="E94F4F"/>
          </a:solidFill>
          <a:ln/>
        </p:spPr>
      </p:sp>
      <p:sp>
        <p:nvSpPr>
          <p:cNvPr id="17" name="Text 15"/>
          <p:cNvSpPr/>
          <p:nvPr/>
        </p:nvSpPr>
        <p:spPr>
          <a:xfrm>
            <a:off x="4504400" y="1883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705568" y="1984248"/>
            <a:ext cx="1289696" cy="0"/>
          </a:xfrm>
          <a:prstGeom prst="line">
            <a:avLst/>
          </a:prstGeom>
          <a:noFill/>
          <a:ln w="9525">
            <a:solidFill>
              <a:srgbClr val="E94F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59552" y="2139696"/>
            <a:ext cx="149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compute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ProcKey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95264" y="1883664"/>
            <a:ext cx="201168" cy="201168"/>
          </a:xfrm>
          <a:prstGeom prst="ellipse">
            <a:avLst/>
          </a:prstGeom>
          <a:solidFill>
            <a:srgbClr val="E94F4F"/>
          </a:solidFill>
          <a:ln/>
        </p:spPr>
      </p:sp>
      <p:sp>
        <p:nvSpPr>
          <p:cNvPr id="21" name="Text 19"/>
          <p:cNvSpPr/>
          <p:nvPr/>
        </p:nvSpPr>
        <p:spPr>
          <a:xfrm>
            <a:off x="5995264" y="1883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196432" y="1984248"/>
            <a:ext cx="1289696" cy="0"/>
          </a:xfrm>
          <a:prstGeom prst="line">
            <a:avLst/>
          </a:prstGeom>
          <a:noFill/>
          <a:ln w="9525">
            <a:solidFill>
              <a:srgbClr val="E94F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50416" y="2139696"/>
            <a:ext cx="149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Program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486127" y="1883664"/>
            <a:ext cx="201168" cy="201168"/>
          </a:xfrm>
          <a:prstGeom prst="ellipse">
            <a:avLst/>
          </a:prstGeom>
          <a:solidFill>
            <a:srgbClr val="E94F4F"/>
          </a:solidFill>
          <a:ln/>
        </p:spPr>
      </p:sp>
      <p:sp>
        <p:nvSpPr>
          <p:cNvPr id="25" name="Text 23"/>
          <p:cNvSpPr/>
          <p:nvPr/>
        </p:nvSpPr>
        <p:spPr>
          <a:xfrm>
            <a:off x="7486127" y="1883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687295" y="1984248"/>
            <a:ext cx="1289696" cy="0"/>
          </a:xfrm>
          <a:prstGeom prst="line">
            <a:avLst/>
          </a:prstGeom>
          <a:noFill/>
          <a:ln w="9525">
            <a:solidFill>
              <a:srgbClr val="E94F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41280" y="2139696"/>
            <a:ext cx="149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emit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976991" y="1883664"/>
            <a:ext cx="201168" cy="201168"/>
          </a:xfrm>
          <a:prstGeom prst="ellipse">
            <a:avLst/>
          </a:prstGeom>
          <a:solidFill>
            <a:srgbClr val="E94F4F"/>
          </a:solidFill>
          <a:ln/>
        </p:spPr>
      </p:sp>
      <p:sp>
        <p:nvSpPr>
          <p:cNvPr id="29" name="Text 27"/>
          <p:cNvSpPr/>
          <p:nvPr/>
        </p:nvSpPr>
        <p:spPr>
          <a:xfrm>
            <a:off x="8976991" y="1883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9178159" y="1984248"/>
            <a:ext cx="1289696" cy="0"/>
          </a:xfrm>
          <a:prstGeom prst="line">
            <a:avLst/>
          </a:prstGeom>
          <a:noFill/>
          <a:ln w="9525">
            <a:solidFill>
              <a:srgbClr val="E94F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2143" y="2139696"/>
            <a:ext cx="149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spirv-cross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0467855" y="1883664"/>
            <a:ext cx="201168" cy="201168"/>
          </a:xfrm>
          <a:prstGeom prst="ellipse">
            <a:avLst/>
          </a:prstGeom>
          <a:solidFill>
            <a:srgbClr val="E94F4F"/>
          </a:solidFill>
          <a:ln/>
        </p:spPr>
      </p:sp>
      <p:sp>
        <p:nvSpPr>
          <p:cNvPr id="33" name="Text 31"/>
          <p:cNvSpPr/>
          <p:nvPr/>
        </p:nvSpPr>
        <p:spPr>
          <a:xfrm>
            <a:off x="10467855" y="1883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9823007" y="2139696"/>
            <a:ext cx="149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创建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Program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31520" y="3383280"/>
            <a:ext cx="10728655" cy="1645920"/>
          </a:xfrm>
          <a:prstGeom prst="rect">
            <a:avLst/>
          </a:prstGeom>
          <a:solidFill>
            <a:srgbClr val="E6F7F5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7824" y="34381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改造后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522672" y="3712464"/>
            <a:ext cx="201168" cy="20116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38" name="Text 36"/>
          <p:cNvSpPr/>
          <p:nvPr/>
        </p:nvSpPr>
        <p:spPr>
          <a:xfrm>
            <a:off x="1522672" y="37124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723840" y="3813048"/>
            <a:ext cx="1289696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7824" y="3968496"/>
            <a:ext cx="149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Canvas draw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013536" y="3712464"/>
            <a:ext cx="201168" cy="20116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42" name="Text 40"/>
          <p:cNvSpPr/>
          <p:nvPr/>
        </p:nvSpPr>
        <p:spPr>
          <a:xfrm>
            <a:off x="3013536" y="37124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214704" y="3813048"/>
            <a:ext cx="1289696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68688" y="3968496"/>
            <a:ext cx="149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Effect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Decomposer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04400" y="3712464"/>
            <a:ext cx="201168" cy="20116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46" name="Text 44"/>
          <p:cNvSpPr/>
          <p:nvPr/>
        </p:nvSpPr>
        <p:spPr>
          <a:xfrm>
            <a:off x="4504400" y="37124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705568" y="3813048"/>
            <a:ext cx="1289696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59552" y="3968496"/>
            <a:ext cx="149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Permutation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Values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995264" y="3712464"/>
            <a:ext cx="201168" cy="20116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0" name="Text 48"/>
          <p:cNvSpPr/>
          <p:nvPr/>
        </p:nvSpPr>
        <p:spPr>
          <a:xfrm>
            <a:off x="5995264" y="37124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196432" y="3813048"/>
            <a:ext cx="1289696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50416" y="3968496"/>
            <a:ext cx="149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Program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486127" y="3712464"/>
            <a:ext cx="201168" cy="20116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4" name="Text 52"/>
          <p:cNvSpPr/>
          <p:nvPr/>
        </p:nvSpPr>
        <p:spPr>
          <a:xfrm>
            <a:off x="7486127" y="37124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7687295" y="3813048"/>
            <a:ext cx="1289696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41280" y="3968496"/>
            <a:ext cx="149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precompiled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Cache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976991" y="3712464"/>
            <a:ext cx="201168" cy="20116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8" name="Text 56"/>
          <p:cNvSpPr/>
          <p:nvPr/>
        </p:nvSpPr>
        <p:spPr>
          <a:xfrm>
            <a:off x="8976991" y="37124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9178159" y="3813048"/>
            <a:ext cx="1289696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32143" y="3968496"/>
            <a:ext cx="149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Blob →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Program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10467855" y="3712464"/>
            <a:ext cx="201168" cy="20116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62" name="Text 60"/>
          <p:cNvSpPr/>
          <p:nvPr/>
        </p:nvSpPr>
        <p:spPr>
          <a:xfrm>
            <a:off x="10467855" y="37124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823007" y="3968496"/>
            <a:ext cx="149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创建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Program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31520" y="5166360"/>
            <a:ext cx="10728655" cy="36576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65" name="Shape 63"/>
          <p:cNvSpPr/>
          <p:nvPr/>
        </p:nvSpPr>
        <p:spPr>
          <a:xfrm>
            <a:off x="731520" y="5166360"/>
            <a:ext cx="45720" cy="36576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66" name="Text 64"/>
          <p:cNvSpPr/>
          <p:nvPr/>
        </p:nvSpPr>
        <p:spPr>
          <a:xfrm>
            <a:off x="987552" y="5166360"/>
            <a:ext cx="103446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构建期：维度声明 → 枚举 → 宏展开 → SPIR-V 编译 → 翻译 → Bundle 打包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1520" y="63642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· 案例走读  ▸ 路线图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094415" y="63642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改造前 · 现有路径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088575" y="347472"/>
            <a:ext cx="1371600" cy="237744"/>
          </a:xfrm>
          <a:prstGeom prst="rect">
            <a:avLst/>
          </a:prstGeom>
          <a:solidFill>
            <a:srgbClr val="FBF3E0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88575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现有代码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入口：Canvas → TextureEffect::Make()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54480"/>
            <a:ext cx="10728655" cy="1463040"/>
          </a:xfrm>
          <a:prstGeom prst="rect">
            <a:avLst/>
          </a:prstGeom>
          <a:solidFill>
            <a:srgbClr val="F4F5FA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554480"/>
            <a:ext cx="10728655" cy="292608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1554480"/>
            <a:ext cx="104726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TextureEffect.cpp:24-37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96112" y="1901952"/>
            <a:ext cx="10399471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auto TextureEffect::Make(...)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auto isAlphaOnly = proxy-&gt;isAlphaOnly();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// ← 本例为 true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return MakeRGBAAA(alloc, proxy, args, mat);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4572000" cy="685800"/>
          </a:xfrm>
          <a:prstGeom prst="rect">
            <a:avLst/>
          </a:prstGeom>
          <a:solidFill>
            <a:srgbClr val="F0F1F8"/>
          </a:solidFill>
          <a:ln w="6350">
            <a:solidFill>
              <a:srgbClr val="E3E6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32004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proxy-&gt;isAlphaOnly() =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alphaStart = Point::Zero()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yuvTexture = nullptr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977640"/>
            <a:ext cx="10728655" cy="1280160"/>
          </a:xfrm>
          <a:prstGeom prst="rect">
            <a:avLst/>
          </a:prstGeom>
          <a:noFill/>
          <a:ln/>
        </p:spPr>
        <p:txBody>
          <a:bodyPr wrap="square" lIns="0" tIns="2032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MakeRGBAAA() 构造 GLSLTextureEffect，作为本次 draw 的 colorFP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FP 持有 textureProxy(isAlphaOnly==true) 和 alphaStart(Zero)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FP 收集进 DrawOp 的 ProgramInfo，后续进入 getProgram()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5349240"/>
            <a:ext cx="10728655" cy="32004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5349240"/>
            <a:ext cx="45720" cy="32004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" y="5349240"/>
            <a:ext cx="1034460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执行位置：Canvas::drawImage() → OpsCompositor → DrawOp 入队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63642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· 案例走读  ▸ 入口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3642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改造前 · 现有路径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088575" y="347472"/>
            <a:ext cx="1371600" cy="237744"/>
          </a:xfrm>
          <a:prstGeom prst="rect">
            <a:avLst/>
          </a:prstGeom>
          <a:solidFill>
            <a:srgbClr val="FBF3E0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88575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现有代码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onComputeProcessorKey()：7-bit flags 编码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54480"/>
            <a:ext cx="6217920" cy="2560320"/>
          </a:xfrm>
          <a:prstGeom prst="rect">
            <a:avLst/>
          </a:prstGeom>
          <a:solidFill>
            <a:srgbClr val="F4F5FA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554480"/>
            <a:ext cx="6217920" cy="292608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1554480"/>
            <a:ext cx="5961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TextureEffect.cpp:48-65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96112" y="1901952"/>
            <a:ext cx="588873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uint32_t flags =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alphaStart == Point::Zero()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? 1 : 0;           // bit0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flags |= isAlphaOnly()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? 2 : 0;             // bit1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if (yuvTexture)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flags |= fmt!=I420 ? 4:0; // bit2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flags |= !Limited ? 8:0;  // bit3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flags |= needSubset ? 16:0; // bit4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flags |= strict ? 32:0;     // bit5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flags |= persp ? 64:0;      // bit6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223760" y="1554480"/>
            <a:ext cx="4967935" cy="2560320"/>
          </a:xfrm>
          <a:prstGeom prst="rect">
            <a:avLst/>
          </a:prstGeom>
          <a:solidFill>
            <a:srgbClr val="F0F1F8"/>
          </a:solidFill>
          <a:ln w="6350">
            <a:solidFill>
              <a:srgbClr val="E3E6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33488" y="1609344"/>
            <a:ext cx="47484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本例推导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33488" y="1865376"/>
            <a:ext cx="47484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bit0: Zero →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33488" y="2121408"/>
            <a:ext cx="47484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bit1: alphaOnly → 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33488" y="2377440"/>
            <a:ext cx="47484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bit2: no YUV → 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33488" y="2633472"/>
            <a:ext cx="47484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bit3: no YUV → 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33488" y="2889504"/>
            <a:ext cx="47484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bit4: !subset → 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33488" y="3145536"/>
            <a:ext cx="47484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bit5: !strict → 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33488" y="3401568"/>
            <a:ext cx="47484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bit6: !persp → 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33488" y="3703320"/>
            <a:ext cx="4748479" cy="27432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3703320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flags = 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4251960"/>
            <a:ext cx="10728655" cy="36576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4251960"/>
            <a:ext cx="45720" cy="36576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" y="4251960"/>
            <a:ext cx="103446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flags ∈ [0,128)：7 bit 是 emitCode() 全部分支的完整输入集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75488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2032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bit0 反逻辑：1="无 RGBAAA"；改造后用正逻辑 HAS_RGBAAA=0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flags 是 emitCode() 输出的唯一决定因素 → 封闭集合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63642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· 案例走读  ▸ flags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94415" y="63642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改造前 · 现有路径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088575" y="347472"/>
            <a:ext cx="1371600" cy="237744"/>
          </a:xfrm>
          <a:prstGeom prst="rect">
            <a:avLst/>
          </a:prstGeom>
          <a:solidFill>
            <a:srgbClr val="FBF3E0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88575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现有代码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ProgramInfo::getProgram()：缓存判定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54480"/>
            <a:ext cx="10728655" cy="1554480"/>
          </a:xfrm>
          <a:prstGeom prst="rect">
            <a:avLst/>
          </a:prstGeom>
          <a:solidFill>
            <a:srgbClr val="F4F5FA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554480"/>
            <a:ext cx="10728655" cy="292608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1554480"/>
            <a:ext cx="104726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ProgramInfo.cpp:132-171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96112" y="1901952"/>
            <a:ext cx="10399471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programKey = GP + FP(flags=3) + XP + blend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auto program = globalCache()-&gt;findProgram(key);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if (!program) {  // ← 本例 miss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program = ProgramBuilder::CreateProgram(ctx, this);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globalCache()-&gt;addProgram(key, program);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10728655" cy="1188720"/>
          </a:xfrm>
          <a:prstGeom prst="rect">
            <a:avLst/>
          </a:prstGeom>
          <a:noFill/>
          <a:ln/>
        </p:spPr>
        <p:txBody>
          <a:bodyPr wrap="square" lIns="0" tIns="2032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GlobalCache 基于 programKey 的 LRU 缓存；首次该 flags 组合必 miss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miss → ProgramBuilder::CreateProgram()（下页编译关键路径）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创建后写回 GlobalCache，后续同 flags 不再重编译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572000"/>
            <a:ext cx="10728655" cy="32004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4572000"/>
            <a:ext cx="45720" cy="32004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" y="4572000"/>
            <a:ext cx="1034460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执行位置：DrawOp::execute() → getProgram() → miss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63642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· 案例走读  ▸ getProgram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3642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改造前 · 现有路径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088575" y="347472"/>
            <a:ext cx="1371600" cy="237744"/>
          </a:xfrm>
          <a:prstGeom prst="rect">
            <a:avLst/>
          </a:prstGeom>
          <a:solidFill>
            <a:srgbClr val="FBF3E0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88575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现有代码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CreateProgram()：GLSL 拼接 + 多后端编译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54480"/>
            <a:ext cx="5181448" cy="2011680"/>
          </a:xfrm>
          <a:prstGeom prst="rect">
            <a:avLst/>
          </a:prstGeom>
          <a:solidFill>
            <a:srgbClr val="F4F5FA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554480"/>
            <a:ext cx="5181448" cy="292608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1554480"/>
            <a:ext cx="492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GLSLTextureEffect::emitCode()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96112" y="1901952"/>
            <a:ext cx="48522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emitDefaultTextureCode(args);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if (proxy-&gt;isAlphaOnly())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// ← 本例走此分支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fragBuilder-&gt;codeAppendf(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"%s = %s.a * %s;",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out, out, in);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} else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fragBuilder-&gt;codeAppendf(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"%s = %s * %s.a;",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out, out, in);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}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28" y="1554480"/>
          <a:ext cx="5181448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44992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后端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链路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OpenGL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GLSL → glCompileShader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Vulkan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shaderc → SPIR-V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Metal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spirv-cross → MSL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WebGPU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tint → WGSL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731520" y="3749040"/>
            <a:ext cx="10728655" cy="457200"/>
          </a:xfrm>
          <a:prstGeom prst="rect">
            <a:avLst/>
          </a:prstGeom>
          <a:solidFill>
            <a:srgbClr val="FCEBEB"/>
          </a:solidFill>
          <a:ln/>
        </p:spPr>
      </p:sp>
      <p:sp>
        <p:nvSpPr>
          <p:cNvPr id="14" name="Shape 11"/>
          <p:cNvSpPr/>
          <p:nvPr/>
        </p:nvSpPr>
        <p:spPr>
          <a:xfrm>
            <a:off x="731520" y="3749040"/>
            <a:ext cx="45720" cy="457200"/>
          </a:xfrm>
          <a:prstGeom prst="rect">
            <a:avLst/>
          </a:prstGeom>
          <a:solidFill>
            <a:srgbClr val="E94F4F"/>
          </a:solidFill>
          <a:ln/>
        </p:spPr>
      </p:sp>
      <p:sp>
        <p:nvSpPr>
          <p:cNvPr id="15" name="Text 12"/>
          <p:cNvSpPr/>
          <p:nvPr/>
        </p:nvSpPr>
        <p:spPr>
          <a:xfrm>
            <a:off x="987552" y="3749040"/>
            <a:ext cx="10344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F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首帧 shaderc 15-70 ms；体积：shaderc 9MB + spirv-cross 3MB + tint 2MB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94F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全部在渲染提交关键路径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1520" y="4343400"/>
            <a:ext cx="10728655" cy="1097280"/>
          </a:xfrm>
          <a:prstGeom prst="rect">
            <a:avLst/>
          </a:prstGeom>
          <a:noFill/>
          <a:ln/>
        </p:spPr>
        <p:txBody>
          <a:bodyPr wrap="square" lIns="0" tIns="2032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emitCode() 输出完全由 flags 决定——确定性输入→确定性输出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shaderc/spirv-cross/tint 对确定性输入做确定性变换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结论：可移至构建期离线完成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63642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· 案例走读  ▸ 编译链路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94415" y="63642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核心洞察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flags 为封闭集合 → 构建期穷举可行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10728655" cy="82296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7" name="Text 5"/>
          <p:cNvSpPr/>
          <p:nvPr/>
        </p:nvSpPr>
        <p:spPr>
          <a:xfrm>
            <a:off x="950976" y="1645920"/>
            <a:ext cx="102897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emitCode() 输出完全由 flags ∈ [0,128) 决定。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50976" y="1993392"/>
            <a:ext cx="10289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映射为 Permutation 维度，构建期穷举有效组合并预编译；运行时查表。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514600"/>
          <a:ext cx="1072865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  <a:gridCol w="292608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flags bit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含义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改造后维度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本例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bit0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alphaStart==Zero（反逻辑）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HAS_RGBAAA（正逻辑）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bit1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isAlphaOnly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ALPHA_ONLY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bit2-3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YUV format/range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HAS_YUV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bit4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needSubset()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HAS_SUBSET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bit5-6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constraint/persp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（8维扩展）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31520" y="4160520"/>
            <a:ext cx="10728655" cy="36576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4160520"/>
            <a:ext cx="45720" cy="36576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2" name="Text 9"/>
          <p:cNvSpPr/>
          <p:nvPr/>
        </p:nvSpPr>
        <p:spPr>
          <a:xfrm>
            <a:off x="987552" y="4160520"/>
            <a:ext cx="103446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维度 → 2⁴=16 裸组合 → 裁剪后 10 有效变体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" y="4663440"/>
            <a:ext cx="5029200" cy="502920"/>
          </a:xfrm>
          <a:prstGeom prst="rect">
            <a:avLst/>
          </a:prstGeom>
          <a:solidFill>
            <a:srgbClr val="F0F1F8"/>
          </a:solidFill>
          <a:ln w="6350">
            <a:solidFill>
              <a:srgbClr val="E3E6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9536" y="4700016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flags=3 → ALPHA_ONLY=1, 其余=0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permutationIndex = 2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63642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· 案例走读  ▸ 核心洞察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94415" y="63642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5B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改造后 · 运行时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088575" y="347472"/>
            <a:ext cx="1371600" cy="237744"/>
          </a:xfrm>
          <a:prstGeom prst="rect">
            <a:avLst/>
          </a:prstGeom>
          <a:solidFill>
            <a:srgbClr val="F0ECF7"/>
          </a:solidFill>
          <a:ln w="9525">
            <a:solidFill>
              <a:srgbClr val="6B5B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88575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5B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方案设计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DrawOp::execute() 新路径：查表取预编译产物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54480"/>
            <a:ext cx="10728655" cy="2651760"/>
          </a:xfrm>
          <a:prstGeom prst="rect">
            <a:avLst/>
          </a:prstGeom>
          <a:solidFill>
            <a:srgbClr val="F4F5FA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554480"/>
            <a:ext cx="10728655" cy="292608"/>
          </a:xfrm>
          <a:prstGeom prst="rect">
            <a:avLst/>
          </a:prstGeom>
          <a:solidFill>
            <a:srgbClr val="3A3360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1554480"/>
            <a:ext cx="104726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DrawOp::execute()（改造后）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96112" y="1901952"/>
            <a:ext cx="10399471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1. Processor → PipelineKey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auto r = EffectDecomposer::Decompose(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gp, fps, xp, blendMode);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const auto&amp; key = r.passes[0];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2. 查 GlobalCache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auto prog = globalCache()-&gt;findProgram(key);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if (!prog)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// 3. 查预编译 Bundle（二分查找）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auto blob = precompiledCache()-&gt;find(key);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prog = blob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? CreateProgramFromBlob(ctx, blob)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: ProgramBuilder::CreateProgram(ctx, this);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globalCache()-&gt;addProgram(key, prog);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}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" y="4343400"/>
            <a:ext cx="5486400" cy="502920"/>
          </a:xfrm>
          <a:prstGeom prst="rect">
            <a:avLst/>
          </a:prstGeom>
          <a:solidFill>
            <a:srgbClr val="F0F1F8"/>
          </a:solidFill>
          <a:ln w="6350">
            <a:solidFill>
              <a:srgbClr val="E3E6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437083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PermutationValues = {ALPHA_ONLY=1}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encode() = 2 → 命中 index=2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493776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2032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嫁接点在 DrawOp::execute()，位于 getProgram() 之前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不再调用 emitCode / shaderc / spirv-cross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运行时不携带编译器库——体积消除 ~14 MB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63642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· 案例走读  ▸ 运行时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3642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5B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改造后 · 构建期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088575" y="347472"/>
            <a:ext cx="1371600" cy="237744"/>
          </a:xfrm>
          <a:prstGeom prst="rect">
            <a:avLst/>
          </a:prstGeom>
          <a:solidFill>
            <a:srgbClr val="F0ECF7"/>
          </a:solidFill>
          <a:ln w="9525">
            <a:solidFill>
              <a:srgbClr val="6B5B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88575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5B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方案设计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开发者接口：维度声明与裁剪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54480"/>
            <a:ext cx="5181448" cy="3200400"/>
          </a:xfrm>
          <a:prstGeom prst="rect">
            <a:avLst/>
          </a:prstGeom>
          <a:solidFill>
            <a:srgbClr val="F4F5FA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554480"/>
            <a:ext cx="5181448" cy="292608"/>
          </a:xfrm>
          <a:prstGeom prst="rect">
            <a:avLst/>
          </a:prstGeom>
          <a:solidFill>
            <a:srgbClr val="3A3360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1554480"/>
            <a:ext cx="492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TextureFillShader.h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96112" y="1901952"/>
            <a:ext cx="485226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class TextureFillShader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: public PrecompiledShader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TGFX_DEFINE_DIMS(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HAS_YUV, ALPHA_ONLY,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HAS_RGBAAA, HAS_SUBSET);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using D = Dims;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static_assert(D::COUNT == 4);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ShaderInfo info() override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return {"TextureFillShader",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"texture_fill.vert",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"texture_fill.frag",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D::domain(), ShouldCompile};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static bool ShouldCompile(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const Values&amp; v)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return !(v[D::HAS_YUV]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&amp;&amp; (v[D::ALPHA_ONLY]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  || v[D::HAS_RGBAAA]));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};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278728" y="1554480"/>
            <a:ext cx="5181448" cy="3200400"/>
          </a:xfrm>
          <a:prstGeom prst="rect">
            <a:avLst/>
          </a:prstGeom>
          <a:solidFill>
            <a:srgbClr val="F4F5FA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8728" y="1554480"/>
            <a:ext cx="5181448" cy="292608"/>
          </a:xfrm>
          <a:prstGeom prst="rect">
            <a:avLst/>
          </a:prstGeom>
          <a:solidFill>
            <a:srgbClr val="3A336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6744" y="1554480"/>
            <a:ext cx="492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texture_fill.frag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43320" y="1901952"/>
            <a:ext cx="485226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#if HAS_YUV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// YUV 采样（从略）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#else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vec4 c = texture(samp, uv);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#if ALPHA_ONLY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c = vec4(0, 0, 0, c.a);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#elif HAS_RGBAAA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c.a = texture(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alphaSamp, alphaUV).r;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#endif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#endif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#if HAS_SUBSET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// subset clamp（从略）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#endif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fragColor = c;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31520" y="4892040"/>
            <a:ext cx="10728655" cy="36576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4892040"/>
            <a:ext cx="45720" cy="36576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8" name="Text 16"/>
          <p:cNvSpPr/>
          <p:nvPr/>
        </p:nvSpPr>
        <p:spPr>
          <a:xfrm>
            <a:off x="987552" y="4892040"/>
            <a:ext cx="103446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ShouldCompile：HAS_YUV=1 时 ALPHA_ONLY/HAS_RGBAAA 不可为 1 → 排除 6 → 保留 10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5349240"/>
            <a:ext cx="10728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生产版额外含 YUV_FORMAT / YUV_RANGE / STRICT / PERSPECTIVE（共 8 维）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63642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· 案例走读  ▸ 维度声明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4415" y="63642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5B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改造后 · 构建期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088575" y="347472"/>
            <a:ext cx="1371600" cy="237744"/>
          </a:xfrm>
          <a:prstGeom prst="rect">
            <a:avLst/>
          </a:prstGeom>
          <a:solidFill>
            <a:srgbClr val="F0ECF7"/>
          </a:solidFill>
          <a:ln w="9525">
            <a:solidFill>
              <a:srgbClr val="6B5B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88575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5B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方案设计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shader_build_tool：维度枚举与裁剪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54480"/>
            <a:ext cx="10728655" cy="1371600"/>
          </a:xfrm>
          <a:prstGeom prst="rect">
            <a:avLst/>
          </a:prstGeom>
          <a:solidFill>
            <a:srgbClr val="F4F5FA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554480"/>
            <a:ext cx="10728655" cy="292608"/>
          </a:xfrm>
          <a:prstGeom prst="rect">
            <a:avLst/>
          </a:prstGeom>
          <a:solidFill>
            <a:srgbClr val="3A3360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1554480"/>
            <a:ext cx="104726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shader_build_tool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96112" y="1901952"/>
            <a:ext cx="10399471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for (uint32_t i = 0; i &lt; domain.totalCount(); ++i)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auto v = domain.decode(i);  // LSB-first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if (!ShouldCompile(v)) continue;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CompileVariant(info, i, v);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3063240"/>
            <a:ext cx="10728655" cy="914400"/>
          </a:xfrm>
          <a:prstGeom prst="rect">
            <a:avLst/>
          </a:prstGeom>
          <a:solidFill>
            <a:srgbClr val="F0F1F8"/>
          </a:solidFill>
          <a:ln w="6350">
            <a:solidFill>
              <a:srgbClr val="E3E6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3108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本例 index=2 展开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59536" y="3337560"/>
            <a:ext cx="1047262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index=2 (0b0010)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→ HAS_YUV=0 ALPHA_ONLY=1 HAS_RGBAAA=0 HAS_SUBSET=0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ShouldCompile = !(0&amp;&amp;(1||0)) = true → 编译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4114800"/>
            <a:ext cx="10728655" cy="36576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4114800"/>
            <a:ext cx="45720" cy="36576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" y="4114800"/>
            <a:ext cx="103446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 裸组合 → 排除 6 种 → 10 有效变体进入编译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617720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49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编码：index = HAS_YUV×1 + ALPHA_ONLY×2 + HAS_RGBAAA×4 + HAS_SUBSET×8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3642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· 案例走读  ▸ 枚举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4415" y="63642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5B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改造后 · 构建期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088575" y="347472"/>
            <a:ext cx="1371600" cy="237744"/>
          </a:xfrm>
          <a:prstGeom prst="rect">
            <a:avLst/>
          </a:prstGeom>
          <a:solidFill>
            <a:srgbClr val="F0ECF7"/>
          </a:solidFill>
          <a:ln w="9525">
            <a:solidFill>
              <a:srgbClr val="6B5B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88575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5B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方案设计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CompileVariant()：宏展开 → 编译 → 翻译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54480"/>
            <a:ext cx="5181448" cy="1645920"/>
          </a:xfrm>
          <a:prstGeom prst="rect">
            <a:avLst/>
          </a:prstGeom>
          <a:solidFill>
            <a:srgbClr val="F4F5FA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554480"/>
            <a:ext cx="5181448" cy="292608"/>
          </a:xfrm>
          <a:prstGeom prst="rect">
            <a:avLst/>
          </a:prstGeom>
          <a:solidFill>
            <a:srgbClr val="3A3360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1554480"/>
            <a:ext cx="492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宏展开（index=2）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96112" y="1901952"/>
            <a:ext cx="48522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#define HAS_YUV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#define ALPHA_ONLY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#define HAS_RGBAAA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#define HAS_SUBSET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前置到 frag 头部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ALPHA_ONLY 分支保留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其余分支被预处理器剔除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78728" y="1554480"/>
            <a:ext cx="5181448" cy="1645920"/>
          </a:xfrm>
          <a:prstGeom prst="rect">
            <a:avLst/>
          </a:prstGeom>
          <a:solidFill>
            <a:srgbClr val="F4F5FA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8728" y="1554480"/>
            <a:ext cx="5181448" cy="292608"/>
          </a:xfrm>
          <a:prstGeom prst="rect">
            <a:avLst/>
          </a:prstGeom>
          <a:solidFill>
            <a:srgbClr val="3A336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6744" y="1554480"/>
            <a:ext cx="492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编译（复用现有函数）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43320" y="1901952"/>
            <a:ext cx="48522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auto spirv = CompileGLSLToSPIRV(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compiler, expandedGLSL,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ShaderStage::Fragment);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翻译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auto msl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CompilerMSL(spirv).compile();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auto wgsl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tint::writer(spirv);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383280"/>
          <a:ext cx="1072865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后端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产物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运行时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Vulkan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SPIR-V blob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vkCreateShaderModule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Metal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MSL 文本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newLibraryWithSource: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WebGPU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WGSL 文本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createShaderModule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OpenGL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GLSL 文本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glCompileShader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731520" y="4892040"/>
            <a:ext cx="10728655" cy="32004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18" name="Shape 15"/>
          <p:cNvSpPr/>
          <p:nvPr/>
        </p:nvSpPr>
        <p:spPr>
          <a:xfrm>
            <a:off x="731520" y="4892040"/>
            <a:ext cx="45720" cy="32004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9" name="Text 16"/>
          <p:cNvSpPr/>
          <p:nvPr/>
        </p:nvSpPr>
        <p:spPr>
          <a:xfrm>
            <a:off x="987552" y="4892040"/>
            <a:ext cx="1034460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语法错误于构建阶段暴露，无需等到运行时命中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63642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· 案例走读  ▸ 宏展开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094415" y="63642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5B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改造后 · 构建期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088575" y="347472"/>
            <a:ext cx="1371600" cy="237744"/>
          </a:xfrm>
          <a:prstGeom prst="rect">
            <a:avLst/>
          </a:prstGeom>
          <a:solidFill>
            <a:srgbClr val="F0ECF7"/>
          </a:solidFill>
          <a:ln w="9525">
            <a:solidFill>
              <a:srgbClr val="6B5B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88575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5B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方案设计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Bundle 格式与 CMake 增量构建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54480"/>
            <a:ext cx="10728655" cy="137160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609344"/>
            <a:ext cx="103628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shader_bundle.{backend}.bin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847088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CEE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Header:     magic + version + entryCount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7CEE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IndexEntry: keyHash (FNV-1a 64bit)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7CEE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      blobOffset, blobSize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7CEE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      reflectionOffset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7CEE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      [按 keyHash 排序 → O(log N)]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7CEE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BlobData:   shader 二进制/文本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7CEE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Reflection: uniform/attribute 布局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3063240"/>
            <a:ext cx="10728655" cy="1417320"/>
          </a:xfrm>
          <a:prstGeom prst="rect">
            <a:avLst/>
          </a:prstGeom>
          <a:solidFill>
            <a:srgbClr val="F4F5FA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063240"/>
            <a:ext cx="10728655" cy="292608"/>
          </a:xfrm>
          <a:prstGeom prst="rect">
            <a:avLst/>
          </a:prstGeom>
          <a:solidFill>
            <a:srgbClr val="3A3360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" y="3063240"/>
            <a:ext cx="104726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CMakeLists.txt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96112" y="3410712"/>
            <a:ext cx="10399471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file(GLOB_RECURSE SHADER_SOURCES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CONFIGURE_DEPENDS src/gpu/shaders/*)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add_custom_command(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OUTPUT shader_bundle.*.bin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COMMAND shader_build_tool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DEPENDS shader_build_tool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${SHADER_SOURCES})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461772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2032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修改 .frag → Ninja 重跑 tool → 仅重编受影响变体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开发体验等同修改 .cpp 后的增量编译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产物通过 OBJECT_DEPENDS 链接进二进制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63642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· 案例走读  ▸ Bundle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3642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对比总结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同一次 alpha-only draw：改造前后对照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5181448" cy="3657600"/>
          </a:xfrm>
          <a:prstGeom prst="rect">
            <a:avLst/>
          </a:prstGeom>
          <a:solidFill>
            <a:srgbClr val="FCEBEB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627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94F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BEFORE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77824" y="1956816"/>
            <a:ext cx="219456" cy="219456"/>
          </a:xfrm>
          <a:prstGeom prst="ellipse">
            <a:avLst/>
          </a:prstGeom>
          <a:solidFill>
            <a:srgbClr val="E94F4F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19568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88720" y="1920240"/>
            <a:ext cx="457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computeProcessorKey → flags=3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77824" y="2487168"/>
            <a:ext cx="219456" cy="219456"/>
          </a:xfrm>
          <a:prstGeom prst="ellipse">
            <a:avLst/>
          </a:prstGeom>
          <a:solidFill>
            <a:srgbClr val="E94F4F"/>
          </a:solidFill>
          <a:ln/>
        </p:spPr>
      </p:sp>
      <p:sp>
        <p:nvSpPr>
          <p:cNvPr id="12" name="Text 10"/>
          <p:cNvSpPr/>
          <p:nvPr/>
        </p:nvSpPr>
        <p:spPr>
          <a:xfrm>
            <a:off x="877824" y="24871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88720" y="2450592"/>
            <a:ext cx="457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globalCache miss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77824" y="3017520"/>
            <a:ext cx="219456" cy="219456"/>
          </a:xfrm>
          <a:prstGeom prst="ellipse">
            <a:avLst/>
          </a:prstGeom>
          <a:solidFill>
            <a:srgbClr val="E94F4F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30175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88720" y="2980944"/>
            <a:ext cx="457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emitCode() 拼接 GLSL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7824" y="3547872"/>
            <a:ext cx="219456" cy="219456"/>
          </a:xfrm>
          <a:prstGeom prst="ellipse">
            <a:avLst/>
          </a:prstGeom>
          <a:solidFill>
            <a:srgbClr val="E94F4F"/>
          </a:solidFill>
          <a:ln/>
        </p:spPr>
      </p:sp>
      <p:sp>
        <p:nvSpPr>
          <p:cNvPr id="18" name="Text 16"/>
          <p:cNvSpPr/>
          <p:nvPr/>
        </p:nvSpPr>
        <p:spPr>
          <a:xfrm>
            <a:off x="877824" y="35478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88720" y="3511296"/>
            <a:ext cx="457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shaderc → SPIR-V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77824" y="4078224"/>
            <a:ext cx="219456" cy="219456"/>
          </a:xfrm>
          <a:prstGeom prst="ellipse">
            <a:avLst/>
          </a:prstGeom>
          <a:solidFill>
            <a:srgbClr val="E94F4F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" y="40782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88720" y="4041648"/>
            <a:ext cx="457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spirv-cross → MSL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77824" y="4608576"/>
            <a:ext cx="219456" cy="219456"/>
          </a:xfrm>
          <a:prstGeom prst="ellipse">
            <a:avLst/>
          </a:prstGeom>
          <a:solidFill>
            <a:srgbClr val="E94F4F"/>
          </a:solidFill>
          <a:ln/>
        </p:spPr>
      </p:sp>
      <p:sp>
        <p:nvSpPr>
          <p:cNvPr id="24" name="Text 22"/>
          <p:cNvSpPr/>
          <p:nvPr/>
        </p:nvSpPr>
        <p:spPr>
          <a:xfrm>
            <a:off x="877824" y="46085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88720" y="4572000"/>
            <a:ext cx="457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创建 Program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78728" y="1554480"/>
            <a:ext cx="5181448" cy="3657600"/>
          </a:xfrm>
          <a:prstGeom prst="rect">
            <a:avLst/>
          </a:prstGeom>
          <a:solidFill>
            <a:srgbClr val="E6F7F5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5032" y="1627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AFTER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25032" y="1956816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9" name="Text 27"/>
          <p:cNvSpPr/>
          <p:nvPr/>
        </p:nvSpPr>
        <p:spPr>
          <a:xfrm>
            <a:off x="6425032" y="19568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35928" y="1920240"/>
            <a:ext cx="457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EffectDecomposer → PipelineKey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25032" y="2487168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32" name="Text 30"/>
          <p:cNvSpPr/>
          <p:nvPr/>
        </p:nvSpPr>
        <p:spPr>
          <a:xfrm>
            <a:off x="6425032" y="24871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735928" y="2450592"/>
            <a:ext cx="457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globalCache miss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25032" y="3017520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35" name="Text 33"/>
          <p:cNvSpPr/>
          <p:nvPr/>
        </p:nvSpPr>
        <p:spPr>
          <a:xfrm>
            <a:off x="6425032" y="30175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35928" y="2980944"/>
            <a:ext cx="457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PermutationValues → index=2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25032" y="354787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38" name="Text 36"/>
          <p:cNvSpPr/>
          <p:nvPr/>
        </p:nvSpPr>
        <p:spPr>
          <a:xfrm>
            <a:off x="6425032" y="35478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735928" y="3511296"/>
            <a:ext cx="457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precompiledCache → 命中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25032" y="4078224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41" name="Text 39"/>
          <p:cNvSpPr/>
          <p:nvPr/>
        </p:nvSpPr>
        <p:spPr>
          <a:xfrm>
            <a:off x="6425032" y="40782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35928" y="4041648"/>
            <a:ext cx="457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Blob → 预编译 MSL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25032" y="4608576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44" name="Text 42"/>
          <p:cNvSpPr/>
          <p:nvPr/>
        </p:nvSpPr>
        <p:spPr>
          <a:xfrm>
            <a:off x="6425032" y="46085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735928" y="4572000"/>
            <a:ext cx="457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创建 Program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31520" y="5349240"/>
            <a:ext cx="10728655" cy="36576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47" name="Shape 45"/>
          <p:cNvSpPr/>
          <p:nvPr/>
        </p:nvSpPr>
        <p:spPr>
          <a:xfrm>
            <a:off x="731520" y="5349240"/>
            <a:ext cx="45720" cy="36576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8" name="Text 46"/>
          <p:cNvSpPr/>
          <p:nvPr/>
        </p:nvSpPr>
        <p:spPr>
          <a:xfrm>
            <a:off x="987552" y="5349240"/>
            <a:ext cx="103446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消除 ③④⑤：延迟从 15-70 ms 降至 &lt;1 ms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1520" y="63642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· 案例走读  ▸ 对比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094415" y="63642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容错机制与工程规模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454298" cy="1188720"/>
          </a:xfrm>
          <a:prstGeom prst="rect">
            <a:avLst/>
          </a:prstGeom>
          <a:solidFill>
            <a:srgbClr val="10173A"/>
          </a:solidFill>
          <a:ln w="9525">
            <a:solidFill>
              <a:srgbClr val="3E4F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7824" y="1078992"/>
            <a:ext cx="31616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编译期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77824" y="1353312"/>
            <a:ext cx="31616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info() 纯虚函数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static_assert(D::COUNT)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368698" y="1005840"/>
            <a:ext cx="3454298" cy="1188720"/>
          </a:xfrm>
          <a:prstGeom prst="rect">
            <a:avLst/>
          </a:prstGeom>
          <a:solidFill>
            <a:srgbClr val="10173A"/>
          </a:solidFill>
          <a:ln w="9525">
            <a:solidFill>
              <a:srgbClr val="3E4F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15002" y="1078992"/>
            <a:ext cx="31616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15002" y="1353312"/>
            <a:ext cx="31616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遍历全部有效组合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语法错误即中止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05877" y="1005840"/>
            <a:ext cx="3454298" cy="1188720"/>
          </a:xfrm>
          <a:prstGeom prst="rect">
            <a:avLst/>
          </a:prstGeom>
          <a:solidFill>
            <a:srgbClr val="10173A"/>
          </a:solidFill>
          <a:ln w="9525">
            <a:solidFill>
              <a:srgbClr val="3E4F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52181" y="1078992"/>
            <a:ext cx="31616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152181" y="1353312"/>
            <a:ext cx="31616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find()=null 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fallback ProgramBuilder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10728655" cy="0"/>
          </a:xfrm>
          <a:prstGeom prst="line">
            <a:avLst/>
          </a:prstGeom>
          <a:noFill/>
          <a:ln w="9525">
            <a:solidFill>
              <a:srgbClr val="3E4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514600"/>
            <a:ext cx="26821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36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2807208"/>
            <a:ext cx="26821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Processor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13684" y="2514600"/>
            <a:ext cx="26821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4→8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13684" y="2807208"/>
            <a:ext cx="26821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维度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095848" y="2514600"/>
            <a:ext cx="26821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16→10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95848" y="2807208"/>
            <a:ext cx="26821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裸→有效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778011" y="2514600"/>
            <a:ext cx="26821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~14MB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78011" y="2807208"/>
            <a:ext cx="26821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体积消除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3154680"/>
            <a:ext cx="10728655" cy="0"/>
          </a:xfrm>
          <a:prstGeom prst="line">
            <a:avLst/>
          </a:prstGeom>
          <a:noFill/>
          <a:ln w="9525">
            <a:solidFill>
              <a:srgbClr val="3E4F9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 &amp; 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365760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2032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alpha-only 纹理（文字 atlas）为最高频路径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各 Processor 独立声明维度，互不干扰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过渡期 precompiledCache 未命中时 fallback 到 ProgramBuilder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63642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· 案例走读  ▸ 规模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4415" y="63642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TGFX Shader Permutation · 案例走读</dc:title>
  <dc:subject>PptxGenJS Presentation</dc:subject>
  <dc:creator>TGFX Graphics Team</dc:creator>
  <cp:lastModifiedBy>TGFX Graphics Team</cp:lastModifiedBy>
  <cp:revision>1</cp:revision>
  <dcterms:created xsi:type="dcterms:W3CDTF">2026-07-06T13:03:23Z</dcterms:created>
  <dcterms:modified xsi:type="dcterms:W3CDTF">2026-07-06T13:03:23Z</dcterms:modified>
</cp:coreProperties>
</file>