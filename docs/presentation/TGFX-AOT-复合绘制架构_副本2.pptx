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真实顺序与串接逻辑：src/gpu/ProgramBuilder.cpp:41-46,52-90,102-154。emitAndInstallGeoProc 同时向 VertexShaderBuilder 和 FragmentShaderBuilder 追加代码；各 FragmentProcessor 通过 emitAndInstallFragProc 把前一段输出作为下一段输入，遍历到 numColorFragmentProcessors() 时从 color 链切换到 coverage 链；emitAndInstallXferProc 最后用最终 color / coverage 写 fragment output。src/gpu/ShaderBuilder.cpp:288-337 在 finalize 后按段合并最终源码。右侧 GLSL 是结构示意，变量名经过概念性简化。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公共入口：src/gpu/glsl/GLSLProgramBuilder.cpp:175-258。finalize() 从两个 ShaderBuilder 取得完整源码，分别调用 createShaderModule，再组织 RenderPipelineDescriptor 并调用 createRenderPipeline；最终 Pipeline 与 uniform data 被封装进 Program。OpenGL：src/gpu/opengl/GLGPU.cpp:217-298，真实调用为 shaderSource / compileShader、attachShader / linkProgram。Vulkan：src/gpu/vulkan/VulkanShaderModule.cpp:38-61 与 src/gpu/vulkan/VulkanRenderPipeline.cpp:565-593，GLSL 经 shaderc 生成 SPIR-V，再 vkCreateShaderModule 和 vkCreateGraphicsPipelines。Metal：src/gpu/metal/MetalShaderModule.mm:191-221 与 src/gpu/metal/MetalRenderPipeline.mm:94-179，GLSL 经 SPIR-V 和 SPIRV-Cross 转 MSL，再 newLibraryWithSource 与 newRenderPipelineStateWithDescriptor。这里不声称 TGFX 为三个 Backend 统一提供独立的 module / pipeline 缓存。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字段与查找流程：src/gpu/ProgramInfo.cpp:151-215。真实 buildProgramKey() 依次写入 GeometryProcessor key、每个 FragmentProcessor key、XferProcessor key、blendMode、outputSwizzle、cullMode、RenderTarget format / sampleCount、colorWriteMask 以及完整 depthStencil 字段。FP 递归：src/gpu/processors/FragmentProcessor.cpp:86-99，computeProcessorKey() 写 classID、onComputeProcessorKey、纹理 TextureView key，并递归 childProcessors。Cache：src/gpu/GlobalCache.cpp:33,74-87,203-223，findProgram() 统计 hit / miss 并更新 LRU；addProgram() 的容量上限为 256。当前实现 miss 后先调用 PrecompiledProgramCreator::CreateProgram()，只在 AllowRuntimeFallback 且 AOT 未匹配时调用 ProgramBuilder::CreateProgram()；本页用该 fallback 描述原始 JIT 成本，不把现状误写成无条件 JIT。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本页直接承接第3页的 Program Key 与 Cache：运行时 Key 来自 Processor 结构、静态接口和影响 Pipeline 的状态；构建期必须先确定 Shader 范围并生成 Backend Bundle。这里只提出责任问题，不提前介绍 TGFX 的具体方案、Variant 或 Multi-pass。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Flutter 的能力扩展需要扩展引擎维护的能力集，不表述为绝无 fallback。Graphite 的清单漏项可能导致运行时首次创建或 inline compile。Unreal 的 Shader permutation Cook 与完整 PSO Precache 是两个不同层级，缺口应在对应的 Cook 或 PSO 数据侧补齐。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Flutter official source, accessed 2026-08-24: https://docs.flutter.dev/perf/impeller#what-is-impeller
Repository commit: 49d0823cb00e22a08534f2b5e2a125386176eea6
Directory: https://github.com/flutter/flutter/tree/49d0823cb00e22a08534f2b5e2a125386176eea6/engine/src/flutter/impeller/entity/shaders
Code: https://github.com/flutter/flutter/blob/49d0823cb00e22a08534f2b5e2a125386176eea6/engine/src/flutter/impeller/entity/shaders/solid_fill.frag
Snapshot count: 16 .vert + 47 .frag = 63 stage sources, plus 5 shared .glsl files; none is a Pipeline/PSO count. Impeller is not described as zero-variant or zero runtime pipeline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sources, accessed 2026-08-24:
https://skia.googlesource.com/skia/+/refs/heads/main/include/gpu/graphite/precompile/PaintOptions.h
https://skia.googlesource.com/skia/+/refs/heads/main/include/gpu/graphite/precompile/Precompile.h
The snippet preserves real API names but is intentionally shortened. PaintOptions describes candidate dimensions, not a literal list of final pipelines. Complete declarations can be covered ahead of drawing; omitted combinations may still require first creation or inline compilation. Do not introduce Ganesh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sources, accessed 2026-08-24:
https://dev.epicgames.com/community/learning/knowledge-base/6PxP/unreal-engine-understanding-shader-permutations
https://dev.epicgames.com/documentation/unreal-engine/pso-precaching-for-unreal-engine?lang=en-US
Material and Static Switches bound the cooked Shader permutation set. Shader plus layout, pass, and render state form the separate PSO precache layer. TGFX borrows only finite static dimensions and the Shader/Pipeline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本页承接第4—8页，只做 TGFX 责任边界推导，不重复三种行业方案。调用方申报、项目资产 Cook、限制固定能力和 miss 再编译都不满足 TGFX 前提，因此由库内定义具体 PrecompiledShader，并把合法运行时输入映射到对应资产。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来源：src/gpu/shaders/glsl/level1/texture_fill.frag:20-47,59-65。无 DeviceMask 时 XP_DST_TEX_BINDING 为 1；有 DeviceMask 时增加 binding 1 的 MaskTextureSampler，并把 XP binding 移到 2。AlphaOnly 只控制计算分支，因此保留为 uniform。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HAS_DEVICE_MASK 的条件资源声明位于 src/gpu/shaders/glsl/level1/texture_fill.frag:35-47。构建工具在源码前注入 define；本页只展示注入动作和 A/B 编译结果，不重复第10页的完整条件宏片段。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真实声明：src/gpu/shaders/level1/TextureFillShader.h:25-92。代码为概念性删减，保留真实 class、FragDims 中 HAS_XP / HAS_DEVICE_MASK、domain、info() 源文件连接与注册宏。一组维度取值才构成一个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真实代码：src/gpu/shaders/PermutationRules.cpp:749-776。Domain 提供候选编码域；EnumerateTextureFillReachable 枚举规则输入，ComposeTextureFill 对 xpType &lt; 0 返回 nullopt，并将合法输入映射到 FragDims；result 中的 reachable pair 才进入后续宏注入和 Backend 编译。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真实 runtime matcher：src/gpu/PermutationMatcher.cpp:197-239；共享 Compose：src/gpu/shaders/PermutationRules.cpp:749-759。Build 枚举候选输入，Runtime 从当前 ProgramInfo 读取 deviceMask 与 xpType；二者都调用 ComposeTextureFill，并用同一 domain 编码，因此合法输入得到同一 Bundle 标识。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公开 API：include/tgfx/core/Shader.h:55-59,193-196。代码用真实 MakeBlend 与 makeWithColorFilter 接口展示开放组合：先构造 Filtered(Image A) 与 Blend(B,C)，再由根 Blend 组合；随后仍可与 Image D 继续嵌套。有限静态维度不能封闭这类递归深度，本页自然引出第16页语义安全的 Multi-pass。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AOTEffectDecomposer 当前 DecomposeLinearPointwiseTail 路径只接受 TextureSource 后接线性 pointwise ops，并按 PointwiseTail 的具体容量形成多个 Pass；项目中还存在 PointwiseDAG 融合、Perlin chain 等其他路径，因此正文不把固定两槽概括成通用模型。每个 Pass 仍需由 AOTPlanExecutor 构造 ProgramInfo 并匹配预编译 permutation。Draw Bounds 只决定物化范围、坐标与成本。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Bundle 中保存 Shader stage artifact 与反射信息，不是完整 PSO。OpenGL Bundle 保存离线生成的 GLSL，运行时仍由 driver compile/link；Vulkan / Metal 可加载离线二进制 stage，但 Pipeline 仍按运行时状态创建。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产品待测：真实 workload coverage；bundle build/load/compression/resident memory；cold start；CPU/GPU/power；Pipeline first creation；precompiled shader GPU cost；Multi-pass cost/error；Metal/Vulkan/OpenGL 版本发布与回滚。已有证据不是产品净收益结论。单测未命中某 permutation 不能作为删除理由。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01 · PROCESSOR COMPOSITION</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700" b="1" dirty="0">
                <a:solidFill>
                  <a:srgbClr val="102A43"/>
                </a:solidFill>
                <a:latin typeface="PingFang SC" pitchFamily="34" charset="0"/>
                <a:ea typeface="PingFang SC" pitchFamily="34" charset="-122"/>
                <a:cs typeface="PingFang SC" pitchFamily="34" charset="-120"/>
              </a:rPr>
              <a:t>ProgramBuilder 依次追加 Processor 代码，拼成一次 Draw 的完整 Shader</a:t>
            </a:r>
            <a:endParaRPr lang="en-US" sz="27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01</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不是每个 Processor 各自生成一个 Shader 文件；它们按 Draw 顺序向同一对 VS / FS Builder 追加代码块。 </a:t>
            </a:r>
            <a:endParaRPr lang="en-US" sz="1600" dirty="0"/>
          </a:p>
        </p:txBody>
      </p:sp>
      <p:sp>
        <p:nvSpPr>
          <p:cNvPr id="8" name="Text 6"/>
          <p:cNvSpPr/>
          <p:nvPr/>
        </p:nvSpPr>
        <p:spPr>
          <a:xfrm>
            <a:off x="713232" y="1600200"/>
            <a:ext cx="4736592"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008C8C"/>
                </a:solidFill>
                <a:latin typeface="SF Mono" pitchFamily="34" charset="0"/>
                <a:ea typeface="SF Mono" pitchFamily="34" charset="-122"/>
                <a:cs typeface="SF Mono" pitchFamily="34" charset="-120"/>
              </a:rPr>
              <a:t>真实 C++ · 调用顺序与 FP 串接</a:t>
            </a:r>
            <a:endParaRPr lang="en-US" sz="1100" dirty="0"/>
          </a:p>
        </p:txBody>
      </p:sp>
      <p:sp>
        <p:nvSpPr>
          <p:cNvPr id="9" name="Shape 7"/>
          <p:cNvSpPr/>
          <p:nvPr/>
        </p:nvSpPr>
        <p:spPr>
          <a:xfrm>
            <a:off x="713232" y="1847088"/>
            <a:ext cx="4736592" cy="3639312"/>
          </a:xfrm>
          <a:prstGeom prst="rect">
            <a:avLst/>
          </a:prstGeom>
          <a:solidFill>
            <a:srgbClr val="102A43"/>
          </a:solidFill>
          <a:ln w="12700">
            <a:solidFill>
              <a:srgbClr val="102A43"/>
            </a:solidFill>
            <a:prstDash val="solid"/>
          </a:ln>
        </p:spPr>
      </p:sp>
      <p:sp>
        <p:nvSpPr>
          <p:cNvPr id="10" name="Text 8"/>
          <p:cNvSpPr/>
          <p:nvPr/>
        </p:nvSpPr>
        <p:spPr>
          <a:xfrm>
            <a:off x="914400" y="1993392"/>
            <a:ext cx="4334256"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PROGRAMBUILDER.CPP · REDUCED</a:t>
            </a:r>
            <a:endParaRPr lang="en-US" sz="1050" dirty="0"/>
          </a:p>
        </p:txBody>
      </p:sp>
      <p:sp>
        <p:nvSpPr>
          <p:cNvPr id="11" name="Text 9"/>
          <p:cNvSpPr/>
          <p:nvPr/>
        </p:nvSpPr>
        <p:spPr>
          <a:xfrm>
            <a:off x="914400" y="2286000"/>
            <a:ext cx="4334256" cy="3054096"/>
          </a:xfrm>
          <a:prstGeom prst="rect">
            <a:avLst/>
          </a:prstGeom>
          <a:noFill/>
          <a:ln/>
        </p:spPr>
        <p:txBody>
          <a:bodyPr wrap="square" lIns="0" tIns="0" rIns="0" bIns="0" rtlCol="0" anchor="t">
            <a:normAutofit/>
          </a:bodyPr>
          <a:lstStyle/>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std::string color;</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std::string coverage;</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emitAndInstallGeoProc(&amp;color, &amp;coverage);</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emitAndInstallFragProcessors(&amp;color, &amp;coverage);</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emitAndInstallXferProc(color, coverage);</a:t>
            </a:r>
            <a:endParaRPr lang="en-US" sz="1210" dirty="0"/>
          </a:p>
          <a:p>
            <a:pPr algn="l" indent="0" marL="0">
              <a:lnSpc>
                <a:spcPct val="100000"/>
              </a:lnSpc>
              <a:buNone/>
            </a:pP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std::string** inOut = &amp;color;</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for (size_t i = 0;</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     i &lt; programInfo-&gt;numFragmentProcessors(); ++i) {</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  if (i == programInfo-&gt;numColorFragmentProcessors())</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    inOut = &amp;coverage;</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  const auto fp = programInfo-&gt;getFragmentProcessor(i);</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  **inOut = emitAndInstallFragProc(fp, ..., **inOut);</a:t>
            </a:r>
            <a:endParaRPr lang="en-US" sz="1210" dirty="0"/>
          </a:p>
          <a:p>
            <a:pPr algn="l" indent="0" marL="0">
              <a:lnSpc>
                <a:spcPct val="100000"/>
              </a:lnSpc>
              <a:buNone/>
            </a:pPr>
            <a:r>
              <a:rPr lang="en-US" sz="1210" dirty="0">
                <a:solidFill>
                  <a:srgbClr val="EEF4F7"/>
                </a:solidFill>
                <a:latin typeface="SF Mono" pitchFamily="34" charset="0"/>
                <a:ea typeface="SF Mono" pitchFamily="34" charset="-122"/>
                <a:cs typeface="SF Mono" pitchFamily="34" charset="-120"/>
              </a:rPr>
              <a:t>}</a:t>
            </a:r>
            <a:endParaRPr lang="en-US" sz="1210" dirty="0"/>
          </a:p>
        </p:txBody>
      </p:sp>
      <p:sp>
        <p:nvSpPr>
          <p:cNvPr id="12" name="Text 10"/>
          <p:cNvSpPr/>
          <p:nvPr/>
        </p:nvSpPr>
        <p:spPr>
          <a:xfrm>
            <a:off x="5687568" y="1600200"/>
            <a:ext cx="5797296"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4F7F00"/>
                </a:solidFill>
                <a:latin typeface="SF Mono" pitchFamily="34" charset="0"/>
                <a:ea typeface="SF Mono" pitchFamily="34" charset="-122"/>
                <a:cs typeface="SF Mono" pitchFamily="34" charset="-120"/>
              </a:rPr>
              <a:t>最终 FS 结构 · 概念性精简 GLSL</a:t>
            </a:r>
            <a:endParaRPr lang="en-US" sz="1100" dirty="0"/>
          </a:p>
        </p:txBody>
      </p:sp>
      <p:sp>
        <p:nvSpPr>
          <p:cNvPr id="13" name="Shape 11"/>
          <p:cNvSpPr/>
          <p:nvPr/>
        </p:nvSpPr>
        <p:spPr>
          <a:xfrm>
            <a:off x="5687568" y="1847088"/>
            <a:ext cx="5797296" cy="3639312"/>
          </a:xfrm>
          <a:prstGeom prst="rect">
            <a:avLst/>
          </a:prstGeom>
          <a:solidFill>
            <a:srgbClr val="102A43"/>
          </a:solidFill>
          <a:ln w="12700">
            <a:solidFill>
              <a:srgbClr val="102A43"/>
            </a:solidFill>
            <a:prstDash val="solid"/>
          </a:ln>
        </p:spPr>
      </p:sp>
      <p:sp>
        <p:nvSpPr>
          <p:cNvPr id="14" name="Text 12"/>
          <p:cNvSpPr/>
          <p:nvPr/>
        </p:nvSpPr>
        <p:spPr>
          <a:xfrm>
            <a:off x="5888736" y="1993392"/>
            <a:ext cx="539496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STRUCTURE ONLY · NAMES SIMPLIFIED</a:t>
            </a:r>
            <a:endParaRPr lang="en-US" sz="1050" dirty="0"/>
          </a:p>
        </p:txBody>
      </p:sp>
      <p:sp>
        <p:nvSpPr>
          <p:cNvPr id="15" name="Text 13"/>
          <p:cNvSpPr/>
          <p:nvPr/>
        </p:nvSpPr>
        <p:spPr>
          <a:xfrm>
            <a:off x="5888736" y="2286000"/>
            <a:ext cx="5394960" cy="3054096"/>
          </a:xfrm>
          <a:prstGeom prst="rect">
            <a:avLst/>
          </a:prstGeom>
          <a:noFill/>
          <a:ln/>
        </p:spPr>
        <p:txBody>
          <a:bodyPr wrap="square" lIns="0" tIns="0" rIns="0" bIns="0" rtlCol="0" anchor="t">
            <a:normAutofit/>
          </a:bodyPr>
          <a:lstStyle/>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void main() {</a:t>
            </a: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vec4 color0;</a:t>
            </a: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highp vec4 coverage0;</a:t>
            </a: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 /* GP */ emitGeometry(color0, coverage0); }</a:t>
            </a:r>
            <a:endParaRPr lang="en-US" sz="1230" dirty="0"/>
          </a:p>
          <a:p>
            <a:pPr algn="l" indent="0" marL="0">
              <a:lnSpc>
                <a:spcPct val="100000"/>
              </a:lnSpc>
              <a:buNone/>
            </a:pP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vec4 color1;</a:t>
            </a: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 /* Color FP */ color1 = filter(color0); }</a:t>
            </a:r>
            <a:endParaRPr lang="en-US" sz="1230" dirty="0"/>
          </a:p>
          <a:p>
            <a:pPr algn="l" indent="0" marL="0">
              <a:lnSpc>
                <a:spcPct val="100000"/>
              </a:lnSpc>
              <a:buNone/>
            </a:pP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highp vec4 coverage1;</a:t>
            </a: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 /* Coverage FP */ coverage1 = mask(coverage0); }</a:t>
            </a:r>
            <a:endParaRPr lang="en-US" sz="1230" dirty="0"/>
          </a:p>
          <a:p>
            <a:pPr algn="l" indent="0" marL="0">
              <a:lnSpc>
                <a:spcPct val="100000"/>
              </a:lnSpc>
              <a:buNone/>
            </a:pP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  { /* XP */ fragColor = blend(color1, coverage1); }</a:t>
            </a:r>
            <a:endParaRPr lang="en-US" sz="1230" dirty="0"/>
          </a:p>
          <a:p>
            <a:pPr algn="l" indent="0" marL="0">
              <a:lnSpc>
                <a:spcPct val="100000"/>
              </a:lnSpc>
              <a:buNone/>
            </a:pPr>
            <a:r>
              <a:rPr lang="en-US" sz="1230" dirty="0">
                <a:solidFill>
                  <a:srgbClr val="EEF4F7"/>
                </a:solidFill>
                <a:latin typeface="SF Mono" pitchFamily="34" charset="0"/>
                <a:ea typeface="SF Mono" pitchFamily="34" charset="-122"/>
                <a:cs typeface="SF Mono" pitchFamily="34" charset="-120"/>
              </a:rPr>
              <a:t>}</a:t>
            </a:r>
            <a:endParaRPr lang="en-US" sz="1230" dirty="0"/>
          </a:p>
        </p:txBody>
      </p:sp>
      <p:sp>
        <p:nvSpPr>
          <p:cNvPr id="16" name="Text 14"/>
          <p:cNvSpPr/>
          <p:nvPr/>
        </p:nvSpPr>
        <p:spPr>
          <a:xfrm>
            <a:off x="5907024" y="5175504"/>
            <a:ext cx="5358384" cy="219456"/>
          </a:xfrm>
          <a:prstGeom prst="rect">
            <a:avLst/>
          </a:prstGeom>
          <a:noFill/>
          <a:ln/>
        </p:spPr>
        <p:txBody>
          <a:bodyPr wrap="square" lIns="0" tIns="0" rIns="0" bIns="0" rtlCol="0" anchor="t">
            <a:normAutofit/>
          </a:bodyPr>
          <a:lstStyle/>
          <a:p>
            <a:pPr algn="ctr" indent="0" marL="0">
              <a:lnSpc>
                <a:spcPct val="104000"/>
              </a:lnSpc>
              <a:buNone/>
            </a:pPr>
            <a:r>
              <a:rPr lang="en-US" sz="1140" b="1" dirty="0">
                <a:solidFill>
                  <a:srgbClr val="76B900"/>
                </a:solidFill>
                <a:latin typeface="PingFang SC" pitchFamily="34" charset="0"/>
                <a:ea typeface="PingFang SC" pitchFamily="34" charset="-122"/>
                <a:cs typeface="PingFang SC" pitchFamily="34" charset="-120"/>
              </a:rPr>
              <a:t>Color 与 Coverage 各自串行传递前一段输出；XP 用两条链的最终值收尾。</a:t>
            </a:r>
            <a:endParaRPr lang="en-US" sz="1140" dirty="0"/>
          </a:p>
        </p:txBody>
      </p:sp>
      <p:sp>
        <p:nvSpPr>
          <p:cNvPr id="17" name="Shape 15"/>
          <p:cNvSpPr/>
          <p:nvPr/>
        </p:nvSpPr>
        <p:spPr>
          <a:xfrm>
            <a:off x="658368" y="5742432"/>
            <a:ext cx="10874959" cy="438912"/>
          </a:xfrm>
          <a:prstGeom prst="rect">
            <a:avLst/>
          </a:prstGeom>
          <a:solidFill>
            <a:srgbClr val="EFF7DF"/>
          </a:solidFill>
          <a:ln w="12700">
            <a:solidFill>
              <a:srgbClr val="EFF7DF"/>
            </a:solidFill>
            <a:prstDash val="solid"/>
          </a:ln>
        </p:spPr>
      </p:sp>
      <p:sp>
        <p:nvSpPr>
          <p:cNvPr id="18" name="Text 16"/>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JIT 编译单位是当前 Draw 的完整 Processor 组合，不是单个 Processor。</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02 · BACKEND COMPILATION</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700" b="1" dirty="0">
                <a:solidFill>
                  <a:srgbClr val="102A43"/>
                </a:solidFill>
                <a:latin typeface="PingFang SC" pitchFamily="34" charset="0"/>
                <a:ea typeface="PingFang SC" pitchFamily="34" charset="-122"/>
                <a:cs typeface="PingFang SC" pitchFamily="34" charset="-120"/>
              </a:rPr>
              <a:t>拼出的 VS / FS GLSL 还要经过 Backend 编译和 Pipeline 创建</a:t>
            </a:r>
            <a:endParaRPr lang="en-US" sz="27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02</a:t>
            </a:r>
            <a:endParaRPr lang="en-US" sz="1000" dirty="0"/>
          </a:p>
        </p:txBody>
      </p:sp>
      <p:sp>
        <p:nvSpPr>
          <p:cNvPr id="7" name="Shape 5"/>
          <p:cNvSpPr/>
          <p:nvPr/>
        </p:nvSpPr>
        <p:spPr>
          <a:xfrm>
            <a:off x="3401568" y="1371600"/>
            <a:ext cx="5394960" cy="530352"/>
          </a:xfrm>
          <a:prstGeom prst="rect">
            <a:avLst/>
          </a:prstGeom>
          <a:solidFill>
            <a:srgbClr val="102A43"/>
          </a:solidFill>
          <a:ln w="12700">
            <a:solidFill>
              <a:srgbClr val="102A43"/>
            </a:solidFill>
            <a:prstDash val="solid"/>
          </a:ln>
        </p:spPr>
      </p:sp>
      <p:sp>
        <p:nvSpPr>
          <p:cNvPr id="8" name="Text 6"/>
          <p:cNvSpPr/>
          <p:nvPr/>
        </p:nvSpPr>
        <p:spPr>
          <a:xfrm>
            <a:off x="3511296" y="1371600"/>
            <a:ext cx="5175504" cy="530352"/>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FFFFFF"/>
                </a:solidFill>
                <a:latin typeface="SF Mono" pitchFamily="34" charset="0"/>
                <a:ea typeface="SF Mono" pitchFamily="34" charset="-122"/>
                <a:cs typeface="SF Mono" pitchFamily="34" charset="-120"/>
              </a:rPr>
              <a:t>ProgramBuilder  →  VS GLSL + FS GLSL</a:t>
            </a:r>
            <a:endParaRPr lang="en-US" sz="1500" dirty="0"/>
          </a:p>
        </p:txBody>
      </p:sp>
      <p:sp>
        <p:nvSpPr>
          <p:cNvPr id="9" name="Text 7"/>
          <p:cNvSpPr/>
          <p:nvPr/>
        </p:nvSpPr>
        <p:spPr>
          <a:xfrm>
            <a:off x="3493008" y="1947672"/>
            <a:ext cx="5212080" cy="219456"/>
          </a:xfrm>
          <a:prstGeom prst="rect">
            <a:avLst/>
          </a:prstGeom>
          <a:noFill/>
          <a:ln/>
        </p:spPr>
        <p:txBody>
          <a:bodyPr wrap="square" lIns="0" tIns="0" rIns="0" bIns="0" rtlCol="0" anchor="t">
            <a:normAutofit/>
          </a:bodyPr>
          <a:lstStyle/>
          <a:p>
            <a:pPr algn="ctr" indent="0" marL="0">
              <a:lnSpc>
                <a:spcPct val="104000"/>
              </a:lnSpc>
              <a:buNone/>
            </a:pPr>
            <a:r>
              <a:rPr lang="en-US" sz="1150" b="1" dirty="0">
                <a:solidFill>
                  <a:srgbClr val="627D98"/>
                </a:solidFill>
                <a:latin typeface="PingFang SC" pitchFamily="34" charset="0"/>
                <a:ea typeface="PingFang SC" pitchFamily="34" charset="-122"/>
                <a:cs typeface="PingFang SC" pitchFamily="34" charset="-120"/>
              </a:rPr>
              <a:t>第1页的完整 Processor 组合在这里成为两个完整源码字符串。</a:t>
            </a:r>
            <a:endParaRPr lang="en-US" sz="1150" dirty="0"/>
          </a:p>
        </p:txBody>
      </p:sp>
      <p:sp>
        <p:nvSpPr>
          <p:cNvPr id="10" name="Text 8"/>
          <p:cNvSpPr/>
          <p:nvPr/>
        </p:nvSpPr>
        <p:spPr>
          <a:xfrm>
            <a:off x="731520" y="2624328"/>
            <a:ext cx="987552" cy="201168"/>
          </a:xfrm>
          <a:prstGeom prst="rect">
            <a:avLst/>
          </a:prstGeom>
          <a:noFill/>
          <a:ln/>
        </p:spPr>
        <p:txBody>
          <a:bodyPr wrap="square" lIns="0" tIns="0" rIns="0" bIns="0" rtlCol="0" anchor="t">
            <a:normAutofit/>
          </a:bodyPr>
          <a:lstStyle/>
          <a:p>
            <a:pPr algn="l" indent="0" marL="0">
              <a:lnSpc>
                <a:spcPct val="104000"/>
              </a:lnSpc>
              <a:buNone/>
            </a:pPr>
            <a:r>
              <a:rPr lang="en-US" sz="1120" b="1" dirty="0">
                <a:solidFill>
                  <a:srgbClr val="D95D4F"/>
                </a:solidFill>
                <a:latin typeface="SF Mono" pitchFamily="34" charset="0"/>
                <a:ea typeface="SF Mono" pitchFamily="34" charset="-122"/>
                <a:cs typeface="SF Mono" pitchFamily="34" charset="-120"/>
              </a:rPr>
              <a:t>OPENGL</a:t>
            </a:r>
            <a:endParaRPr lang="en-US" sz="1120" dirty="0"/>
          </a:p>
        </p:txBody>
      </p:sp>
      <p:sp>
        <p:nvSpPr>
          <p:cNvPr id="11" name="Shape 9"/>
          <p:cNvSpPr/>
          <p:nvPr/>
        </p:nvSpPr>
        <p:spPr>
          <a:xfrm>
            <a:off x="1755648" y="2752344"/>
            <a:ext cx="329184" cy="0"/>
          </a:xfrm>
          <a:prstGeom prst="line">
            <a:avLst/>
          </a:prstGeom>
          <a:noFill/>
          <a:ln w="20320">
            <a:solidFill>
              <a:srgbClr val="D95D4F"/>
            </a:solidFill>
            <a:prstDash val="solid"/>
            <a:tailEnd type="triangle"/>
          </a:ln>
        </p:spPr>
      </p:sp>
      <p:sp>
        <p:nvSpPr>
          <p:cNvPr id="12" name="Shape 10"/>
          <p:cNvSpPr/>
          <p:nvPr/>
        </p:nvSpPr>
        <p:spPr>
          <a:xfrm>
            <a:off x="2139696" y="2423160"/>
            <a:ext cx="2135124" cy="621792"/>
          </a:xfrm>
          <a:prstGeom prst="rect">
            <a:avLst/>
          </a:prstGeom>
          <a:solidFill>
            <a:srgbClr val="F4F7F9"/>
          </a:solidFill>
          <a:ln w="12700">
            <a:solidFill>
              <a:srgbClr val="F4F7F9"/>
            </a:solidFill>
            <a:prstDash val="solid"/>
          </a:ln>
        </p:spPr>
      </p:sp>
      <p:sp>
        <p:nvSpPr>
          <p:cNvPr id="13" name="Text 11"/>
          <p:cNvSpPr/>
          <p:nvPr/>
        </p:nvSpPr>
        <p:spPr>
          <a:xfrm>
            <a:off x="2249424" y="2423160"/>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VS + FS GLSL</a:t>
            </a:r>
            <a:endParaRPr lang="en-US" sz="1220" dirty="0"/>
          </a:p>
        </p:txBody>
      </p:sp>
      <p:sp>
        <p:nvSpPr>
          <p:cNvPr id="14" name="Shape 12"/>
          <p:cNvSpPr/>
          <p:nvPr/>
        </p:nvSpPr>
        <p:spPr>
          <a:xfrm>
            <a:off x="4311396" y="2734056"/>
            <a:ext cx="182880" cy="0"/>
          </a:xfrm>
          <a:prstGeom prst="line">
            <a:avLst/>
          </a:prstGeom>
          <a:noFill/>
          <a:ln w="22860">
            <a:solidFill>
              <a:srgbClr val="D95D4F"/>
            </a:solidFill>
            <a:prstDash val="solid"/>
            <a:tailEnd type="triangle"/>
          </a:ln>
        </p:spPr>
      </p:sp>
      <p:sp>
        <p:nvSpPr>
          <p:cNvPr id="15" name="Shape 13"/>
          <p:cNvSpPr/>
          <p:nvPr/>
        </p:nvSpPr>
        <p:spPr>
          <a:xfrm>
            <a:off x="4530852" y="2423160"/>
            <a:ext cx="2135124" cy="621792"/>
          </a:xfrm>
          <a:prstGeom prst="rect">
            <a:avLst/>
          </a:prstGeom>
          <a:solidFill>
            <a:srgbClr val="F4F7F9"/>
          </a:solidFill>
          <a:ln w="12700">
            <a:solidFill>
              <a:srgbClr val="F4F7F9"/>
            </a:solidFill>
            <a:prstDash val="solid"/>
          </a:ln>
        </p:spPr>
      </p:sp>
      <p:sp>
        <p:nvSpPr>
          <p:cNvPr id="16" name="Text 14"/>
          <p:cNvSpPr/>
          <p:nvPr/>
        </p:nvSpPr>
        <p:spPr>
          <a:xfrm>
            <a:off x="4640580" y="2423160"/>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compile × 2</a:t>
            </a:r>
            <a:endParaRPr lang="en-US" sz="1220" dirty="0"/>
          </a:p>
        </p:txBody>
      </p:sp>
      <p:sp>
        <p:nvSpPr>
          <p:cNvPr id="17" name="Shape 15"/>
          <p:cNvSpPr/>
          <p:nvPr/>
        </p:nvSpPr>
        <p:spPr>
          <a:xfrm>
            <a:off x="6702552" y="2734056"/>
            <a:ext cx="182880" cy="0"/>
          </a:xfrm>
          <a:prstGeom prst="line">
            <a:avLst/>
          </a:prstGeom>
          <a:noFill/>
          <a:ln w="22860">
            <a:solidFill>
              <a:srgbClr val="D95D4F"/>
            </a:solidFill>
            <a:prstDash val="solid"/>
            <a:tailEnd type="triangle"/>
          </a:ln>
        </p:spPr>
      </p:sp>
      <p:sp>
        <p:nvSpPr>
          <p:cNvPr id="18" name="Shape 16"/>
          <p:cNvSpPr/>
          <p:nvPr/>
        </p:nvSpPr>
        <p:spPr>
          <a:xfrm>
            <a:off x="6922008" y="2423160"/>
            <a:ext cx="2135124" cy="621792"/>
          </a:xfrm>
          <a:prstGeom prst="rect">
            <a:avLst/>
          </a:prstGeom>
          <a:solidFill>
            <a:srgbClr val="F4F7F9"/>
          </a:solidFill>
          <a:ln w="12700">
            <a:solidFill>
              <a:srgbClr val="F4F7F9"/>
            </a:solidFill>
            <a:prstDash val="solid"/>
          </a:ln>
        </p:spPr>
      </p:sp>
      <p:sp>
        <p:nvSpPr>
          <p:cNvPr id="19" name="Text 17"/>
          <p:cNvSpPr/>
          <p:nvPr/>
        </p:nvSpPr>
        <p:spPr>
          <a:xfrm>
            <a:off x="7031736" y="2423160"/>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link</a:t>
            </a:r>
            <a:endParaRPr lang="en-US" sz="1220" dirty="0"/>
          </a:p>
        </p:txBody>
      </p:sp>
      <p:sp>
        <p:nvSpPr>
          <p:cNvPr id="20" name="Shape 18"/>
          <p:cNvSpPr/>
          <p:nvPr/>
        </p:nvSpPr>
        <p:spPr>
          <a:xfrm>
            <a:off x="9093708" y="2734056"/>
            <a:ext cx="182880" cy="0"/>
          </a:xfrm>
          <a:prstGeom prst="line">
            <a:avLst/>
          </a:prstGeom>
          <a:noFill/>
          <a:ln w="22860">
            <a:solidFill>
              <a:srgbClr val="D95D4F"/>
            </a:solidFill>
            <a:prstDash val="solid"/>
            <a:tailEnd type="triangle"/>
          </a:ln>
        </p:spPr>
      </p:sp>
      <p:sp>
        <p:nvSpPr>
          <p:cNvPr id="21" name="Shape 19"/>
          <p:cNvSpPr/>
          <p:nvPr/>
        </p:nvSpPr>
        <p:spPr>
          <a:xfrm>
            <a:off x="9313164" y="2423160"/>
            <a:ext cx="2135124" cy="621792"/>
          </a:xfrm>
          <a:prstGeom prst="rect">
            <a:avLst/>
          </a:prstGeom>
          <a:solidFill>
            <a:srgbClr val="EFF7DF"/>
          </a:solidFill>
          <a:ln w="12700">
            <a:solidFill>
              <a:srgbClr val="EFF7DF"/>
            </a:solidFill>
            <a:prstDash val="solid"/>
          </a:ln>
        </p:spPr>
      </p:sp>
      <p:sp>
        <p:nvSpPr>
          <p:cNvPr id="22" name="Text 20"/>
          <p:cNvSpPr/>
          <p:nvPr/>
        </p:nvSpPr>
        <p:spPr>
          <a:xfrm>
            <a:off x="9422892" y="2423160"/>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4F7F00"/>
                </a:solidFill>
                <a:latin typeface="SF Mono" pitchFamily="34" charset="0"/>
                <a:ea typeface="SF Mono" pitchFamily="34" charset="-122"/>
                <a:cs typeface="SF Mono" pitchFamily="34" charset="-120"/>
              </a:rPr>
              <a:t>GL Program</a:t>
            </a:r>
            <a:endParaRPr lang="en-US" sz="1220" dirty="0"/>
          </a:p>
        </p:txBody>
      </p:sp>
      <p:sp>
        <p:nvSpPr>
          <p:cNvPr id="23" name="Text 21"/>
          <p:cNvSpPr/>
          <p:nvPr/>
        </p:nvSpPr>
        <p:spPr>
          <a:xfrm>
            <a:off x="731520" y="3465576"/>
            <a:ext cx="987552" cy="201168"/>
          </a:xfrm>
          <a:prstGeom prst="rect">
            <a:avLst/>
          </a:prstGeom>
          <a:noFill/>
          <a:ln/>
        </p:spPr>
        <p:txBody>
          <a:bodyPr wrap="square" lIns="0" tIns="0" rIns="0" bIns="0" rtlCol="0" anchor="t">
            <a:normAutofit/>
          </a:bodyPr>
          <a:lstStyle/>
          <a:p>
            <a:pPr algn="l" indent="0" marL="0">
              <a:lnSpc>
                <a:spcPct val="104000"/>
              </a:lnSpc>
              <a:buNone/>
            </a:pPr>
            <a:r>
              <a:rPr lang="en-US" sz="1120" b="1" dirty="0">
                <a:solidFill>
                  <a:srgbClr val="008C8C"/>
                </a:solidFill>
                <a:latin typeface="SF Mono" pitchFamily="34" charset="0"/>
                <a:ea typeface="SF Mono" pitchFamily="34" charset="-122"/>
                <a:cs typeface="SF Mono" pitchFamily="34" charset="-120"/>
              </a:rPr>
              <a:t>VULKAN</a:t>
            </a:r>
            <a:endParaRPr lang="en-US" sz="1120" dirty="0"/>
          </a:p>
        </p:txBody>
      </p:sp>
      <p:sp>
        <p:nvSpPr>
          <p:cNvPr id="24" name="Shape 22"/>
          <p:cNvSpPr/>
          <p:nvPr/>
        </p:nvSpPr>
        <p:spPr>
          <a:xfrm>
            <a:off x="1755648" y="3593592"/>
            <a:ext cx="329184" cy="0"/>
          </a:xfrm>
          <a:prstGeom prst="line">
            <a:avLst/>
          </a:prstGeom>
          <a:noFill/>
          <a:ln w="20320">
            <a:solidFill>
              <a:srgbClr val="008C8C"/>
            </a:solidFill>
            <a:prstDash val="solid"/>
            <a:tailEnd type="triangle"/>
          </a:ln>
        </p:spPr>
      </p:sp>
      <p:sp>
        <p:nvSpPr>
          <p:cNvPr id="25" name="Shape 23"/>
          <p:cNvSpPr/>
          <p:nvPr/>
        </p:nvSpPr>
        <p:spPr>
          <a:xfrm>
            <a:off x="2139696" y="3264408"/>
            <a:ext cx="2135124" cy="621792"/>
          </a:xfrm>
          <a:prstGeom prst="rect">
            <a:avLst/>
          </a:prstGeom>
          <a:solidFill>
            <a:srgbClr val="F4F7F9"/>
          </a:solidFill>
          <a:ln w="12700">
            <a:solidFill>
              <a:srgbClr val="F4F7F9"/>
            </a:solidFill>
            <a:prstDash val="solid"/>
          </a:ln>
        </p:spPr>
      </p:sp>
      <p:sp>
        <p:nvSpPr>
          <p:cNvPr id="26" name="Text 24"/>
          <p:cNvSpPr/>
          <p:nvPr/>
        </p:nvSpPr>
        <p:spPr>
          <a:xfrm>
            <a:off x="2249424" y="3264408"/>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VS + FS GLSL</a:t>
            </a:r>
            <a:endParaRPr lang="en-US" sz="1220" dirty="0"/>
          </a:p>
        </p:txBody>
      </p:sp>
      <p:sp>
        <p:nvSpPr>
          <p:cNvPr id="27" name="Shape 25"/>
          <p:cNvSpPr/>
          <p:nvPr/>
        </p:nvSpPr>
        <p:spPr>
          <a:xfrm>
            <a:off x="4311396" y="3575304"/>
            <a:ext cx="182880" cy="0"/>
          </a:xfrm>
          <a:prstGeom prst="line">
            <a:avLst/>
          </a:prstGeom>
          <a:noFill/>
          <a:ln w="22860">
            <a:solidFill>
              <a:srgbClr val="008C8C"/>
            </a:solidFill>
            <a:prstDash val="solid"/>
            <a:tailEnd type="triangle"/>
          </a:ln>
        </p:spPr>
      </p:sp>
      <p:sp>
        <p:nvSpPr>
          <p:cNvPr id="28" name="Shape 26"/>
          <p:cNvSpPr/>
          <p:nvPr/>
        </p:nvSpPr>
        <p:spPr>
          <a:xfrm>
            <a:off x="4530852" y="3264408"/>
            <a:ext cx="2135124" cy="621792"/>
          </a:xfrm>
          <a:prstGeom prst="rect">
            <a:avLst/>
          </a:prstGeom>
          <a:solidFill>
            <a:srgbClr val="F4F7F9"/>
          </a:solidFill>
          <a:ln w="12700">
            <a:solidFill>
              <a:srgbClr val="F4F7F9"/>
            </a:solidFill>
            <a:prstDash val="solid"/>
          </a:ln>
        </p:spPr>
      </p:sp>
      <p:sp>
        <p:nvSpPr>
          <p:cNvPr id="29" name="Text 27"/>
          <p:cNvSpPr/>
          <p:nvPr/>
        </p:nvSpPr>
        <p:spPr>
          <a:xfrm>
            <a:off x="4640580" y="3264408"/>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shaderc → SPIR-V × 2</a:t>
            </a:r>
            <a:endParaRPr lang="en-US" sz="1220" dirty="0"/>
          </a:p>
        </p:txBody>
      </p:sp>
      <p:sp>
        <p:nvSpPr>
          <p:cNvPr id="30" name="Shape 28"/>
          <p:cNvSpPr/>
          <p:nvPr/>
        </p:nvSpPr>
        <p:spPr>
          <a:xfrm>
            <a:off x="6702552" y="3575304"/>
            <a:ext cx="182880" cy="0"/>
          </a:xfrm>
          <a:prstGeom prst="line">
            <a:avLst/>
          </a:prstGeom>
          <a:noFill/>
          <a:ln w="22860">
            <a:solidFill>
              <a:srgbClr val="008C8C"/>
            </a:solidFill>
            <a:prstDash val="solid"/>
            <a:tailEnd type="triangle"/>
          </a:ln>
        </p:spPr>
      </p:sp>
      <p:sp>
        <p:nvSpPr>
          <p:cNvPr id="31" name="Shape 29"/>
          <p:cNvSpPr/>
          <p:nvPr/>
        </p:nvSpPr>
        <p:spPr>
          <a:xfrm>
            <a:off x="6922008" y="3264408"/>
            <a:ext cx="2135124" cy="621792"/>
          </a:xfrm>
          <a:prstGeom prst="rect">
            <a:avLst/>
          </a:prstGeom>
          <a:solidFill>
            <a:srgbClr val="F4F7F9"/>
          </a:solidFill>
          <a:ln w="12700">
            <a:solidFill>
              <a:srgbClr val="F4F7F9"/>
            </a:solidFill>
            <a:prstDash val="solid"/>
          </a:ln>
        </p:spPr>
      </p:sp>
      <p:sp>
        <p:nvSpPr>
          <p:cNvPr id="32" name="Text 30"/>
          <p:cNvSpPr/>
          <p:nvPr/>
        </p:nvSpPr>
        <p:spPr>
          <a:xfrm>
            <a:off x="7031736" y="3264408"/>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VkShaderModule × 2</a:t>
            </a:r>
            <a:endParaRPr lang="en-US" sz="1220" dirty="0"/>
          </a:p>
        </p:txBody>
      </p:sp>
      <p:sp>
        <p:nvSpPr>
          <p:cNvPr id="33" name="Shape 31"/>
          <p:cNvSpPr/>
          <p:nvPr/>
        </p:nvSpPr>
        <p:spPr>
          <a:xfrm>
            <a:off x="9093708" y="3575304"/>
            <a:ext cx="182880" cy="0"/>
          </a:xfrm>
          <a:prstGeom prst="line">
            <a:avLst/>
          </a:prstGeom>
          <a:noFill/>
          <a:ln w="22860">
            <a:solidFill>
              <a:srgbClr val="008C8C"/>
            </a:solidFill>
            <a:prstDash val="solid"/>
            <a:tailEnd type="triangle"/>
          </a:ln>
        </p:spPr>
      </p:sp>
      <p:sp>
        <p:nvSpPr>
          <p:cNvPr id="34" name="Shape 32"/>
          <p:cNvSpPr/>
          <p:nvPr/>
        </p:nvSpPr>
        <p:spPr>
          <a:xfrm>
            <a:off x="9313164" y="3264408"/>
            <a:ext cx="2135124" cy="621792"/>
          </a:xfrm>
          <a:prstGeom prst="rect">
            <a:avLst/>
          </a:prstGeom>
          <a:solidFill>
            <a:srgbClr val="EFF7DF"/>
          </a:solidFill>
          <a:ln w="12700">
            <a:solidFill>
              <a:srgbClr val="EFF7DF"/>
            </a:solidFill>
            <a:prstDash val="solid"/>
          </a:ln>
        </p:spPr>
      </p:sp>
      <p:sp>
        <p:nvSpPr>
          <p:cNvPr id="35" name="Text 33"/>
          <p:cNvSpPr/>
          <p:nvPr/>
        </p:nvSpPr>
        <p:spPr>
          <a:xfrm>
            <a:off x="9422892" y="3264408"/>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4F7F00"/>
                </a:solidFill>
                <a:latin typeface="SF Mono" pitchFamily="34" charset="0"/>
                <a:ea typeface="SF Mono" pitchFamily="34" charset="-122"/>
                <a:cs typeface="SF Mono" pitchFamily="34" charset="-120"/>
              </a:rPr>
              <a:t>VkGraphicsPipeline</a:t>
            </a:r>
            <a:endParaRPr lang="en-US" sz="1220" dirty="0"/>
          </a:p>
        </p:txBody>
      </p:sp>
      <p:sp>
        <p:nvSpPr>
          <p:cNvPr id="36" name="Text 34"/>
          <p:cNvSpPr/>
          <p:nvPr/>
        </p:nvSpPr>
        <p:spPr>
          <a:xfrm>
            <a:off x="731520" y="4306824"/>
            <a:ext cx="987552" cy="201168"/>
          </a:xfrm>
          <a:prstGeom prst="rect">
            <a:avLst/>
          </a:prstGeom>
          <a:noFill/>
          <a:ln/>
        </p:spPr>
        <p:txBody>
          <a:bodyPr wrap="square" lIns="0" tIns="0" rIns="0" bIns="0" rtlCol="0" anchor="t">
            <a:normAutofit/>
          </a:bodyPr>
          <a:lstStyle/>
          <a:p>
            <a:pPr algn="l" indent="0" marL="0">
              <a:lnSpc>
                <a:spcPct val="104000"/>
              </a:lnSpc>
              <a:buNone/>
            </a:pPr>
            <a:r>
              <a:rPr lang="en-US" sz="1120" b="1" dirty="0">
                <a:solidFill>
                  <a:srgbClr val="4F7F00"/>
                </a:solidFill>
                <a:latin typeface="SF Mono" pitchFamily="34" charset="0"/>
                <a:ea typeface="SF Mono" pitchFamily="34" charset="-122"/>
                <a:cs typeface="SF Mono" pitchFamily="34" charset="-120"/>
              </a:rPr>
              <a:t>METAL</a:t>
            </a:r>
            <a:endParaRPr lang="en-US" sz="1120" dirty="0"/>
          </a:p>
        </p:txBody>
      </p:sp>
      <p:sp>
        <p:nvSpPr>
          <p:cNvPr id="37" name="Shape 35"/>
          <p:cNvSpPr/>
          <p:nvPr/>
        </p:nvSpPr>
        <p:spPr>
          <a:xfrm>
            <a:off x="1755648" y="4434840"/>
            <a:ext cx="329184" cy="0"/>
          </a:xfrm>
          <a:prstGeom prst="line">
            <a:avLst/>
          </a:prstGeom>
          <a:noFill/>
          <a:ln w="20320">
            <a:solidFill>
              <a:srgbClr val="76B900"/>
            </a:solidFill>
            <a:prstDash val="solid"/>
            <a:tailEnd type="triangle"/>
          </a:ln>
        </p:spPr>
      </p:sp>
      <p:sp>
        <p:nvSpPr>
          <p:cNvPr id="38" name="Shape 36"/>
          <p:cNvSpPr/>
          <p:nvPr/>
        </p:nvSpPr>
        <p:spPr>
          <a:xfrm>
            <a:off x="2139696" y="4105656"/>
            <a:ext cx="2135124" cy="621792"/>
          </a:xfrm>
          <a:prstGeom prst="rect">
            <a:avLst/>
          </a:prstGeom>
          <a:solidFill>
            <a:srgbClr val="F4F7F9"/>
          </a:solidFill>
          <a:ln w="12700">
            <a:solidFill>
              <a:srgbClr val="F4F7F9"/>
            </a:solidFill>
            <a:prstDash val="solid"/>
          </a:ln>
        </p:spPr>
      </p:sp>
      <p:sp>
        <p:nvSpPr>
          <p:cNvPr id="39" name="Text 37"/>
          <p:cNvSpPr/>
          <p:nvPr/>
        </p:nvSpPr>
        <p:spPr>
          <a:xfrm>
            <a:off x="2249424" y="4105656"/>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VS + FS GLSL</a:t>
            </a:r>
            <a:endParaRPr lang="en-US" sz="1220" dirty="0"/>
          </a:p>
        </p:txBody>
      </p:sp>
      <p:sp>
        <p:nvSpPr>
          <p:cNvPr id="40" name="Shape 38"/>
          <p:cNvSpPr/>
          <p:nvPr/>
        </p:nvSpPr>
        <p:spPr>
          <a:xfrm>
            <a:off x="4311396" y="4416552"/>
            <a:ext cx="182880" cy="0"/>
          </a:xfrm>
          <a:prstGeom prst="line">
            <a:avLst/>
          </a:prstGeom>
          <a:noFill/>
          <a:ln w="22860">
            <a:solidFill>
              <a:srgbClr val="76B900"/>
            </a:solidFill>
            <a:prstDash val="solid"/>
            <a:tailEnd type="triangle"/>
          </a:ln>
        </p:spPr>
      </p:sp>
      <p:sp>
        <p:nvSpPr>
          <p:cNvPr id="41" name="Shape 39"/>
          <p:cNvSpPr/>
          <p:nvPr/>
        </p:nvSpPr>
        <p:spPr>
          <a:xfrm>
            <a:off x="4530852" y="4105656"/>
            <a:ext cx="2135124" cy="621792"/>
          </a:xfrm>
          <a:prstGeom prst="rect">
            <a:avLst/>
          </a:prstGeom>
          <a:solidFill>
            <a:srgbClr val="F4F7F9"/>
          </a:solidFill>
          <a:ln w="12700">
            <a:solidFill>
              <a:srgbClr val="F4F7F9"/>
            </a:solidFill>
            <a:prstDash val="solid"/>
          </a:ln>
        </p:spPr>
      </p:sp>
      <p:sp>
        <p:nvSpPr>
          <p:cNvPr id="42" name="Text 40"/>
          <p:cNvSpPr/>
          <p:nvPr/>
        </p:nvSpPr>
        <p:spPr>
          <a:xfrm>
            <a:off x="4640580" y="4105656"/>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SPIR-V → MSL × 2</a:t>
            </a:r>
            <a:endParaRPr lang="en-US" sz="1220" dirty="0"/>
          </a:p>
        </p:txBody>
      </p:sp>
      <p:sp>
        <p:nvSpPr>
          <p:cNvPr id="43" name="Shape 41"/>
          <p:cNvSpPr/>
          <p:nvPr/>
        </p:nvSpPr>
        <p:spPr>
          <a:xfrm>
            <a:off x="6702552" y="4416552"/>
            <a:ext cx="182880" cy="0"/>
          </a:xfrm>
          <a:prstGeom prst="line">
            <a:avLst/>
          </a:prstGeom>
          <a:noFill/>
          <a:ln w="22860">
            <a:solidFill>
              <a:srgbClr val="76B900"/>
            </a:solidFill>
            <a:prstDash val="solid"/>
            <a:tailEnd type="triangle"/>
          </a:ln>
        </p:spPr>
      </p:sp>
      <p:sp>
        <p:nvSpPr>
          <p:cNvPr id="44" name="Shape 42"/>
          <p:cNvSpPr/>
          <p:nvPr/>
        </p:nvSpPr>
        <p:spPr>
          <a:xfrm>
            <a:off x="6922008" y="4105656"/>
            <a:ext cx="2135124" cy="621792"/>
          </a:xfrm>
          <a:prstGeom prst="rect">
            <a:avLst/>
          </a:prstGeom>
          <a:solidFill>
            <a:srgbClr val="F4F7F9"/>
          </a:solidFill>
          <a:ln w="12700">
            <a:solidFill>
              <a:srgbClr val="F4F7F9"/>
            </a:solidFill>
            <a:prstDash val="solid"/>
          </a:ln>
        </p:spPr>
      </p:sp>
      <p:sp>
        <p:nvSpPr>
          <p:cNvPr id="45" name="Text 43"/>
          <p:cNvSpPr/>
          <p:nvPr/>
        </p:nvSpPr>
        <p:spPr>
          <a:xfrm>
            <a:off x="7031736" y="4105656"/>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MTLLibrary stages</a:t>
            </a:r>
            <a:endParaRPr lang="en-US" sz="1220" dirty="0"/>
          </a:p>
        </p:txBody>
      </p:sp>
      <p:sp>
        <p:nvSpPr>
          <p:cNvPr id="46" name="Shape 44"/>
          <p:cNvSpPr/>
          <p:nvPr/>
        </p:nvSpPr>
        <p:spPr>
          <a:xfrm>
            <a:off x="9093708" y="4416552"/>
            <a:ext cx="182880" cy="0"/>
          </a:xfrm>
          <a:prstGeom prst="line">
            <a:avLst/>
          </a:prstGeom>
          <a:noFill/>
          <a:ln w="22860">
            <a:solidFill>
              <a:srgbClr val="76B900"/>
            </a:solidFill>
            <a:prstDash val="solid"/>
            <a:tailEnd type="triangle"/>
          </a:ln>
        </p:spPr>
      </p:sp>
      <p:sp>
        <p:nvSpPr>
          <p:cNvPr id="47" name="Shape 45"/>
          <p:cNvSpPr/>
          <p:nvPr/>
        </p:nvSpPr>
        <p:spPr>
          <a:xfrm>
            <a:off x="9313164" y="4105656"/>
            <a:ext cx="2135124" cy="621792"/>
          </a:xfrm>
          <a:prstGeom prst="rect">
            <a:avLst/>
          </a:prstGeom>
          <a:solidFill>
            <a:srgbClr val="EFF7DF"/>
          </a:solidFill>
          <a:ln w="12700">
            <a:solidFill>
              <a:srgbClr val="EFF7DF"/>
            </a:solidFill>
            <a:prstDash val="solid"/>
          </a:ln>
        </p:spPr>
      </p:sp>
      <p:sp>
        <p:nvSpPr>
          <p:cNvPr id="48" name="Text 46"/>
          <p:cNvSpPr/>
          <p:nvPr/>
        </p:nvSpPr>
        <p:spPr>
          <a:xfrm>
            <a:off x="9422892" y="4105656"/>
            <a:ext cx="1915668" cy="62179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4F7F00"/>
                </a:solidFill>
                <a:latin typeface="SF Mono" pitchFamily="34" charset="0"/>
                <a:ea typeface="SF Mono" pitchFamily="34" charset="-122"/>
                <a:cs typeface="SF Mono" pitchFamily="34" charset="-120"/>
              </a:rPr>
              <a:t>MTLRenderPipelineState</a:t>
            </a:r>
            <a:endParaRPr lang="en-US" sz="1220" dirty="0"/>
          </a:p>
        </p:txBody>
      </p:sp>
      <p:sp>
        <p:nvSpPr>
          <p:cNvPr id="49" name="Text 47"/>
          <p:cNvSpPr/>
          <p:nvPr/>
        </p:nvSpPr>
        <p:spPr>
          <a:xfrm>
            <a:off x="1280160" y="5166360"/>
            <a:ext cx="1463040" cy="237744"/>
          </a:xfrm>
          <a:prstGeom prst="rect">
            <a:avLst/>
          </a:prstGeom>
          <a:noFill/>
          <a:ln/>
        </p:spPr>
        <p:txBody>
          <a:bodyPr wrap="square" lIns="0" tIns="0" rIns="0" bIns="0" rtlCol="0" anchor="t">
            <a:normAutofit/>
          </a:bodyPr>
          <a:lstStyle/>
          <a:p>
            <a:pPr algn="ctr" indent="0" marL="0">
              <a:lnSpc>
                <a:spcPct val="104000"/>
              </a:lnSpc>
              <a:buNone/>
            </a:pPr>
            <a:r>
              <a:rPr lang="en-US" sz="1220" b="1" dirty="0">
                <a:solidFill>
                  <a:srgbClr val="008C8C"/>
                </a:solidFill>
                <a:latin typeface="PingFang SC" pitchFamily="34" charset="0"/>
                <a:ea typeface="PingFang SC" pitchFamily="34" charset="-122"/>
                <a:cs typeface="PingFang SC" pitchFamily="34" charset="-120"/>
              </a:rPr>
              <a:t>源码生成</a:t>
            </a:r>
            <a:endParaRPr lang="en-US" sz="1220" dirty="0"/>
          </a:p>
        </p:txBody>
      </p:sp>
      <p:sp>
        <p:nvSpPr>
          <p:cNvPr id="50" name="Shape 48"/>
          <p:cNvSpPr/>
          <p:nvPr/>
        </p:nvSpPr>
        <p:spPr>
          <a:xfrm>
            <a:off x="2761488" y="5285232"/>
            <a:ext cx="566928" cy="0"/>
          </a:xfrm>
          <a:prstGeom prst="line">
            <a:avLst/>
          </a:prstGeom>
          <a:noFill/>
          <a:ln w="15240">
            <a:solidFill>
              <a:srgbClr val="D9E2EC"/>
            </a:solidFill>
            <a:prstDash val="solid"/>
            <a:tailEnd type="triangle"/>
          </a:ln>
        </p:spPr>
      </p:sp>
      <p:sp>
        <p:nvSpPr>
          <p:cNvPr id="51" name="Text 49"/>
          <p:cNvSpPr/>
          <p:nvPr/>
        </p:nvSpPr>
        <p:spPr>
          <a:xfrm>
            <a:off x="3364992" y="5166360"/>
            <a:ext cx="1645920" cy="237744"/>
          </a:xfrm>
          <a:prstGeom prst="rect">
            <a:avLst/>
          </a:prstGeom>
          <a:noFill/>
          <a:ln/>
        </p:spPr>
        <p:txBody>
          <a:bodyPr wrap="square" lIns="0" tIns="0" rIns="0" bIns="0" rtlCol="0" anchor="t">
            <a:normAutofit/>
          </a:bodyPr>
          <a:lstStyle/>
          <a:p>
            <a:pPr algn="ctr" indent="0" marL="0">
              <a:lnSpc>
                <a:spcPct val="104000"/>
              </a:lnSpc>
              <a:buNone/>
            </a:pPr>
            <a:r>
              <a:rPr lang="en-US" sz="1220" b="1" dirty="0">
                <a:solidFill>
                  <a:srgbClr val="008C8C"/>
                </a:solidFill>
                <a:latin typeface="PingFang SC" pitchFamily="34" charset="0"/>
                <a:ea typeface="PingFang SC" pitchFamily="34" charset="-122"/>
                <a:cs typeface="PingFang SC" pitchFamily="34" charset="-120"/>
              </a:rPr>
              <a:t>Backend 编译</a:t>
            </a:r>
            <a:endParaRPr lang="en-US" sz="1220" dirty="0"/>
          </a:p>
        </p:txBody>
      </p:sp>
      <p:sp>
        <p:nvSpPr>
          <p:cNvPr id="52" name="Shape 50"/>
          <p:cNvSpPr/>
          <p:nvPr/>
        </p:nvSpPr>
        <p:spPr>
          <a:xfrm>
            <a:off x="5029200" y="5285232"/>
            <a:ext cx="566928" cy="0"/>
          </a:xfrm>
          <a:prstGeom prst="line">
            <a:avLst/>
          </a:prstGeom>
          <a:noFill/>
          <a:ln w="15240">
            <a:solidFill>
              <a:srgbClr val="D9E2EC"/>
            </a:solidFill>
            <a:prstDash val="solid"/>
            <a:tailEnd type="triangle"/>
          </a:ln>
        </p:spPr>
      </p:sp>
      <p:sp>
        <p:nvSpPr>
          <p:cNvPr id="53" name="Text 51"/>
          <p:cNvSpPr/>
          <p:nvPr/>
        </p:nvSpPr>
        <p:spPr>
          <a:xfrm>
            <a:off x="5632704" y="5166360"/>
            <a:ext cx="2011680" cy="237744"/>
          </a:xfrm>
          <a:prstGeom prst="rect">
            <a:avLst/>
          </a:prstGeom>
          <a:noFill/>
          <a:ln/>
        </p:spPr>
        <p:txBody>
          <a:bodyPr wrap="square" lIns="0" tIns="0" rIns="0" bIns="0" rtlCol="0" anchor="t">
            <a:normAutofit/>
          </a:bodyPr>
          <a:lstStyle/>
          <a:p>
            <a:pPr algn="ctr" indent="0" marL="0">
              <a:lnSpc>
                <a:spcPct val="104000"/>
              </a:lnSpc>
              <a:buNone/>
            </a:pPr>
            <a:r>
              <a:rPr lang="en-US" sz="1220" b="1" dirty="0">
                <a:solidFill>
                  <a:srgbClr val="008C8C"/>
                </a:solidFill>
                <a:latin typeface="PingFang SC" pitchFamily="34" charset="0"/>
                <a:ea typeface="PingFang SC" pitchFamily="34" charset="-122"/>
                <a:cs typeface="PingFang SC" pitchFamily="34" charset="-120"/>
              </a:rPr>
              <a:t>Module / Library 创建</a:t>
            </a:r>
            <a:endParaRPr lang="en-US" sz="1220" dirty="0"/>
          </a:p>
        </p:txBody>
      </p:sp>
      <p:sp>
        <p:nvSpPr>
          <p:cNvPr id="54" name="Shape 52"/>
          <p:cNvSpPr/>
          <p:nvPr/>
        </p:nvSpPr>
        <p:spPr>
          <a:xfrm>
            <a:off x="7662672" y="5285232"/>
            <a:ext cx="566928" cy="0"/>
          </a:xfrm>
          <a:prstGeom prst="line">
            <a:avLst/>
          </a:prstGeom>
          <a:noFill/>
          <a:ln w="15240">
            <a:solidFill>
              <a:srgbClr val="D9E2EC"/>
            </a:solidFill>
            <a:prstDash val="solid"/>
            <a:tailEnd type="triangle"/>
          </a:ln>
        </p:spPr>
      </p:sp>
      <p:sp>
        <p:nvSpPr>
          <p:cNvPr id="55" name="Text 53"/>
          <p:cNvSpPr/>
          <p:nvPr/>
        </p:nvSpPr>
        <p:spPr>
          <a:xfrm>
            <a:off x="8266176" y="5166360"/>
            <a:ext cx="1645920" cy="237744"/>
          </a:xfrm>
          <a:prstGeom prst="rect">
            <a:avLst/>
          </a:prstGeom>
          <a:noFill/>
          <a:ln/>
        </p:spPr>
        <p:txBody>
          <a:bodyPr wrap="square" lIns="0" tIns="0" rIns="0" bIns="0" rtlCol="0" anchor="t">
            <a:normAutofit/>
          </a:bodyPr>
          <a:lstStyle/>
          <a:p>
            <a:pPr algn="ctr" indent="0" marL="0">
              <a:lnSpc>
                <a:spcPct val="104000"/>
              </a:lnSpc>
              <a:buNone/>
            </a:pPr>
            <a:r>
              <a:rPr lang="en-US" sz="1220" b="1" dirty="0">
                <a:solidFill>
                  <a:srgbClr val="008C8C"/>
                </a:solidFill>
                <a:latin typeface="PingFang SC" pitchFamily="34" charset="0"/>
                <a:ea typeface="PingFang SC" pitchFamily="34" charset="-122"/>
                <a:cs typeface="PingFang SC" pitchFamily="34" charset="-120"/>
              </a:rPr>
              <a:t>Pipeline 创建</a:t>
            </a:r>
            <a:endParaRPr lang="en-US" sz="1220" dirty="0"/>
          </a:p>
        </p:txBody>
      </p:sp>
      <p:sp>
        <p:nvSpPr>
          <p:cNvPr id="56" name="Shape 54"/>
          <p:cNvSpPr/>
          <p:nvPr/>
        </p:nvSpPr>
        <p:spPr>
          <a:xfrm>
            <a:off x="658368" y="5742432"/>
            <a:ext cx="10874959" cy="438912"/>
          </a:xfrm>
          <a:prstGeom prst="rect">
            <a:avLst/>
          </a:prstGeom>
          <a:solidFill>
            <a:srgbClr val="EFF7DF"/>
          </a:solidFill>
          <a:ln w="12700">
            <a:solidFill>
              <a:srgbClr val="EFF7DF"/>
            </a:solidFill>
            <a:prstDash val="solid"/>
          </a:ln>
        </p:spPr>
      </p:sp>
      <p:sp>
        <p:nvSpPr>
          <p:cNvPr id="57" name="Text 55"/>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新的 Program Key 未命中时，运行时生成的 VS / FS 仍要完成 Backend 首次编译与 Pipeline 创建。</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03 · PROGRAM KEY AND CACHE</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600" b="1" dirty="0">
                <a:solidFill>
                  <a:srgbClr val="102A43"/>
                </a:solidFill>
                <a:latin typeface="PingFang SC" pitchFamily="34" charset="0"/>
                <a:ea typeface="PingFang SC" pitchFamily="34" charset="-122"/>
                <a:cs typeface="PingFang SC" pitchFamily="34" charset="-120"/>
              </a:rPr>
              <a:t>Program Cache 只能复用相同 Key；影响 Key 的变化仍需首次创建</a:t>
            </a:r>
            <a:endParaRPr lang="en-US" sz="26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03</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Program Key 同时编码 Processor 结构、静态接口与影响 Pipeline 的渲染状态；Cache 只按这个完整 Key 查找。 </a:t>
            </a:r>
            <a:endParaRPr lang="en-US" sz="1600" dirty="0"/>
          </a:p>
        </p:txBody>
      </p:sp>
      <p:sp>
        <p:nvSpPr>
          <p:cNvPr id="8" name="Text 6"/>
          <p:cNvSpPr/>
          <p:nvPr/>
        </p:nvSpPr>
        <p:spPr>
          <a:xfrm>
            <a:off x="713232" y="1737360"/>
            <a:ext cx="5870448"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008C8C"/>
                </a:solidFill>
                <a:latin typeface="SF Mono" pitchFamily="34" charset="0"/>
                <a:ea typeface="SF Mono" pitchFamily="34" charset="-122"/>
                <a:cs typeface="SF Mono" pitchFamily="34" charset="-120"/>
              </a:rPr>
              <a:t>PROGRAM KEY · 真实职责级精简</a:t>
            </a:r>
            <a:endParaRPr lang="en-US" sz="1100" dirty="0"/>
          </a:p>
        </p:txBody>
      </p:sp>
      <p:sp>
        <p:nvSpPr>
          <p:cNvPr id="9" name="Shape 7"/>
          <p:cNvSpPr/>
          <p:nvPr/>
        </p:nvSpPr>
        <p:spPr>
          <a:xfrm>
            <a:off x="713232" y="1975104"/>
            <a:ext cx="5870448" cy="3511296"/>
          </a:xfrm>
          <a:prstGeom prst="rect">
            <a:avLst/>
          </a:prstGeom>
          <a:solidFill>
            <a:srgbClr val="102A43"/>
          </a:solidFill>
          <a:ln w="12700">
            <a:solidFill>
              <a:srgbClr val="102A43"/>
            </a:solidFill>
            <a:prstDash val="solid"/>
          </a:ln>
        </p:spPr>
      </p:sp>
      <p:sp>
        <p:nvSpPr>
          <p:cNvPr id="10" name="Text 8"/>
          <p:cNvSpPr/>
          <p:nvPr/>
        </p:nvSpPr>
        <p:spPr>
          <a:xfrm>
            <a:off x="914400" y="2121408"/>
            <a:ext cx="5468112"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PROGRAMINFO::BUILDPROGRAMKEY · REDUCED</a:t>
            </a:r>
            <a:endParaRPr lang="en-US" sz="1050" dirty="0"/>
          </a:p>
        </p:txBody>
      </p:sp>
      <p:sp>
        <p:nvSpPr>
          <p:cNvPr id="11" name="Text 9"/>
          <p:cNvSpPr/>
          <p:nvPr/>
        </p:nvSpPr>
        <p:spPr>
          <a:xfrm>
            <a:off x="914400" y="2414016"/>
            <a:ext cx="5468112" cy="2926080"/>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geometryProcessor-&gt;computeProcessorKey(context, &amp;key);</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for (const auto&amp; fp : fragmentProcessors) {</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fp-&gt;computeProcessorKey(context, &amp;key); // recursive</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xferProcessor-&gt;computeProcessorKey(context, &amp;key);</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key.write(blendMode);</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key.write(getOutputSwizzle().asKey());</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key.write(cullMode);</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key.write(renderTarget-&gt;format());</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key.write(renderTarget-&gt;sampleCount());</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key.write(colorWriteMask);</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depthStencil format / compare / write / masks / faces</a:t>
            </a:r>
            <a:endParaRPr lang="en-US" sz="1200" dirty="0"/>
          </a:p>
        </p:txBody>
      </p:sp>
      <p:sp>
        <p:nvSpPr>
          <p:cNvPr id="12" name="Text 10"/>
          <p:cNvSpPr/>
          <p:nvPr/>
        </p:nvSpPr>
        <p:spPr>
          <a:xfrm>
            <a:off x="932688" y="5193792"/>
            <a:ext cx="5431536" cy="201168"/>
          </a:xfrm>
          <a:prstGeom prst="rect">
            <a:avLst/>
          </a:prstGeom>
          <a:noFill/>
          <a:ln/>
        </p:spPr>
        <p:txBody>
          <a:bodyPr wrap="square" lIns="0" tIns="0" rIns="0" bIns="0" rtlCol="0" anchor="t">
            <a:normAutofit/>
          </a:bodyPr>
          <a:lstStyle/>
          <a:p>
            <a:pPr algn="ctr" indent="0" marL="0">
              <a:lnSpc>
                <a:spcPct val="104000"/>
              </a:lnSpc>
              <a:buNone/>
            </a:pPr>
            <a:r>
              <a:rPr lang="en-US" sz="1080" b="1" dirty="0">
                <a:solidFill>
                  <a:srgbClr val="76B900"/>
                </a:solidFill>
                <a:latin typeface="PingFang SC" pitchFamily="34" charset="0"/>
                <a:ea typeface="PingFang SC" pitchFamily="34" charset="-122"/>
                <a:cs typeface="PingFang SC" pitchFamily="34" charset="-120"/>
              </a:rPr>
              <a:t>FP 递归包含 classID、静态 key、纹理接口 key 与 child processor key。</a:t>
            </a:r>
            <a:endParaRPr lang="en-US" sz="1080" dirty="0"/>
          </a:p>
        </p:txBody>
      </p:sp>
      <p:sp>
        <p:nvSpPr>
          <p:cNvPr id="13" name="Text 11"/>
          <p:cNvSpPr/>
          <p:nvPr/>
        </p:nvSpPr>
        <p:spPr>
          <a:xfrm>
            <a:off x="6839712" y="1737360"/>
            <a:ext cx="4645152"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4F7F00"/>
                </a:solidFill>
                <a:latin typeface="SF Mono" pitchFamily="34" charset="0"/>
                <a:ea typeface="SF Mono" pitchFamily="34" charset="-122"/>
                <a:cs typeface="SF Mono" pitchFamily="34" charset="-120"/>
              </a:rPr>
              <a:t>CACHE LOOKUP · 真实职责级精简</a:t>
            </a:r>
            <a:endParaRPr lang="en-US" sz="1100" dirty="0"/>
          </a:p>
        </p:txBody>
      </p:sp>
      <p:sp>
        <p:nvSpPr>
          <p:cNvPr id="14" name="Shape 12"/>
          <p:cNvSpPr/>
          <p:nvPr/>
        </p:nvSpPr>
        <p:spPr>
          <a:xfrm>
            <a:off x="6839712" y="1975104"/>
            <a:ext cx="4645152" cy="2816352"/>
          </a:xfrm>
          <a:prstGeom prst="rect">
            <a:avLst/>
          </a:prstGeom>
          <a:solidFill>
            <a:srgbClr val="102A43"/>
          </a:solidFill>
          <a:ln w="12700">
            <a:solidFill>
              <a:srgbClr val="102A43"/>
            </a:solidFill>
            <a:prstDash val="solid"/>
          </a:ln>
        </p:spPr>
      </p:sp>
      <p:sp>
        <p:nvSpPr>
          <p:cNvPr id="15" name="Text 13"/>
          <p:cNvSpPr/>
          <p:nvPr/>
        </p:nvSpPr>
        <p:spPr>
          <a:xfrm>
            <a:off x="7040880" y="2121408"/>
            <a:ext cx="4242816"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PROGRAMINFO::GETPROGRAM · REDUCED</a:t>
            </a:r>
            <a:endParaRPr lang="en-US" sz="1050" dirty="0"/>
          </a:p>
        </p:txBody>
      </p:sp>
      <p:sp>
        <p:nvSpPr>
          <p:cNvPr id="16" name="Text 14"/>
          <p:cNvSpPr/>
          <p:nvPr/>
        </p:nvSpPr>
        <p:spPr>
          <a:xfrm>
            <a:off x="7040880" y="2414016"/>
            <a:ext cx="4242816" cy="2231136"/>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auto key = buildProgramKey();</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auto program = globalCache-&gt;findProgram(key);</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if (program == nullptr) {</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program = PrecompiledProgramCreator::</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CreateProgram(context, this);</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if (!program &amp;&amp; mode == AllowRuntimeFallback)</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program = ProgramBuilder::</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CreateProgram(context, this);</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if (programCreated &amp;&amp; !cacheKeyOccupied)</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globalCache-&gt;addProgram(key, program);</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a:t>
            </a:r>
            <a:endParaRPr lang="en-US" sz="1200" dirty="0"/>
          </a:p>
        </p:txBody>
      </p:sp>
      <p:sp>
        <p:nvSpPr>
          <p:cNvPr id="17" name="Shape 15"/>
          <p:cNvSpPr/>
          <p:nvPr/>
        </p:nvSpPr>
        <p:spPr>
          <a:xfrm>
            <a:off x="6839712" y="4901184"/>
            <a:ext cx="4645152" cy="310896"/>
          </a:xfrm>
          <a:prstGeom prst="rect">
            <a:avLst/>
          </a:prstGeom>
          <a:solidFill>
            <a:srgbClr val="EFF7DF"/>
          </a:solidFill>
          <a:ln w="12700">
            <a:solidFill>
              <a:srgbClr val="EFF7DF"/>
            </a:solidFill>
            <a:prstDash val="solid"/>
          </a:ln>
        </p:spPr>
      </p:sp>
      <p:sp>
        <p:nvSpPr>
          <p:cNvPr id="18" name="Text 16"/>
          <p:cNvSpPr/>
          <p:nvPr/>
        </p:nvSpPr>
        <p:spPr>
          <a:xfrm>
            <a:off x="6949440" y="4901184"/>
            <a:ext cx="4425696" cy="310896"/>
          </a:xfrm>
          <a:prstGeom prst="rect">
            <a:avLst/>
          </a:prstGeom>
          <a:noFill/>
          <a:ln/>
        </p:spPr>
        <p:txBody>
          <a:bodyPr wrap="square" lIns="0" tIns="0" rIns="0" bIns="0" rtlCol="0" anchor="ctr">
            <a:normAutofit/>
          </a:bodyPr>
          <a:lstStyle/>
          <a:p>
            <a:pPr algn="ctr" indent="0" marL="0">
              <a:lnSpc>
                <a:spcPct val="104000"/>
              </a:lnSpc>
              <a:buNone/>
            </a:pPr>
            <a:r>
              <a:rPr lang="en-US" sz="1140" b="1" dirty="0">
                <a:solidFill>
                  <a:srgbClr val="4F7F00"/>
                </a:solidFill>
                <a:latin typeface="SF Mono" pitchFamily="34" charset="0"/>
                <a:ea typeface="SF Mono" pitchFamily="34" charset="-122"/>
                <a:cs typeface="SF Mono" pitchFamily="34" charset="-120"/>
              </a:rPr>
              <a:t>HIT  →  复用同一 Key 的 Program</a:t>
            </a:r>
            <a:endParaRPr lang="en-US" sz="1140" dirty="0"/>
          </a:p>
        </p:txBody>
      </p:sp>
      <p:sp>
        <p:nvSpPr>
          <p:cNvPr id="19" name="Shape 17"/>
          <p:cNvSpPr/>
          <p:nvPr/>
        </p:nvSpPr>
        <p:spPr>
          <a:xfrm>
            <a:off x="6839712" y="5266944"/>
            <a:ext cx="4645152" cy="256032"/>
          </a:xfrm>
          <a:prstGeom prst="rect">
            <a:avLst/>
          </a:prstGeom>
          <a:solidFill>
            <a:srgbClr val="FBECE9"/>
          </a:solidFill>
          <a:ln w="12700">
            <a:solidFill>
              <a:srgbClr val="FBECE9"/>
            </a:solidFill>
            <a:prstDash val="solid"/>
          </a:ln>
        </p:spPr>
      </p:sp>
      <p:sp>
        <p:nvSpPr>
          <p:cNvPr id="20" name="Text 18"/>
          <p:cNvSpPr/>
          <p:nvPr/>
        </p:nvSpPr>
        <p:spPr>
          <a:xfrm>
            <a:off x="6949440" y="5266944"/>
            <a:ext cx="4425696" cy="256032"/>
          </a:xfrm>
          <a:prstGeom prst="rect">
            <a:avLst/>
          </a:prstGeom>
          <a:noFill/>
          <a:ln/>
        </p:spPr>
        <p:txBody>
          <a:bodyPr wrap="square" lIns="0" tIns="0" rIns="0" bIns="0" rtlCol="0" anchor="ctr">
            <a:normAutofit/>
          </a:bodyPr>
          <a:lstStyle/>
          <a:p>
            <a:pPr algn="ctr" indent="0" marL="0">
              <a:lnSpc>
                <a:spcPct val="104000"/>
              </a:lnSpc>
              <a:buNone/>
            </a:pPr>
            <a:r>
              <a:rPr lang="en-US" sz="920" b="1" dirty="0">
                <a:solidFill>
                  <a:srgbClr val="D95D4F"/>
                </a:solidFill>
                <a:latin typeface="SF Mono" pitchFamily="34" charset="0"/>
                <a:ea typeface="SF Mono" pitchFamily="34" charset="-122"/>
                <a:cs typeface="SF Mono" pitchFamily="34" charset="-120"/>
              </a:rPr>
              <a:t>MISS → 先查 AOT；未匹配且允许时 JIT → 编译并创建 Pipeline</a:t>
            </a:r>
            <a:endParaRPr lang="en-US" sz="920" dirty="0"/>
          </a:p>
        </p:txBody>
      </p:sp>
      <p:sp>
        <p:nvSpPr>
          <p:cNvPr id="21" name="Shape 19"/>
          <p:cNvSpPr/>
          <p:nvPr/>
        </p:nvSpPr>
        <p:spPr>
          <a:xfrm>
            <a:off x="658368" y="5742432"/>
            <a:ext cx="10874959" cy="438912"/>
          </a:xfrm>
          <a:prstGeom prst="rect">
            <a:avLst/>
          </a:prstGeom>
          <a:solidFill>
            <a:srgbClr val="EFF7DF"/>
          </a:solidFill>
          <a:ln w="12700">
            <a:solidFill>
              <a:srgbClr val="EFF7DF"/>
            </a:solidFill>
            <a:prstDash val="solid"/>
          </a:ln>
        </p:spPr>
      </p:sp>
      <p:sp>
        <p:nvSpPr>
          <p:cNvPr id="22" name="Text 20"/>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Cache 只消除相同 Program Key 的重复成本，不能提前覆盖未来新 Key。</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04 · KEY SPACE VS BUILD ASSETS</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700" b="1" dirty="0">
                <a:solidFill>
                  <a:srgbClr val="102A43"/>
                </a:solidFill>
                <a:latin typeface="PingFang SC" pitchFamily="34" charset="0"/>
                <a:ea typeface="PingFang SC" pitchFamily="34" charset="-122"/>
                <a:cs typeface="PingFang SC" pitchFamily="34" charset="-120"/>
              </a:rPr>
              <a:t>AOT 不只要提前编译，还要提前确定哪些 Program Key 会出现</a:t>
            </a:r>
            <a:endParaRPr lang="en-US" sz="27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04</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第3页说明 Cache 只能复用相同 Key；要把首次编译移出运行时，还必须先封闭未来可能出现的 Key。 </a:t>
            </a:r>
            <a:endParaRPr lang="en-US" sz="1600" dirty="0"/>
          </a:p>
        </p:txBody>
      </p:sp>
      <p:sp>
        <p:nvSpPr>
          <p:cNvPr id="8" name="Shape 6"/>
          <p:cNvSpPr/>
          <p:nvPr/>
        </p:nvSpPr>
        <p:spPr>
          <a:xfrm>
            <a:off x="713232" y="1847088"/>
            <a:ext cx="4992624" cy="3163824"/>
          </a:xfrm>
          <a:prstGeom prst="rect">
            <a:avLst/>
          </a:prstGeom>
          <a:solidFill>
            <a:srgbClr val="E6F4F3"/>
          </a:solidFill>
          <a:ln w="12700">
            <a:solidFill>
              <a:srgbClr val="E6F4F3"/>
            </a:solidFill>
            <a:prstDash val="solid"/>
          </a:ln>
        </p:spPr>
      </p:sp>
      <p:sp>
        <p:nvSpPr>
          <p:cNvPr id="9" name="Text 7"/>
          <p:cNvSpPr/>
          <p:nvPr/>
        </p:nvSpPr>
        <p:spPr>
          <a:xfrm>
            <a:off x="950976" y="2103120"/>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008C8C"/>
                </a:solidFill>
                <a:latin typeface="SF Mono" pitchFamily="34" charset="0"/>
                <a:ea typeface="SF Mono" pitchFamily="34" charset="-122"/>
                <a:cs typeface="SF Mono" pitchFamily="34" charset="-120"/>
              </a:rPr>
              <a:t>RUNTIME · KEY SPACE</a:t>
            </a:r>
            <a:endParaRPr lang="en-US" sz="1100" dirty="0"/>
          </a:p>
        </p:txBody>
      </p:sp>
      <p:sp>
        <p:nvSpPr>
          <p:cNvPr id="10" name="Shape 8"/>
          <p:cNvSpPr/>
          <p:nvPr/>
        </p:nvSpPr>
        <p:spPr>
          <a:xfrm>
            <a:off x="950976" y="2487168"/>
            <a:ext cx="992124" cy="713232"/>
          </a:xfrm>
          <a:prstGeom prst="rect">
            <a:avLst/>
          </a:prstGeom>
          <a:solidFill>
            <a:srgbClr val="FFFFFF"/>
          </a:solidFill>
          <a:ln w="12700">
            <a:solidFill>
              <a:srgbClr val="FFFFFF"/>
            </a:solidFill>
            <a:prstDash val="solid"/>
          </a:ln>
        </p:spPr>
      </p:sp>
      <p:sp>
        <p:nvSpPr>
          <p:cNvPr id="11" name="Text 9"/>
          <p:cNvSpPr/>
          <p:nvPr/>
        </p:nvSpPr>
        <p:spPr>
          <a:xfrm>
            <a:off x="1060704" y="2487168"/>
            <a:ext cx="772668" cy="71323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008C8C"/>
                </a:solidFill>
                <a:latin typeface="PingFang SC" pitchFamily="34" charset="0"/>
                <a:ea typeface="PingFang SC" pitchFamily="34" charset="-122"/>
                <a:cs typeface="PingFang SC" pitchFamily="34" charset="-120"/>
              </a:rPr>
              <a:t>Processor</a:t>
            </a:r>
            <a:endParaRPr lang="en-US" sz="1220" dirty="0"/>
          </a:p>
          <a:p>
            <a:pPr algn="ctr" indent="0" marL="0">
              <a:lnSpc>
                <a:spcPct val="104000"/>
              </a:lnSpc>
              <a:buNone/>
            </a:pPr>
            <a:r>
              <a:rPr lang="en-US" sz="1220" b="1" dirty="0">
                <a:solidFill>
                  <a:srgbClr val="008C8C"/>
                </a:solidFill>
                <a:latin typeface="PingFang SC" pitchFamily="34" charset="0"/>
                <a:ea typeface="PingFang SC" pitchFamily="34" charset="-122"/>
                <a:cs typeface="PingFang SC" pitchFamily="34" charset="-120"/>
              </a:rPr>
              <a:t>结构</a:t>
            </a:r>
            <a:endParaRPr lang="en-US" sz="1220" dirty="0"/>
          </a:p>
        </p:txBody>
      </p:sp>
      <p:sp>
        <p:nvSpPr>
          <p:cNvPr id="12" name="Shape 10"/>
          <p:cNvSpPr/>
          <p:nvPr/>
        </p:nvSpPr>
        <p:spPr>
          <a:xfrm>
            <a:off x="1979676" y="2843784"/>
            <a:ext cx="109728" cy="0"/>
          </a:xfrm>
          <a:prstGeom prst="line">
            <a:avLst/>
          </a:prstGeom>
          <a:noFill/>
          <a:ln w="22860">
            <a:solidFill>
              <a:srgbClr val="008C8C"/>
            </a:solidFill>
            <a:prstDash val="solid"/>
            <a:tailEnd type="triangle"/>
          </a:ln>
        </p:spPr>
      </p:sp>
      <p:sp>
        <p:nvSpPr>
          <p:cNvPr id="13" name="Shape 11"/>
          <p:cNvSpPr/>
          <p:nvPr/>
        </p:nvSpPr>
        <p:spPr>
          <a:xfrm>
            <a:off x="2125980" y="2487168"/>
            <a:ext cx="992124" cy="713232"/>
          </a:xfrm>
          <a:prstGeom prst="rect">
            <a:avLst/>
          </a:prstGeom>
          <a:solidFill>
            <a:srgbClr val="FFFFFF"/>
          </a:solidFill>
          <a:ln w="12700">
            <a:solidFill>
              <a:srgbClr val="FFFFFF"/>
            </a:solidFill>
            <a:prstDash val="solid"/>
          </a:ln>
        </p:spPr>
      </p:sp>
      <p:sp>
        <p:nvSpPr>
          <p:cNvPr id="14" name="Text 12"/>
          <p:cNvSpPr/>
          <p:nvPr/>
        </p:nvSpPr>
        <p:spPr>
          <a:xfrm>
            <a:off x="2235708" y="2487168"/>
            <a:ext cx="772668" cy="713232"/>
          </a:xfrm>
          <a:prstGeom prst="rect">
            <a:avLst/>
          </a:prstGeom>
          <a:noFill/>
          <a:ln/>
        </p:spPr>
        <p:txBody>
          <a:bodyPr wrap="square" lIns="0" tIns="0" rIns="0" bIns="0" rtlCol="0" anchor="ctr">
            <a:normAutofit/>
          </a:bodyPr>
          <a:lstStyle/>
          <a:p>
            <a:pPr algn="ctr" indent="0" marL="0">
              <a:lnSpc>
                <a:spcPct val="104000"/>
              </a:lnSpc>
              <a:buNone/>
            </a:pPr>
            <a:r>
              <a:rPr lang="en-US" sz="1260" b="1" dirty="0">
                <a:solidFill>
                  <a:srgbClr val="102A43"/>
                </a:solidFill>
                <a:latin typeface="PingFang SC" pitchFamily="34" charset="0"/>
                <a:ea typeface="PingFang SC" pitchFamily="34" charset="-122"/>
                <a:cs typeface="PingFang SC" pitchFamily="34" charset="-120"/>
              </a:rPr>
              <a:t>静态接口</a:t>
            </a:r>
            <a:endParaRPr lang="en-US" sz="1260" dirty="0"/>
          </a:p>
        </p:txBody>
      </p:sp>
      <p:sp>
        <p:nvSpPr>
          <p:cNvPr id="15" name="Shape 13"/>
          <p:cNvSpPr/>
          <p:nvPr/>
        </p:nvSpPr>
        <p:spPr>
          <a:xfrm>
            <a:off x="3154680" y="2843784"/>
            <a:ext cx="109728" cy="0"/>
          </a:xfrm>
          <a:prstGeom prst="line">
            <a:avLst/>
          </a:prstGeom>
          <a:noFill/>
          <a:ln w="22860">
            <a:solidFill>
              <a:srgbClr val="008C8C"/>
            </a:solidFill>
            <a:prstDash val="solid"/>
            <a:tailEnd type="triangle"/>
          </a:ln>
        </p:spPr>
      </p:sp>
      <p:sp>
        <p:nvSpPr>
          <p:cNvPr id="16" name="Shape 14"/>
          <p:cNvSpPr/>
          <p:nvPr/>
        </p:nvSpPr>
        <p:spPr>
          <a:xfrm>
            <a:off x="3300984" y="2487168"/>
            <a:ext cx="992124" cy="713232"/>
          </a:xfrm>
          <a:prstGeom prst="rect">
            <a:avLst/>
          </a:prstGeom>
          <a:solidFill>
            <a:srgbClr val="FFFFFF"/>
          </a:solidFill>
          <a:ln w="12700">
            <a:solidFill>
              <a:srgbClr val="FFFFFF"/>
            </a:solidFill>
            <a:prstDash val="solid"/>
          </a:ln>
        </p:spPr>
      </p:sp>
      <p:sp>
        <p:nvSpPr>
          <p:cNvPr id="17" name="Text 15"/>
          <p:cNvSpPr/>
          <p:nvPr/>
        </p:nvSpPr>
        <p:spPr>
          <a:xfrm>
            <a:off x="3410712" y="2487168"/>
            <a:ext cx="772668" cy="713232"/>
          </a:xfrm>
          <a:prstGeom prst="rect">
            <a:avLst/>
          </a:prstGeom>
          <a:noFill/>
          <a:ln/>
        </p:spPr>
        <p:txBody>
          <a:bodyPr wrap="square" lIns="0" tIns="0" rIns="0" bIns="0" rtlCol="0" anchor="ctr">
            <a:normAutofit/>
          </a:bodyPr>
          <a:lstStyle/>
          <a:p>
            <a:pPr algn="ctr" indent="0" marL="0">
              <a:lnSpc>
                <a:spcPct val="104000"/>
              </a:lnSpc>
              <a:buNone/>
            </a:pPr>
            <a:r>
              <a:rPr lang="en-US" sz="1080" b="1" dirty="0">
                <a:solidFill>
                  <a:srgbClr val="102A43"/>
                </a:solidFill>
                <a:latin typeface="PingFang SC" pitchFamily="34" charset="0"/>
                <a:ea typeface="PingFang SC" pitchFamily="34" charset="-122"/>
                <a:cs typeface="PingFang SC" pitchFamily="34" charset="-120"/>
              </a:rPr>
              <a:t>影响 Pipeline</a:t>
            </a:r>
            <a:endParaRPr lang="en-US" sz="1080" dirty="0"/>
          </a:p>
          <a:p>
            <a:pPr algn="ctr" indent="0" marL="0">
              <a:lnSpc>
                <a:spcPct val="104000"/>
              </a:lnSpc>
              <a:buNone/>
            </a:pPr>
            <a:r>
              <a:rPr lang="en-US" sz="1080" b="1" dirty="0">
                <a:solidFill>
                  <a:srgbClr val="102A43"/>
                </a:solidFill>
                <a:latin typeface="PingFang SC" pitchFamily="34" charset="0"/>
                <a:ea typeface="PingFang SC" pitchFamily="34" charset="-122"/>
                <a:cs typeface="PingFang SC" pitchFamily="34" charset="-120"/>
              </a:rPr>
              <a:t>的状态</a:t>
            </a:r>
            <a:endParaRPr lang="en-US" sz="1080" dirty="0"/>
          </a:p>
        </p:txBody>
      </p:sp>
      <p:sp>
        <p:nvSpPr>
          <p:cNvPr id="18" name="Shape 16"/>
          <p:cNvSpPr/>
          <p:nvPr/>
        </p:nvSpPr>
        <p:spPr>
          <a:xfrm>
            <a:off x="4329684" y="2843784"/>
            <a:ext cx="109728" cy="0"/>
          </a:xfrm>
          <a:prstGeom prst="line">
            <a:avLst/>
          </a:prstGeom>
          <a:noFill/>
          <a:ln w="22860">
            <a:solidFill>
              <a:srgbClr val="008C8C"/>
            </a:solidFill>
            <a:prstDash val="solid"/>
            <a:tailEnd type="triangle"/>
          </a:ln>
        </p:spPr>
      </p:sp>
      <p:sp>
        <p:nvSpPr>
          <p:cNvPr id="19" name="Shape 17"/>
          <p:cNvSpPr/>
          <p:nvPr/>
        </p:nvSpPr>
        <p:spPr>
          <a:xfrm>
            <a:off x="4475988" y="2487168"/>
            <a:ext cx="992124" cy="713232"/>
          </a:xfrm>
          <a:prstGeom prst="rect">
            <a:avLst/>
          </a:prstGeom>
          <a:solidFill>
            <a:srgbClr val="102A43"/>
          </a:solidFill>
          <a:ln w="12700">
            <a:solidFill>
              <a:srgbClr val="102A43"/>
            </a:solidFill>
            <a:prstDash val="solid"/>
          </a:ln>
        </p:spPr>
      </p:sp>
      <p:sp>
        <p:nvSpPr>
          <p:cNvPr id="20" name="Text 18"/>
          <p:cNvSpPr/>
          <p:nvPr/>
        </p:nvSpPr>
        <p:spPr>
          <a:xfrm>
            <a:off x="4585716" y="2487168"/>
            <a:ext cx="772668" cy="713232"/>
          </a:xfrm>
          <a:prstGeom prst="rect">
            <a:avLst/>
          </a:prstGeom>
          <a:noFill/>
          <a:ln/>
        </p:spPr>
        <p:txBody>
          <a:bodyPr wrap="square" lIns="0" tIns="0" rIns="0" bIns="0" rtlCol="0" anchor="ctr">
            <a:normAutofit/>
          </a:bodyPr>
          <a:lstStyle/>
          <a:p>
            <a:pPr algn="ctr" indent="0" marL="0">
              <a:lnSpc>
                <a:spcPct val="104000"/>
              </a:lnSpc>
              <a:buNone/>
            </a:pPr>
            <a:r>
              <a:rPr lang="en-US" sz="1180" b="1" dirty="0">
                <a:solidFill>
                  <a:srgbClr val="FFFFFF"/>
                </a:solidFill>
                <a:latin typeface="SF Mono" pitchFamily="34" charset="0"/>
                <a:ea typeface="SF Mono" pitchFamily="34" charset="-122"/>
                <a:cs typeface="SF Mono" pitchFamily="34" charset="-120"/>
              </a:rPr>
              <a:t>Program Key</a:t>
            </a:r>
            <a:endParaRPr lang="en-US" sz="1180" dirty="0"/>
          </a:p>
        </p:txBody>
      </p:sp>
      <p:sp>
        <p:nvSpPr>
          <p:cNvPr id="21" name="Text 19"/>
          <p:cNvSpPr/>
          <p:nvPr/>
        </p:nvSpPr>
        <p:spPr>
          <a:xfrm>
            <a:off x="1024128" y="3529584"/>
            <a:ext cx="4370832" cy="475488"/>
          </a:xfrm>
          <a:prstGeom prst="rect">
            <a:avLst/>
          </a:prstGeom>
          <a:noFill/>
          <a:ln/>
        </p:spPr>
        <p:txBody>
          <a:bodyPr wrap="square" lIns="0" tIns="0" rIns="0" bIns="0" rtlCol="0" anchor="ctr">
            <a:normAutofit/>
          </a:bodyPr>
          <a:lstStyle/>
          <a:p>
            <a:pPr algn="ctr" indent="0" marL="0">
              <a:lnSpc>
                <a:spcPct val="104000"/>
              </a:lnSpc>
              <a:buNone/>
            </a:pPr>
            <a:r>
              <a:rPr lang="en-US" sz="1520" b="1" dirty="0">
                <a:solidFill>
                  <a:srgbClr val="102A43"/>
                </a:solidFill>
                <a:latin typeface="PingFang SC" pitchFamily="34" charset="0"/>
                <a:ea typeface="PingFang SC" pitchFamily="34" charset="-122"/>
                <a:cs typeface="PingFang SC" pitchFamily="34" charset="-120"/>
              </a:rPr>
              <a:t>公开 API 与业务输入仍可能在运行时产生新 Key。</a:t>
            </a:r>
            <a:endParaRPr lang="en-US" sz="1520" dirty="0"/>
          </a:p>
        </p:txBody>
      </p:sp>
      <p:sp>
        <p:nvSpPr>
          <p:cNvPr id="22" name="Text 20"/>
          <p:cNvSpPr/>
          <p:nvPr/>
        </p:nvSpPr>
        <p:spPr>
          <a:xfrm>
            <a:off x="1426464" y="4297680"/>
            <a:ext cx="3566160" cy="274320"/>
          </a:xfrm>
          <a:prstGeom prst="rect">
            <a:avLst/>
          </a:prstGeom>
          <a:noFill/>
          <a:ln/>
        </p:spPr>
        <p:txBody>
          <a:bodyPr wrap="square" lIns="0" tIns="0" rIns="0" bIns="0" rtlCol="0" anchor="t">
            <a:normAutofit/>
          </a:bodyPr>
          <a:lstStyle/>
          <a:p>
            <a:pPr algn="ctr" indent="0" marL="0">
              <a:lnSpc>
                <a:spcPct val="104000"/>
              </a:lnSpc>
              <a:buNone/>
            </a:pPr>
            <a:r>
              <a:rPr lang="en-US" sz="1800" b="1" dirty="0">
                <a:solidFill>
                  <a:srgbClr val="008C8C"/>
                </a:solidFill>
                <a:latin typeface="PingFang SC" pitchFamily="34" charset="0"/>
                <a:ea typeface="PingFang SC" pitchFamily="34" charset="-122"/>
                <a:cs typeface="PingFang SC" pitchFamily="34" charset="-120"/>
              </a:rPr>
              <a:t>构建期无法枚举全部 Key</a:t>
            </a:r>
            <a:endParaRPr lang="en-US" sz="1800" dirty="0"/>
          </a:p>
        </p:txBody>
      </p:sp>
      <p:sp>
        <p:nvSpPr>
          <p:cNvPr id="23" name="Shape 21"/>
          <p:cNvSpPr/>
          <p:nvPr/>
        </p:nvSpPr>
        <p:spPr>
          <a:xfrm>
            <a:off x="6492240" y="1847088"/>
            <a:ext cx="4992624" cy="3163824"/>
          </a:xfrm>
          <a:prstGeom prst="rect">
            <a:avLst/>
          </a:prstGeom>
          <a:solidFill>
            <a:srgbClr val="EFF7DF"/>
          </a:solidFill>
          <a:ln w="12700">
            <a:solidFill>
              <a:srgbClr val="EFF7DF"/>
            </a:solidFill>
            <a:prstDash val="solid"/>
          </a:ln>
        </p:spPr>
      </p:sp>
      <p:sp>
        <p:nvSpPr>
          <p:cNvPr id="24" name="Text 22"/>
          <p:cNvSpPr/>
          <p:nvPr/>
        </p:nvSpPr>
        <p:spPr>
          <a:xfrm>
            <a:off x="6729984" y="2103120"/>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4F7F00"/>
                </a:solidFill>
                <a:latin typeface="SF Mono" pitchFamily="34" charset="0"/>
                <a:ea typeface="SF Mono" pitchFamily="34" charset="-122"/>
                <a:cs typeface="SF Mono" pitchFamily="34" charset="-120"/>
              </a:rPr>
              <a:t>BUILD · FINITE ASSETS</a:t>
            </a:r>
            <a:endParaRPr lang="en-US" sz="1100" dirty="0"/>
          </a:p>
        </p:txBody>
      </p:sp>
      <p:sp>
        <p:nvSpPr>
          <p:cNvPr id="25" name="Shape 23"/>
          <p:cNvSpPr/>
          <p:nvPr/>
        </p:nvSpPr>
        <p:spPr>
          <a:xfrm>
            <a:off x="6729984" y="2487168"/>
            <a:ext cx="1359408" cy="713232"/>
          </a:xfrm>
          <a:prstGeom prst="rect">
            <a:avLst/>
          </a:prstGeom>
          <a:solidFill>
            <a:srgbClr val="FFFFFF"/>
          </a:solidFill>
          <a:ln w="12700">
            <a:solidFill>
              <a:srgbClr val="FFFFFF"/>
            </a:solidFill>
            <a:prstDash val="solid"/>
          </a:ln>
        </p:spPr>
      </p:sp>
      <p:sp>
        <p:nvSpPr>
          <p:cNvPr id="26" name="Text 24"/>
          <p:cNvSpPr/>
          <p:nvPr/>
        </p:nvSpPr>
        <p:spPr>
          <a:xfrm>
            <a:off x="6839712" y="2487168"/>
            <a:ext cx="1139952" cy="71323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4F7F00"/>
                </a:solidFill>
                <a:latin typeface="PingFang SC" pitchFamily="34" charset="0"/>
                <a:ea typeface="PingFang SC" pitchFamily="34" charset="-122"/>
                <a:cs typeface="PingFang SC" pitchFamily="34" charset="-120"/>
              </a:rPr>
              <a:t>确定 Shader</a:t>
            </a:r>
            <a:endParaRPr lang="en-US" sz="1220" dirty="0"/>
          </a:p>
          <a:p>
            <a:pPr algn="ctr" indent="0" marL="0">
              <a:lnSpc>
                <a:spcPct val="104000"/>
              </a:lnSpc>
              <a:buNone/>
            </a:pPr>
            <a:r>
              <a:rPr lang="en-US" sz="1220" b="1" dirty="0">
                <a:solidFill>
                  <a:srgbClr val="4F7F00"/>
                </a:solidFill>
                <a:latin typeface="PingFang SC" pitchFamily="34" charset="0"/>
                <a:ea typeface="PingFang SC" pitchFamily="34" charset="-122"/>
                <a:cs typeface="PingFang SC" pitchFamily="34" charset="-120"/>
              </a:rPr>
              <a:t>范围</a:t>
            </a:r>
            <a:endParaRPr lang="en-US" sz="1220" dirty="0"/>
          </a:p>
        </p:txBody>
      </p:sp>
      <p:sp>
        <p:nvSpPr>
          <p:cNvPr id="27" name="Shape 25"/>
          <p:cNvSpPr/>
          <p:nvPr/>
        </p:nvSpPr>
        <p:spPr>
          <a:xfrm>
            <a:off x="8125968" y="2843784"/>
            <a:ext cx="146304" cy="0"/>
          </a:xfrm>
          <a:prstGeom prst="line">
            <a:avLst/>
          </a:prstGeom>
          <a:noFill/>
          <a:ln w="22860">
            <a:solidFill>
              <a:srgbClr val="76B900"/>
            </a:solidFill>
            <a:prstDash val="solid"/>
            <a:tailEnd type="triangle"/>
          </a:ln>
        </p:spPr>
      </p:sp>
      <p:sp>
        <p:nvSpPr>
          <p:cNvPr id="28" name="Shape 26"/>
          <p:cNvSpPr/>
          <p:nvPr/>
        </p:nvSpPr>
        <p:spPr>
          <a:xfrm>
            <a:off x="8308848" y="2487168"/>
            <a:ext cx="1359408" cy="713232"/>
          </a:xfrm>
          <a:prstGeom prst="rect">
            <a:avLst/>
          </a:prstGeom>
          <a:solidFill>
            <a:srgbClr val="FFFFFF"/>
          </a:solidFill>
          <a:ln w="12700">
            <a:solidFill>
              <a:srgbClr val="FFFFFF"/>
            </a:solidFill>
            <a:prstDash val="solid"/>
          </a:ln>
        </p:spPr>
      </p:sp>
      <p:sp>
        <p:nvSpPr>
          <p:cNvPr id="29" name="Text 27"/>
          <p:cNvSpPr/>
          <p:nvPr/>
        </p:nvSpPr>
        <p:spPr>
          <a:xfrm>
            <a:off x="8418576" y="2487168"/>
            <a:ext cx="1139952" cy="713232"/>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Backend</a:t>
            </a:r>
            <a:endParaRPr lang="en-US" sz="1220" dirty="0"/>
          </a:p>
          <a:p>
            <a:pPr algn="ctr"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编译</a:t>
            </a:r>
            <a:endParaRPr lang="en-US" sz="1220" dirty="0"/>
          </a:p>
        </p:txBody>
      </p:sp>
      <p:sp>
        <p:nvSpPr>
          <p:cNvPr id="30" name="Shape 28"/>
          <p:cNvSpPr/>
          <p:nvPr/>
        </p:nvSpPr>
        <p:spPr>
          <a:xfrm>
            <a:off x="9704832" y="2843784"/>
            <a:ext cx="146304" cy="0"/>
          </a:xfrm>
          <a:prstGeom prst="line">
            <a:avLst/>
          </a:prstGeom>
          <a:noFill/>
          <a:ln w="22860">
            <a:solidFill>
              <a:srgbClr val="76B900"/>
            </a:solidFill>
            <a:prstDash val="solid"/>
            <a:tailEnd type="triangle"/>
          </a:ln>
        </p:spPr>
      </p:sp>
      <p:sp>
        <p:nvSpPr>
          <p:cNvPr id="31" name="Shape 29"/>
          <p:cNvSpPr/>
          <p:nvPr/>
        </p:nvSpPr>
        <p:spPr>
          <a:xfrm>
            <a:off x="9887712" y="2487168"/>
            <a:ext cx="1359408" cy="713232"/>
          </a:xfrm>
          <a:prstGeom prst="rect">
            <a:avLst/>
          </a:prstGeom>
          <a:solidFill>
            <a:srgbClr val="102A43"/>
          </a:solidFill>
          <a:ln w="12700">
            <a:solidFill>
              <a:srgbClr val="102A43"/>
            </a:solidFill>
            <a:prstDash val="solid"/>
          </a:ln>
        </p:spPr>
      </p:sp>
      <p:sp>
        <p:nvSpPr>
          <p:cNvPr id="32" name="Text 30"/>
          <p:cNvSpPr/>
          <p:nvPr/>
        </p:nvSpPr>
        <p:spPr>
          <a:xfrm>
            <a:off x="9997440" y="2487168"/>
            <a:ext cx="1139952" cy="713232"/>
          </a:xfrm>
          <a:prstGeom prst="rect">
            <a:avLst/>
          </a:prstGeom>
          <a:noFill/>
          <a:ln/>
        </p:spPr>
        <p:txBody>
          <a:bodyPr wrap="square" lIns="0" tIns="0" rIns="0" bIns="0" rtlCol="0" anchor="ctr">
            <a:normAutofit/>
          </a:bodyPr>
          <a:lstStyle/>
          <a:p>
            <a:pPr algn="ctr" indent="0" marL="0">
              <a:lnSpc>
                <a:spcPct val="104000"/>
              </a:lnSpc>
              <a:buNone/>
            </a:pPr>
            <a:r>
              <a:rPr lang="en-US" sz="1240" b="1" dirty="0">
                <a:solidFill>
                  <a:srgbClr val="FFFFFF"/>
                </a:solidFill>
                <a:latin typeface="SF Mono" pitchFamily="34" charset="0"/>
                <a:ea typeface="SF Mono" pitchFamily="34" charset="-122"/>
                <a:cs typeface="SF Mono" pitchFamily="34" charset="-120"/>
              </a:rPr>
              <a:t>Bundle</a:t>
            </a:r>
            <a:endParaRPr lang="en-US" sz="1240" dirty="0"/>
          </a:p>
        </p:txBody>
      </p:sp>
      <p:sp>
        <p:nvSpPr>
          <p:cNvPr id="33" name="Text 31"/>
          <p:cNvSpPr/>
          <p:nvPr/>
        </p:nvSpPr>
        <p:spPr>
          <a:xfrm>
            <a:off x="6803136" y="3529584"/>
            <a:ext cx="4370832" cy="475488"/>
          </a:xfrm>
          <a:prstGeom prst="rect">
            <a:avLst/>
          </a:prstGeom>
          <a:noFill/>
          <a:ln/>
        </p:spPr>
        <p:txBody>
          <a:bodyPr wrap="square" lIns="0" tIns="0" rIns="0" bIns="0" rtlCol="0" anchor="ctr">
            <a:normAutofit/>
          </a:bodyPr>
          <a:lstStyle/>
          <a:p>
            <a:pPr algn="ctr" indent="0" marL="0">
              <a:lnSpc>
                <a:spcPct val="104000"/>
              </a:lnSpc>
              <a:buNone/>
            </a:pPr>
            <a:r>
              <a:rPr lang="en-US" sz="1520" b="1" dirty="0">
                <a:solidFill>
                  <a:srgbClr val="102A43"/>
                </a:solidFill>
                <a:latin typeface="PingFang SC" pitchFamily="34" charset="0"/>
                <a:ea typeface="PingFang SC" pitchFamily="34" charset="-122"/>
                <a:cs typeface="PingFang SC" pitchFamily="34" charset="-120"/>
              </a:rPr>
              <a:t>运行时 Key 必须能映射到已经准备好的资产。</a:t>
            </a:r>
            <a:endParaRPr lang="en-US" sz="1520" dirty="0"/>
          </a:p>
        </p:txBody>
      </p:sp>
      <p:sp>
        <p:nvSpPr>
          <p:cNvPr id="34" name="Text 32"/>
          <p:cNvSpPr/>
          <p:nvPr/>
        </p:nvSpPr>
        <p:spPr>
          <a:xfrm>
            <a:off x="7205472" y="4297680"/>
            <a:ext cx="3566160" cy="274320"/>
          </a:xfrm>
          <a:prstGeom prst="rect">
            <a:avLst/>
          </a:prstGeom>
          <a:noFill/>
          <a:ln/>
        </p:spPr>
        <p:txBody>
          <a:bodyPr wrap="square" lIns="0" tIns="0" rIns="0" bIns="0" rtlCol="0" anchor="t">
            <a:normAutofit/>
          </a:bodyPr>
          <a:lstStyle/>
          <a:p>
            <a:pPr algn="ctr" indent="0" marL="0">
              <a:lnSpc>
                <a:spcPct val="104000"/>
              </a:lnSpc>
              <a:buNone/>
            </a:pPr>
            <a:r>
              <a:rPr lang="en-US" sz="1800" b="1" dirty="0">
                <a:solidFill>
                  <a:srgbClr val="4F7F00"/>
                </a:solidFill>
                <a:latin typeface="PingFang SC" pitchFamily="34" charset="0"/>
                <a:ea typeface="PingFang SC" pitchFamily="34" charset="-122"/>
                <a:cs typeface="PingFang SC" pitchFamily="34" charset="-120"/>
              </a:rPr>
              <a:t>资产集合必须有限</a:t>
            </a:r>
            <a:endParaRPr lang="en-US" sz="1800" dirty="0"/>
          </a:p>
        </p:txBody>
      </p:sp>
      <p:sp>
        <p:nvSpPr>
          <p:cNvPr id="35" name="Shape 33"/>
          <p:cNvSpPr/>
          <p:nvPr/>
        </p:nvSpPr>
        <p:spPr>
          <a:xfrm>
            <a:off x="5815584" y="2322576"/>
            <a:ext cx="0" cy="2395728"/>
          </a:xfrm>
          <a:prstGeom prst="line">
            <a:avLst/>
          </a:prstGeom>
          <a:noFill/>
          <a:ln w="19050">
            <a:solidFill>
              <a:srgbClr val="D95D4F"/>
            </a:solidFill>
            <a:prstDash val="dash"/>
          </a:ln>
        </p:spPr>
      </p:sp>
      <p:sp>
        <p:nvSpPr>
          <p:cNvPr id="36" name="Shape 34"/>
          <p:cNvSpPr/>
          <p:nvPr/>
        </p:nvSpPr>
        <p:spPr>
          <a:xfrm>
            <a:off x="3584448" y="5084064"/>
            <a:ext cx="5029200" cy="402336"/>
          </a:xfrm>
          <a:prstGeom prst="rect">
            <a:avLst/>
          </a:prstGeom>
          <a:solidFill>
            <a:srgbClr val="FBECE9"/>
          </a:solidFill>
          <a:ln w="12700">
            <a:solidFill>
              <a:srgbClr val="D95D4F"/>
            </a:solidFill>
            <a:prstDash val="solid"/>
          </a:ln>
        </p:spPr>
      </p:sp>
      <p:sp>
        <p:nvSpPr>
          <p:cNvPr id="37" name="Text 35"/>
          <p:cNvSpPr/>
          <p:nvPr/>
        </p:nvSpPr>
        <p:spPr>
          <a:xfrm>
            <a:off x="3694176" y="5084064"/>
            <a:ext cx="4809744" cy="402336"/>
          </a:xfrm>
          <a:prstGeom prst="rect">
            <a:avLst/>
          </a:prstGeom>
          <a:noFill/>
          <a:ln/>
        </p:spPr>
        <p:txBody>
          <a:bodyPr wrap="square" lIns="0" tIns="0" rIns="0" bIns="0" rtlCol="0" anchor="ctr">
            <a:normAutofit/>
          </a:bodyPr>
          <a:lstStyle/>
          <a:p>
            <a:pPr algn="ctr" indent="0" marL="0">
              <a:lnSpc>
                <a:spcPct val="104000"/>
              </a:lnSpc>
              <a:buNone/>
            </a:pPr>
            <a:r>
              <a:rPr lang="en-US" sz="1370" b="1" dirty="0">
                <a:solidFill>
                  <a:srgbClr val="D95D4F"/>
                </a:solidFill>
                <a:latin typeface="PingFang SC" pitchFamily="34" charset="0"/>
                <a:ea typeface="PingFang SC" pitchFamily="34" charset="-122"/>
                <a:cs typeface="PingFang SC" pitchFamily="34" charset="-120"/>
              </a:rPr>
              <a:t>运行时输入持续产生新 Key  ↔  构建期资产必须有限</a:t>
            </a:r>
            <a:endParaRPr lang="en-US" sz="1370" dirty="0"/>
          </a:p>
        </p:txBody>
      </p:sp>
      <p:sp>
        <p:nvSpPr>
          <p:cNvPr id="38" name="Shape 36"/>
          <p:cNvSpPr/>
          <p:nvPr/>
        </p:nvSpPr>
        <p:spPr>
          <a:xfrm>
            <a:off x="658368" y="5742432"/>
            <a:ext cx="10874959" cy="438912"/>
          </a:xfrm>
          <a:prstGeom prst="rect">
            <a:avLst/>
          </a:prstGeom>
          <a:solidFill>
            <a:srgbClr val="EFF7DF"/>
          </a:solidFill>
          <a:ln w="12700">
            <a:solidFill>
              <a:srgbClr val="EFF7DF"/>
            </a:solidFill>
            <a:prstDash val="solid"/>
          </a:ln>
        </p:spPr>
      </p:sp>
      <p:sp>
        <p:nvSpPr>
          <p:cNvPr id="39" name="Text 37"/>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AOT 首先要回答的不是怎么编译，而是谁能在构建期给出有限集合。</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05 · INDUSTRY RESPONSIBILITY</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900" b="1" dirty="0">
                <a:solidFill>
                  <a:srgbClr val="102A43"/>
                </a:solidFill>
                <a:latin typeface="PingFang SC" pitchFamily="34" charset="0"/>
                <a:ea typeface="PingFang SC" pitchFamily="34" charset="-122"/>
                <a:cs typeface="PingFang SC" pitchFamily="34" charset="-120"/>
              </a:rPr>
              <a:t>三种行业方案的主要差异：谁负责定义有限集合</a:t>
            </a:r>
            <a:endParaRPr lang="en-US" sz="29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05</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三类方案采用不同的信息来源来界定预编译范围；责任边界决定了覆盖能力与漏项处理。 </a:t>
            </a:r>
            <a:endParaRPr lang="en-US" sz="1600" dirty="0"/>
          </a:p>
        </p:txBody>
      </p:sp>
      <p:sp>
        <p:nvSpPr>
          <p:cNvPr id="8" name="Shape 6"/>
          <p:cNvSpPr/>
          <p:nvPr/>
        </p:nvSpPr>
        <p:spPr>
          <a:xfrm>
            <a:off x="713232" y="1847088"/>
            <a:ext cx="2139696" cy="457200"/>
          </a:xfrm>
          <a:prstGeom prst="rect">
            <a:avLst/>
          </a:prstGeom>
          <a:solidFill>
            <a:srgbClr val="102A43"/>
          </a:solidFill>
          <a:ln w="12700">
            <a:solidFill>
              <a:srgbClr val="102A43"/>
            </a:solidFill>
            <a:prstDash val="solid"/>
          </a:ln>
        </p:spPr>
      </p:sp>
      <p:sp>
        <p:nvSpPr>
          <p:cNvPr id="9" name="Text 7"/>
          <p:cNvSpPr/>
          <p:nvPr/>
        </p:nvSpPr>
        <p:spPr>
          <a:xfrm>
            <a:off x="859536" y="1847088"/>
            <a:ext cx="1847088" cy="457200"/>
          </a:xfrm>
          <a:prstGeom prst="rect">
            <a:avLst/>
          </a:prstGeom>
          <a:noFill/>
          <a:ln/>
        </p:spPr>
        <p:txBody>
          <a:bodyPr wrap="square" lIns="0" tIns="0" rIns="0" bIns="0" rtlCol="0" anchor="ctr">
            <a:normAutofit/>
          </a:bodyPr>
          <a:lstStyle/>
          <a:p>
            <a:pPr algn="l" indent="0" marL="0">
              <a:lnSpc>
                <a:spcPct val="104000"/>
              </a:lnSpc>
              <a:buNone/>
            </a:pPr>
            <a:r>
              <a:rPr lang="en-US" sz="1300" b="1" dirty="0">
                <a:solidFill>
                  <a:srgbClr val="FFFFFF"/>
                </a:solidFill>
                <a:latin typeface="PingFang SC" pitchFamily="34" charset="0"/>
                <a:ea typeface="PingFang SC" pitchFamily="34" charset="-122"/>
                <a:cs typeface="PingFang SC" pitchFamily="34" charset="-120"/>
              </a:rPr>
              <a:t>方案</a:t>
            </a:r>
            <a:endParaRPr lang="en-US" sz="1300" dirty="0"/>
          </a:p>
        </p:txBody>
      </p:sp>
      <p:sp>
        <p:nvSpPr>
          <p:cNvPr id="10" name="Shape 8"/>
          <p:cNvSpPr/>
          <p:nvPr/>
        </p:nvSpPr>
        <p:spPr>
          <a:xfrm>
            <a:off x="2852928" y="1847088"/>
            <a:ext cx="2048256" cy="457200"/>
          </a:xfrm>
          <a:prstGeom prst="rect">
            <a:avLst/>
          </a:prstGeom>
          <a:solidFill>
            <a:srgbClr val="102A43"/>
          </a:solidFill>
          <a:ln w="12700">
            <a:solidFill>
              <a:srgbClr val="102A43"/>
            </a:solidFill>
            <a:prstDash val="solid"/>
          </a:ln>
        </p:spPr>
      </p:sp>
      <p:sp>
        <p:nvSpPr>
          <p:cNvPr id="11" name="Text 9"/>
          <p:cNvSpPr/>
          <p:nvPr/>
        </p:nvSpPr>
        <p:spPr>
          <a:xfrm>
            <a:off x="2999232" y="1847088"/>
            <a:ext cx="1755648" cy="457200"/>
          </a:xfrm>
          <a:prstGeom prst="rect">
            <a:avLst/>
          </a:prstGeom>
          <a:noFill/>
          <a:ln/>
        </p:spPr>
        <p:txBody>
          <a:bodyPr wrap="square" lIns="0" tIns="0" rIns="0" bIns="0" rtlCol="0" anchor="ctr">
            <a:normAutofit/>
          </a:bodyPr>
          <a:lstStyle/>
          <a:p>
            <a:pPr algn="l" indent="0" marL="0">
              <a:lnSpc>
                <a:spcPct val="104000"/>
              </a:lnSpc>
              <a:buNone/>
            </a:pPr>
            <a:r>
              <a:rPr lang="en-US" sz="1300" b="1" dirty="0">
                <a:solidFill>
                  <a:srgbClr val="FFFFFF"/>
                </a:solidFill>
                <a:latin typeface="PingFang SC" pitchFamily="34" charset="0"/>
                <a:ea typeface="PingFang SC" pitchFamily="34" charset="-122"/>
                <a:cs typeface="PingFang SC" pitchFamily="34" charset="-120"/>
              </a:rPr>
              <a:t>谁定义集合</a:t>
            </a:r>
            <a:endParaRPr lang="en-US" sz="1300" dirty="0"/>
          </a:p>
        </p:txBody>
      </p:sp>
      <p:sp>
        <p:nvSpPr>
          <p:cNvPr id="12" name="Shape 10"/>
          <p:cNvSpPr/>
          <p:nvPr/>
        </p:nvSpPr>
        <p:spPr>
          <a:xfrm>
            <a:off x="4901184" y="1847088"/>
            <a:ext cx="2743200" cy="457200"/>
          </a:xfrm>
          <a:prstGeom prst="rect">
            <a:avLst/>
          </a:prstGeom>
          <a:solidFill>
            <a:srgbClr val="102A43"/>
          </a:solidFill>
          <a:ln w="12700">
            <a:solidFill>
              <a:srgbClr val="102A43"/>
            </a:solidFill>
            <a:prstDash val="solid"/>
          </a:ln>
        </p:spPr>
      </p:sp>
      <p:sp>
        <p:nvSpPr>
          <p:cNvPr id="13" name="Text 11"/>
          <p:cNvSpPr/>
          <p:nvPr/>
        </p:nvSpPr>
        <p:spPr>
          <a:xfrm>
            <a:off x="5047488" y="1847088"/>
            <a:ext cx="2450592" cy="457200"/>
          </a:xfrm>
          <a:prstGeom prst="rect">
            <a:avLst/>
          </a:prstGeom>
          <a:noFill/>
          <a:ln/>
        </p:spPr>
        <p:txBody>
          <a:bodyPr wrap="square" lIns="0" tIns="0" rIns="0" bIns="0" rtlCol="0" anchor="ctr">
            <a:normAutofit/>
          </a:bodyPr>
          <a:lstStyle/>
          <a:p>
            <a:pPr algn="l" indent="0" marL="0">
              <a:lnSpc>
                <a:spcPct val="104000"/>
              </a:lnSpc>
              <a:buNone/>
            </a:pPr>
            <a:r>
              <a:rPr lang="en-US" sz="1300" b="1" dirty="0">
                <a:solidFill>
                  <a:srgbClr val="FFFFFF"/>
                </a:solidFill>
                <a:latin typeface="PingFang SC" pitchFamily="34" charset="0"/>
                <a:ea typeface="PingFang SC" pitchFamily="34" charset="-122"/>
                <a:cs typeface="PingFang SC" pitchFamily="34" charset="-120"/>
              </a:rPr>
              <a:t>依据</a:t>
            </a:r>
            <a:endParaRPr lang="en-US" sz="1300" dirty="0"/>
          </a:p>
        </p:txBody>
      </p:sp>
      <p:sp>
        <p:nvSpPr>
          <p:cNvPr id="14" name="Shape 12"/>
          <p:cNvSpPr/>
          <p:nvPr/>
        </p:nvSpPr>
        <p:spPr>
          <a:xfrm>
            <a:off x="7644384" y="1847088"/>
            <a:ext cx="3840480" cy="457200"/>
          </a:xfrm>
          <a:prstGeom prst="rect">
            <a:avLst/>
          </a:prstGeom>
          <a:solidFill>
            <a:srgbClr val="102A43"/>
          </a:solidFill>
          <a:ln w="12700">
            <a:solidFill>
              <a:srgbClr val="102A43"/>
            </a:solidFill>
            <a:prstDash val="solid"/>
          </a:ln>
        </p:spPr>
      </p:sp>
      <p:sp>
        <p:nvSpPr>
          <p:cNvPr id="15" name="Text 13"/>
          <p:cNvSpPr/>
          <p:nvPr/>
        </p:nvSpPr>
        <p:spPr>
          <a:xfrm>
            <a:off x="7790688" y="1847088"/>
            <a:ext cx="3547872" cy="457200"/>
          </a:xfrm>
          <a:prstGeom prst="rect">
            <a:avLst/>
          </a:prstGeom>
          <a:noFill/>
          <a:ln/>
        </p:spPr>
        <p:txBody>
          <a:bodyPr wrap="square" lIns="0" tIns="0" rIns="0" bIns="0" rtlCol="0" anchor="ctr">
            <a:normAutofit/>
          </a:bodyPr>
          <a:lstStyle/>
          <a:p>
            <a:pPr algn="l" indent="0" marL="0">
              <a:lnSpc>
                <a:spcPct val="104000"/>
              </a:lnSpc>
              <a:buNone/>
            </a:pPr>
            <a:r>
              <a:rPr lang="en-US" sz="1300" b="1" dirty="0">
                <a:solidFill>
                  <a:srgbClr val="FFFFFF"/>
                </a:solidFill>
                <a:latin typeface="PingFang SC" pitchFamily="34" charset="0"/>
                <a:ea typeface="PingFang SC" pitchFamily="34" charset="-122"/>
                <a:cs typeface="PingFang SC" pitchFamily="34" charset="-120"/>
              </a:rPr>
              <a:t>未覆盖怎么办</a:t>
            </a:r>
            <a:endParaRPr lang="en-US" sz="1300" dirty="0"/>
          </a:p>
        </p:txBody>
      </p:sp>
      <p:sp>
        <p:nvSpPr>
          <p:cNvPr id="16" name="Shape 14"/>
          <p:cNvSpPr/>
          <p:nvPr/>
        </p:nvSpPr>
        <p:spPr>
          <a:xfrm>
            <a:off x="713232" y="2304288"/>
            <a:ext cx="10771632" cy="932688"/>
          </a:xfrm>
          <a:prstGeom prst="rect">
            <a:avLst/>
          </a:prstGeom>
          <a:solidFill>
            <a:srgbClr val="FFFFFF"/>
          </a:solidFill>
          <a:ln w="10160">
            <a:solidFill>
              <a:srgbClr val="D9E2EC"/>
            </a:solidFill>
            <a:prstDash val="solid"/>
          </a:ln>
        </p:spPr>
      </p:sp>
      <p:sp>
        <p:nvSpPr>
          <p:cNvPr id="17" name="Shape 15"/>
          <p:cNvSpPr/>
          <p:nvPr/>
        </p:nvSpPr>
        <p:spPr>
          <a:xfrm>
            <a:off x="713232" y="2304288"/>
            <a:ext cx="73152" cy="932688"/>
          </a:xfrm>
          <a:prstGeom prst="rect">
            <a:avLst/>
          </a:prstGeom>
          <a:solidFill>
            <a:srgbClr val="E6F4F3"/>
          </a:solidFill>
          <a:ln w="12700">
            <a:solidFill>
              <a:srgbClr val="E6F4F3"/>
            </a:solidFill>
            <a:prstDash val="solid"/>
          </a:ln>
        </p:spPr>
      </p:sp>
      <p:sp>
        <p:nvSpPr>
          <p:cNvPr id="18" name="Text 16"/>
          <p:cNvSpPr/>
          <p:nvPr/>
        </p:nvSpPr>
        <p:spPr>
          <a:xfrm>
            <a:off x="932688" y="2304288"/>
            <a:ext cx="1773936" cy="932688"/>
          </a:xfrm>
          <a:prstGeom prst="rect">
            <a:avLst/>
          </a:prstGeom>
          <a:noFill/>
          <a:ln/>
        </p:spPr>
        <p:txBody>
          <a:bodyPr wrap="square" lIns="0" tIns="0" rIns="0" bIns="0" rtlCol="0" anchor="ctr">
            <a:normAutofit/>
          </a:bodyPr>
          <a:lstStyle/>
          <a:p>
            <a:pPr algn="l" indent="0" marL="0">
              <a:lnSpc>
                <a:spcPct val="104000"/>
              </a:lnSpc>
              <a:buNone/>
            </a:pPr>
            <a:r>
              <a:rPr lang="en-US" sz="1520" b="1" dirty="0">
                <a:solidFill>
                  <a:srgbClr val="008C8C"/>
                </a:solidFill>
                <a:latin typeface="PingFang SC" pitchFamily="34" charset="0"/>
                <a:ea typeface="PingFang SC" pitchFamily="34" charset="-122"/>
                <a:cs typeface="PingFang SC" pitchFamily="34" charset="-120"/>
              </a:rPr>
              <a:t>Flutter Impeller</a:t>
            </a:r>
            <a:endParaRPr lang="en-US" sz="1520" dirty="0"/>
          </a:p>
        </p:txBody>
      </p:sp>
      <p:sp>
        <p:nvSpPr>
          <p:cNvPr id="19" name="Text 17"/>
          <p:cNvSpPr/>
          <p:nvPr/>
        </p:nvSpPr>
        <p:spPr>
          <a:xfrm>
            <a:off x="3017520" y="2304288"/>
            <a:ext cx="1719072" cy="932688"/>
          </a:xfrm>
          <a:prstGeom prst="rect">
            <a:avLst/>
          </a:prstGeom>
          <a:noFill/>
          <a:ln/>
        </p:spPr>
        <p:txBody>
          <a:bodyPr wrap="square" lIns="0" tIns="0" rIns="0" bIns="0" rtlCol="0" anchor="ctr">
            <a:normAutofit/>
          </a:bodyPr>
          <a:lstStyle/>
          <a:p>
            <a:pPr algn="l" indent="0" marL="0">
              <a:lnSpc>
                <a:spcPct val="104000"/>
              </a:lnSpc>
              <a:buNone/>
            </a:pPr>
            <a:r>
              <a:rPr lang="en-US" sz="1460" b="1" dirty="0">
                <a:solidFill>
                  <a:srgbClr val="102A43"/>
                </a:solidFill>
                <a:latin typeface="PingFang SC" pitchFamily="34" charset="0"/>
                <a:ea typeface="PingFang SC" pitchFamily="34" charset="-122"/>
                <a:cs typeface="PingFang SC" pitchFamily="34" charset="-120"/>
              </a:rPr>
              <a:t>引擎</a:t>
            </a:r>
            <a:endParaRPr lang="en-US" sz="1460" dirty="0"/>
          </a:p>
        </p:txBody>
      </p:sp>
      <p:sp>
        <p:nvSpPr>
          <p:cNvPr id="20" name="Text 18"/>
          <p:cNvSpPr/>
          <p:nvPr/>
        </p:nvSpPr>
        <p:spPr>
          <a:xfrm>
            <a:off x="5065776" y="2304288"/>
            <a:ext cx="2414016" cy="932688"/>
          </a:xfrm>
          <a:prstGeom prst="rect">
            <a:avLst/>
          </a:prstGeom>
          <a:noFill/>
          <a:ln/>
        </p:spPr>
        <p:txBody>
          <a:bodyPr wrap="square" lIns="0" tIns="0" rIns="0" bIns="0" rtlCol="0" anchor="ctr">
            <a:normAutofit/>
          </a:bodyPr>
          <a:lstStyle/>
          <a:p>
            <a:pPr algn="l" indent="0" marL="0">
              <a:lnSpc>
                <a:spcPct val="104000"/>
              </a:lnSpc>
              <a:buNone/>
            </a:pPr>
            <a:r>
              <a:rPr lang="en-US" sz="1440" b="1" dirty="0">
                <a:solidFill>
                  <a:srgbClr val="102A43"/>
                </a:solidFill>
                <a:latin typeface="PingFang SC" pitchFamily="34" charset="0"/>
                <a:ea typeface="PingFang SC" pitchFamily="34" charset="-122"/>
                <a:cs typeface="PingFang SC" pitchFamily="34" charset="-120"/>
              </a:rPr>
              <a:t>固定渲染能力</a:t>
            </a:r>
            <a:endParaRPr lang="en-US" sz="1440" dirty="0"/>
          </a:p>
        </p:txBody>
      </p:sp>
      <p:sp>
        <p:nvSpPr>
          <p:cNvPr id="21" name="Text 19"/>
          <p:cNvSpPr/>
          <p:nvPr/>
        </p:nvSpPr>
        <p:spPr>
          <a:xfrm>
            <a:off x="7808976" y="2304288"/>
            <a:ext cx="3456432" cy="932688"/>
          </a:xfrm>
          <a:prstGeom prst="rect">
            <a:avLst/>
          </a:prstGeom>
          <a:noFill/>
          <a:ln/>
        </p:spPr>
        <p:txBody>
          <a:bodyPr wrap="square" lIns="0" tIns="0" rIns="0" bIns="0" rtlCol="0" anchor="ctr">
            <a:normAutofit/>
          </a:bodyPr>
          <a:lstStyle/>
          <a:p>
            <a:pPr algn="l" indent="0" marL="0">
              <a:lnSpc>
                <a:spcPct val="104000"/>
              </a:lnSpc>
              <a:buNone/>
            </a:pPr>
            <a:r>
              <a:rPr lang="en-US" sz="1420" b="1" dirty="0">
                <a:solidFill>
                  <a:srgbClr val="102A43"/>
                </a:solidFill>
                <a:latin typeface="PingFang SC" pitchFamily="34" charset="0"/>
                <a:ea typeface="PingFang SC" pitchFamily="34" charset="-122"/>
                <a:cs typeface="PingFang SC" pitchFamily="34" charset="-120"/>
              </a:rPr>
              <a:t>扩展引擎能力集</a:t>
            </a:r>
            <a:endParaRPr lang="en-US" sz="1420" dirty="0"/>
          </a:p>
        </p:txBody>
      </p:sp>
      <p:sp>
        <p:nvSpPr>
          <p:cNvPr id="22" name="Shape 20"/>
          <p:cNvSpPr/>
          <p:nvPr/>
        </p:nvSpPr>
        <p:spPr>
          <a:xfrm>
            <a:off x="713232" y="3236976"/>
            <a:ext cx="10771632" cy="932688"/>
          </a:xfrm>
          <a:prstGeom prst="rect">
            <a:avLst/>
          </a:prstGeom>
          <a:solidFill>
            <a:srgbClr val="F4F7F9"/>
          </a:solidFill>
          <a:ln w="10160">
            <a:solidFill>
              <a:srgbClr val="D9E2EC"/>
            </a:solidFill>
            <a:prstDash val="solid"/>
          </a:ln>
        </p:spPr>
      </p:sp>
      <p:sp>
        <p:nvSpPr>
          <p:cNvPr id="23" name="Shape 21"/>
          <p:cNvSpPr/>
          <p:nvPr/>
        </p:nvSpPr>
        <p:spPr>
          <a:xfrm>
            <a:off x="713232" y="3236976"/>
            <a:ext cx="73152" cy="932688"/>
          </a:xfrm>
          <a:prstGeom prst="rect">
            <a:avLst/>
          </a:prstGeom>
          <a:solidFill>
            <a:srgbClr val="EFF7DF"/>
          </a:solidFill>
          <a:ln w="12700">
            <a:solidFill>
              <a:srgbClr val="EFF7DF"/>
            </a:solidFill>
            <a:prstDash val="solid"/>
          </a:ln>
        </p:spPr>
      </p:sp>
      <p:sp>
        <p:nvSpPr>
          <p:cNvPr id="24" name="Text 22"/>
          <p:cNvSpPr/>
          <p:nvPr/>
        </p:nvSpPr>
        <p:spPr>
          <a:xfrm>
            <a:off x="932688" y="3236976"/>
            <a:ext cx="1773936" cy="932688"/>
          </a:xfrm>
          <a:prstGeom prst="rect">
            <a:avLst/>
          </a:prstGeom>
          <a:noFill/>
          <a:ln/>
        </p:spPr>
        <p:txBody>
          <a:bodyPr wrap="square" lIns="0" tIns="0" rIns="0" bIns="0" rtlCol="0" anchor="ctr">
            <a:normAutofit/>
          </a:bodyPr>
          <a:lstStyle/>
          <a:p>
            <a:pPr algn="l" indent="0" marL="0">
              <a:lnSpc>
                <a:spcPct val="104000"/>
              </a:lnSpc>
              <a:buNone/>
            </a:pPr>
            <a:r>
              <a:rPr lang="en-US" sz="1520" b="1" dirty="0">
                <a:solidFill>
                  <a:srgbClr val="4F7F00"/>
                </a:solidFill>
                <a:latin typeface="PingFang SC" pitchFamily="34" charset="0"/>
                <a:ea typeface="PingFang SC" pitchFamily="34" charset="-122"/>
                <a:cs typeface="PingFang SC" pitchFamily="34" charset="-120"/>
              </a:rPr>
              <a:t>Skia Graphite</a:t>
            </a:r>
            <a:endParaRPr lang="en-US" sz="1520" dirty="0"/>
          </a:p>
        </p:txBody>
      </p:sp>
      <p:sp>
        <p:nvSpPr>
          <p:cNvPr id="25" name="Text 23"/>
          <p:cNvSpPr/>
          <p:nvPr/>
        </p:nvSpPr>
        <p:spPr>
          <a:xfrm>
            <a:off x="3017520" y="3236976"/>
            <a:ext cx="1719072" cy="932688"/>
          </a:xfrm>
          <a:prstGeom prst="rect">
            <a:avLst/>
          </a:prstGeom>
          <a:noFill/>
          <a:ln/>
        </p:spPr>
        <p:txBody>
          <a:bodyPr wrap="square" lIns="0" tIns="0" rIns="0" bIns="0" rtlCol="0" anchor="ctr">
            <a:normAutofit/>
          </a:bodyPr>
          <a:lstStyle/>
          <a:p>
            <a:pPr algn="l" indent="0" marL="0">
              <a:lnSpc>
                <a:spcPct val="104000"/>
              </a:lnSpc>
              <a:buNone/>
            </a:pPr>
            <a:r>
              <a:rPr lang="en-US" sz="1460" b="1" dirty="0">
                <a:solidFill>
                  <a:srgbClr val="102A43"/>
                </a:solidFill>
                <a:latin typeface="PingFang SC" pitchFamily="34" charset="0"/>
                <a:ea typeface="PingFang SC" pitchFamily="34" charset="-122"/>
                <a:cs typeface="PingFang SC" pitchFamily="34" charset="-120"/>
              </a:rPr>
              <a:t>调用方</a:t>
            </a:r>
            <a:endParaRPr lang="en-US" sz="1460" dirty="0"/>
          </a:p>
        </p:txBody>
      </p:sp>
      <p:sp>
        <p:nvSpPr>
          <p:cNvPr id="26" name="Text 24"/>
          <p:cNvSpPr/>
          <p:nvPr/>
        </p:nvSpPr>
        <p:spPr>
          <a:xfrm>
            <a:off x="5065776" y="3236976"/>
            <a:ext cx="2414016" cy="932688"/>
          </a:xfrm>
          <a:prstGeom prst="rect">
            <a:avLst/>
          </a:prstGeom>
          <a:noFill/>
          <a:ln/>
        </p:spPr>
        <p:txBody>
          <a:bodyPr wrap="square" lIns="0" tIns="0" rIns="0" bIns="0" rtlCol="0" anchor="ctr">
            <a:normAutofit/>
          </a:bodyPr>
          <a:lstStyle/>
          <a:p>
            <a:pPr algn="l" indent="0" marL="0">
              <a:lnSpc>
                <a:spcPct val="104000"/>
              </a:lnSpc>
              <a:buNone/>
            </a:pPr>
            <a:r>
              <a:rPr lang="en-US" sz="1440" b="1" dirty="0">
                <a:solidFill>
                  <a:srgbClr val="102A43"/>
                </a:solidFill>
                <a:latin typeface="PingFang SC" pitchFamily="34" charset="0"/>
                <a:ea typeface="PingFang SC" pitchFamily="34" charset="-122"/>
                <a:cs typeface="PingFang SC" pitchFamily="34" charset="-120"/>
              </a:rPr>
              <a:t>预计绘制组合</a:t>
            </a:r>
            <a:endParaRPr lang="en-US" sz="1440" dirty="0"/>
          </a:p>
        </p:txBody>
      </p:sp>
      <p:sp>
        <p:nvSpPr>
          <p:cNvPr id="27" name="Text 25"/>
          <p:cNvSpPr/>
          <p:nvPr/>
        </p:nvSpPr>
        <p:spPr>
          <a:xfrm>
            <a:off x="7808976" y="3236976"/>
            <a:ext cx="3456432" cy="932688"/>
          </a:xfrm>
          <a:prstGeom prst="rect">
            <a:avLst/>
          </a:prstGeom>
          <a:noFill/>
          <a:ln/>
        </p:spPr>
        <p:txBody>
          <a:bodyPr wrap="square" lIns="0" tIns="0" rIns="0" bIns="0" rtlCol="0" anchor="ctr">
            <a:normAutofit/>
          </a:bodyPr>
          <a:lstStyle/>
          <a:p>
            <a:pPr algn="l" indent="0" marL="0">
              <a:lnSpc>
                <a:spcPct val="104000"/>
              </a:lnSpc>
              <a:buNone/>
            </a:pPr>
            <a:r>
              <a:rPr lang="en-US" sz="1420" b="1" dirty="0">
                <a:solidFill>
                  <a:srgbClr val="102A43"/>
                </a:solidFill>
                <a:latin typeface="PingFang SC" pitchFamily="34" charset="0"/>
                <a:ea typeface="PingFang SC" pitchFamily="34" charset="-122"/>
                <a:cs typeface="PingFang SC" pitchFamily="34" charset="-120"/>
              </a:rPr>
              <a:t>漏项可能首次创建 Pipeline</a:t>
            </a:r>
            <a:endParaRPr lang="en-US" sz="1420" dirty="0"/>
          </a:p>
        </p:txBody>
      </p:sp>
      <p:sp>
        <p:nvSpPr>
          <p:cNvPr id="28" name="Shape 26"/>
          <p:cNvSpPr/>
          <p:nvPr/>
        </p:nvSpPr>
        <p:spPr>
          <a:xfrm>
            <a:off x="713232" y="4169664"/>
            <a:ext cx="10771632" cy="932688"/>
          </a:xfrm>
          <a:prstGeom prst="rect">
            <a:avLst/>
          </a:prstGeom>
          <a:solidFill>
            <a:srgbClr val="FFFFFF"/>
          </a:solidFill>
          <a:ln w="10160">
            <a:solidFill>
              <a:srgbClr val="D9E2EC"/>
            </a:solidFill>
            <a:prstDash val="solid"/>
          </a:ln>
        </p:spPr>
      </p:sp>
      <p:sp>
        <p:nvSpPr>
          <p:cNvPr id="29" name="Shape 27"/>
          <p:cNvSpPr/>
          <p:nvPr/>
        </p:nvSpPr>
        <p:spPr>
          <a:xfrm>
            <a:off x="713232" y="4169664"/>
            <a:ext cx="73152" cy="932688"/>
          </a:xfrm>
          <a:prstGeom prst="rect">
            <a:avLst/>
          </a:prstGeom>
          <a:solidFill>
            <a:srgbClr val="FBECE9"/>
          </a:solidFill>
          <a:ln w="12700">
            <a:solidFill>
              <a:srgbClr val="FBECE9"/>
            </a:solidFill>
            <a:prstDash val="solid"/>
          </a:ln>
        </p:spPr>
      </p:sp>
      <p:sp>
        <p:nvSpPr>
          <p:cNvPr id="30" name="Text 28"/>
          <p:cNvSpPr/>
          <p:nvPr/>
        </p:nvSpPr>
        <p:spPr>
          <a:xfrm>
            <a:off x="932688" y="4169664"/>
            <a:ext cx="1773936" cy="932688"/>
          </a:xfrm>
          <a:prstGeom prst="rect">
            <a:avLst/>
          </a:prstGeom>
          <a:noFill/>
          <a:ln/>
        </p:spPr>
        <p:txBody>
          <a:bodyPr wrap="square" lIns="0" tIns="0" rIns="0" bIns="0" rtlCol="0" anchor="ctr">
            <a:normAutofit/>
          </a:bodyPr>
          <a:lstStyle/>
          <a:p>
            <a:pPr algn="l" indent="0" marL="0">
              <a:lnSpc>
                <a:spcPct val="104000"/>
              </a:lnSpc>
              <a:buNone/>
            </a:pPr>
            <a:r>
              <a:rPr lang="en-US" sz="1520" b="1" dirty="0">
                <a:solidFill>
                  <a:srgbClr val="D95D4F"/>
                </a:solidFill>
                <a:latin typeface="PingFang SC" pitchFamily="34" charset="0"/>
                <a:ea typeface="PingFang SC" pitchFamily="34" charset="-122"/>
                <a:cs typeface="PingFang SC" pitchFamily="34" charset="-120"/>
              </a:rPr>
              <a:t>Unreal Engine</a:t>
            </a:r>
            <a:endParaRPr lang="en-US" sz="1520" dirty="0"/>
          </a:p>
        </p:txBody>
      </p:sp>
      <p:sp>
        <p:nvSpPr>
          <p:cNvPr id="31" name="Text 29"/>
          <p:cNvSpPr/>
          <p:nvPr/>
        </p:nvSpPr>
        <p:spPr>
          <a:xfrm>
            <a:off x="3017520" y="4169664"/>
            <a:ext cx="1719072" cy="932688"/>
          </a:xfrm>
          <a:prstGeom prst="rect">
            <a:avLst/>
          </a:prstGeom>
          <a:noFill/>
          <a:ln/>
        </p:spPr>
        <p:txBody>
          <a:bodyPr wrap="square" lIns="0" tIns="0" rIns="0" bIns="0" rtlCol="0" anchor="ctr">
            <a:normAutofit/>
          </a:bodyPr>
          <a:lstStyle/>
          <a:p>
            <a:pPr algn="l" indent="0" marL="0">
              <a:lnSpc>
                <a:spcPct val="104000"/>
              </a:lnSpc>
              <a:buNone/>
            </a:pPr>
            <a:r>
              <a:rPr lang="en-US" sz="1460" b="1" dirty="0">
                <a:solidFill>
                  <a:srgbClr val="102A43"/>
                </a:solidFill>
                <a:latin typeface="PingFang SC" pitchFamily="34" charset="0"/>
                <a:ea typeface="PingFang SC" pitchFamily="34" charset="-122"/>
                <a:cs typeface="PingFang SC" pitchFamily="34" charset="-120"/>
              </a:rPr>
              <a:t>项目构建系统</a:t>
            </a:r>
            <a:endParaRPr lang="en-US" sz="1460" dirty="0"/>
          </a:p>
        </p:txBody>
      </p:sp>
      <p:sp>
        <p:nvSpPr>
          <p:cNvPr id="32" name="Text 30"/>
          <p:cNvSpPr/>
          <p:nvPr/>
        </p:nvSpPr>
        <p:spPr>
          <a:xfrm>
            <a:off x="5065776" y="4169664"/>
            <a:ext cx="2414016" cy="932688"/>
          </a:xfrm>
          <a:prstGeom prst="rect">
            <a:avLst/>
          </a:prstGeom>
          <a:noFill/>
          <a:ln/>
        </p:spPr>
        <p:txBody>
          <a:bodyPr wrap="square" lIns="0" tIns="0" rIns="0" bIns="0" rtlCol="0" anchor="ctr">
            <a:normAutofit/>
          </a:bodyPr>
          <a:lstStyle/>
          <a:p>
            <a:pPr algn="l" indent="0" marL="0">
              <a:lnSpc>
                <a:spcPct val="104000"/>
              </a:lnSpc>
              <a:buNone/>
            </a:pPr>
            <a:r>
              <a:rPr lang="en-US" sz="1440" b="1" dirty="0">
                <a:solidFill>
                  <a:srgbClr val="102A43"/>
                </a:solidFill>
                <a:latin typeface="PingFang SC" pitchFamily="34" charset="0"/>
                <a:ea typeface="PingFang SC" pitchFamily="34" charset="-122"/>
                <a:cs typeface="PingFang SC" pitchFamily="34" charset="-120"/>
              </a:rPr>
              <a:t>Material 与项目资产</a:t>
            </a:r>
            <a:endParaRPr lang="en-US" sz="1440" dirty="0"/>
          </a:p>
        </p:txBody>
      </p:sp>
      <p:sp>
        <p:nvSpPr>
          <p:cNvPr id="33" name="Text 31"/>
          <p:cNvSpPr/>
          <p:nvPr/>
        </p:nvSpPr>
        <p:spPr>
          <a:xfrm>
            <a:off x="7808976" y="4169664"/>
            <a:ext cx="3456432" cy="932688"/>
          </a:xfrm>
          <a:prstGeom prst="rect">
            <a:avLst/>
          </a:prstGeom>
          <a:noFill/>
          <a:ln/>
        </p:spPr>
        <p:txBody>
          <a:bodyPr wrap="square" lIns="0" tIns="0" rIns="0" bIns="0" rtlCol="0" anchor="ctr">
            <a:normAutofit/>
          </a:bodyPr>
          <a:lstStyle/>
          <a:p>
            <a:pPr algn="l" indent="0" marL="0">
              <a:lnSpc>
                <a:spcPct val="104000"/>
              </a:lnSpc>
              <a:buNone/>
            </a:pPr>
            <a:r>
              <a:rPr lang="en-US" sz="1420" b="1" dirty="0">
                <a:solidFill>
                  <a:srgbClr val="102A43"/>
                </a:solidFill>
                <a:latin typeface="PingFang SC" pitchFamily="34" charset="0"/>
                <a:ea typeface="PingFang SC" pitchFamily="34" charset="-122"/>
                <a:cs typeface="PingFang SC" pitchFamily="34" charset="-120"/>
              </a:rPr>
              <a:t>补 Cook 或 PSO 数据</a:t>
            </a:r>
            <a:endParaRPr lang="en-US" sz="1420" dirty="0"/>
          </a:p>
        </p:txBody>
      </p:sp>
      <p:sp>
        <p:nvSpPr>
          <p:cNvPr id="34" name="Shape 32"/>
          <p:cNvSpPr/>
          <p:nvPr/>
        </p:nvSpPr>
        <p:spPr>
          <a:xfrm>
            <a:off x="2359152" y="5230368"/>
            <a:ext cx="7461504" cy="310896"/>
          </a:xfrm>
          <a:prstGeom prst="rect">
            <a:avLst/>
          </a:prstGeom>
          <a:solidFill>
            <a:srgbClr val="F4F7F9"/>
          </a:solidFill>
          <a:ln w="12700">
            <a:solidFill>
              <a:srgbClr val="F4F7F9"/>
            </a:solidFill>
            <a:prstDash val="solid"/>
          </a:ln>
        </p:spPr>
      </p:sp>
      <p:sp>
        <p:nvSpPr>
          <p:cNvPr id="35" name="Text 33"/>
          <p:cNvSpPr/>
          <p:nvPr/>
        </p:nvSpPr>
        <p:spPr>
          <a:xfrm>
            <a:off x="2468880" y="5230368"/>
            <a:ext cx="7242048" cy="310896"/>
          </a:xfrm>
          <a:prstGeom prst="rect">
            <a:avLst/>
          </a:prstGeom>
          <a:noFill/>
          <a:ln/>
        </p:spPr>
        <p:txBody>
          <a:bodyPr wrap="square" lIns="0" tIns="0" rIns="0" bIns="0" rtlCol="0" anchor="ctr">
            <a:normAutofit/>
          </a:bodyPr>
          <a:lstStyle/>
          <a:p>
            <a:pPr algn="ctr" indent="0" marL="0">
              <a:lnSpc>
                <a:spcPct val="104000"/>
              </a:lnSpc>
              <a:buNone/>
            </a:pPr>
            <a:r>
              <a:rPr lang="en-US" sz="1180" b="1" dirty="0">
                <a:solidFill>
                  <a:srgbClr val="627D98"/>
                </a:solidFill>
                <a:latin typeface="PingFang SC" pitchFamily="34" charset="0"/>
                <a:ea typeface="PingFang SC" pitchFamily="34" charset="-122"/>
                <a:cs typeface="PingFang SC" pitchFamily="34" charset="-120"/>
              </a:rPr>
              <a:t>本页只比较范围责任；Shader 与 PSO 的层级差异见第 8 页。</a:t>
            </a:r>
            <a:endParaRPr lang="en-US" sz="1180" dirty="0"/>
          </a:p>
        </p:txBody>
      </p:sp>
      <p:sp>
        <p:nvSpPr>
          <p:cNvPr id="36" name="Shape 34"/>
          <p:cNvSpPr/>
          <p:nvPr/>
        </p:nvSpPr>
        <p:spPr>
          <a:xfrm>
            <a:off x="658368" y="5742432"/>
            <a:ext cx="10874959" cy="438912"/>
          </a:xfrm>
          <a:prstGeom prst="rect">
            <a:avLst/>
          </a:prstGeom>
          <a:solidFill>
            <a:srgbClr val="EFF7DF"/>
          </a:solidFill>
          <a:ln w="12700">
            <a:solidFill>
              <a:srgbClr val="EFF7DF"/>
            </a:solidFill>
            <a:prstDash val="solid"/>
          </a:ln>
        </p:spPr>
      </p:sp>
      <p:sp>
        <p:nvSpPr>
          <p:cNvPr id="37" name="Text 35"/>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关键不是是否预编译，而是谁掌握足够信息给出范围。</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06 · FLUTTER IMPELLER</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800" b="1" dirty="0">
                <a:solidFill>
                  <a:srgbClr val="102A43"/>
                </a:solidFill>
                <a:latin typeface="PingFang SC" pitchFamily="34" charset="0"/>
                <a:ea typeface="PingFang SC" pitchFamily="34" charset="-122"/>
                <a:cs typeface="PingFang SC" pitchFamily="34" charset="-120"/>
              </a:rPr>
              <a:t>Flutter：引擎控制能力集，因此能够在构建期准备 Shader</a:t>
            </a:r>
            <a:endParaRPr lang="en-US" sz="28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06</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Impeller 的关键前提不是“没有变化”，而是绘制能力及其 Shader 由引擎共同维护。 </a:t>
            </a:r>
            <a:endParaRPr lang="en-US" sz="1600" dirty="0"/>
          </a:p>
        </p:txBody>
      </p:sp>
      <p:sp>
        <p:nvSpPr>
          <p:cNvPr id="8" name="Shape 6"/>
          <p:cNvSpPr/>
          <p:nvPr/>
        </p:nvSpPr>
        <p:spPr>
          <a:xfrm>
            <a:off x="749808" y="1792224"/>
            <a:ext cx="2441448" cy="749808"/>
          </a:xfrm>
          <a:prstGeom prst="rect">
            <a:avLst/>
          </a:prstGeom>
          <a:solidFill>
            <a:srgbClr val="E6F4F3"/>
          </a:solidFill>
          <a:ln w="12700">
            <a:solidFill>
              <a:srgbClr val="E6F4F3"/>
            </a:solidFill>
            <a:prstDash val="solid"/>
          </a:ln>
        </p:spPr>
      </p:sp>
      <p:sp>
        <p:nvSpPr>
          <p:cNvPr id="9" name="Text 7"/>
          <p:cNvSpPr/>
          <p:nvPr/>
        </p:nvSpPr>
        <p:spPr>
          <a:xfrm>
            <a:off x="859536" y="1792224"/>
            <a:ext cx="2221992" cy="74980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008C8C"/>
                </a:solidFill>
                <a:latin typeface="PingFang SC" pitchFamily="34" charset="0"/>
                <a:ea typeface="PingFang SC" pitchFamily="34" charset="-122"/>
                <a:cs typeface="PingFang SC" pitchFamily="34" charset="-120"/>
              </a:rPr>
              <a:t>引擎定义</a:t>
            </a:r>
            <a:endParaRPr lang="en-US" sz="1300" dirty="0"/>
          </a:p>
          <a:p>
            <a:pPr algn="ctr" indent="0" marL="0">
              <a:lnSpc>
                <a:spcPct val="104000"/>
              </a:lnSpc>
              <a:buNone/>
            </a:pPr>
            <a:r>
              <a:rPr lang="en-US" sz="1300" b="1" dirty="0">
                <a:solidFill>
                  <a:srgbClr val="008C8C"/>
                </a:solidFill>
                <a:latin typeface="PingFang SC" pitchFamily="34" charset="0"/>
                <a:ea typeface="PingFang SC" pitchFamily="34" charset="-122"/>
                <a:cs typeface="PingFang SC" pitchFamily="34" charset="-120"/>
              </a:rPr>
              <a:t>绘制能力</a:t>
            </a:r>
            <a:endParaRPr lang="en-US" sz="1300" dirty="0"/>
          </a:p>
        </p:txBody>
      </p:sp>
      <p:sp>
        <p:nvSpPr>
          <p:cNvPr id="10" name="Shape 8"/>
          <p:cNvSpPr/>
          <p:nvPr/>
        </p:nvSpPr>
        <p:spPr>
          <a:xfrm>
            <a:off x="3227832" y="2167128"/>
            <a:ext cx="237744" cy="0"/>
          </a:xfrm>
          <a:prstGeom prst="line">
            <a:avLst/>
          </a:prstGeom>
          <a:noFill/>
          <a:ln w="22860">
            <a:solidFill>
              <a:srgbClr val="76B900"/>
            </a:solidFill>
            <a:prstDash val="solid"/>
            <a:tailEnd type="triangle"/>
          </a:ln>
        </p:spPr>
      </p:sp>
      <p:sp>
        <p:nvSpPr>
          <p:cNvPr id="11" name="Shape 9"/>
          <p:cNvSpPr/>
          <p:nvPr/>
        </p:nvSpPr>
        <p:spPr>
          <a:xfrm>
            <a:off x="3502152" y="1792224"/>
            <a:ext cx="2441448" cy="749808"/>
          </a:xfrm>
          <a:prstGeom prst="rect">
            <a:avLst/>
          </a:prstGeom>
          <a:solidFill>
            <a:srgbClr val="F4F7F9"/>
          </a:solidFill>
          <a:ln w="12700">
            <a:solidFill>
              <a:srgbClr val="F4F7F9"/>
            </a:solidFill>
            <a:prstDash val="solid"/>
          </a:ln>
        </p:spPr>
      </p:sp>
      <p:sp>
        <p:nvSpPr>
          <p:cNvPr id="12" name="Text 10"/>
          <p:cNvSpPr/>
          <p:nvPr/>
        </p:nvSpPr>
        <p:spPr>
          <a:xfrm>
            <a:off x="3611880" y="1792224"/>
            <a:ext cx="2221992" cy="74980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102A43"/>
                </a:solidFill>
                <a:latin typeface="PingFang SC" pitchFamily="34" charset="0"/>
                <a:ea typeface="PingFang SC" pitchFamily="34" charset="-122"/>
                <a:cs typeface="PingFang SC" pitchFamily="34" charset="-120"/>
              </a:rPr>
              <a:t>维护对应</a:t>
            </a:r>
            <a:endParaRPr lang="en-US" sz="1300" dirty="0"/>
          </a:p>
          <a:p>
            <a:pPr algn="ctr" indent="0" marL="0">
              <a:lnSpc>
                <a:spcPct val="104000"/>
              </a:lnSpc>
              <a:buNone/>
            </a:pPr>
            <a:r>
              <a:rPr lang="en-US" sz="1300" b="1" dirty="0">
                <a:solidFill>
                  <a:srgbClr val="102A43"/>
                </a:solidFill>
                <a:latin typeface="PingFang SC" pitchFamily="34" charset="0"/>
                <a:ea typeface="PingFang SC" pitchFamily="34" charset="-122"/>
                <a:cs typeface="PingFang SC" pitchFamily="34" charset="-120"/>
              </a:rPr>
              <a:t>Shader</a:t>
            </a:r>
            <a:endParaRPr lang="en-US" sz="1300" dirty="0"/>
          </a:p>
        </p:txBody>
      </p:sp>
      <p:sp>
        <p:nvSpPr>
          <p:cNvPr id="13" name="Shape 11"/>
          <p:cNvSpPr/>
          <p:nvPr/>
        </p:nvSpPr>
        <p:spPr>
          <a:xfrm>
            <a:off x="5980176" y="2167128"/>
            <a:ext cx="237744" cy="0"/>
          </a:xfrm>
          <a:prstGeom prst="line">
            <a:avLst/>
          </a:prstGeom>
          <a:noFill/>
          <a:ln w="22860">
            <a:solidFill>
              <a:srgbClr val="76B900"/>
            </a:solidFill>
            <a:prstDash val="solid"/>
            <a:tailEnd type="triangle"/>
          </a:ln>
        </p:spPr>
      </p:sp>
      <p:sp>
        <p:nvSpPr>
          <p:cNvPr id="14" name="Shape 12"/>
          <p:cNvSpPr/>
          <p:nvPr/>
        </p:nvSpPr>
        <p:spPr>
          <a:xfrm>
            <a:off x="6254496" y="1792224"/>
            <a:ext cx="2441448" cy="749808"/>
          </a:xfrm>
          <a:prstGeom prst="rect">
            <a:avLst/>
          </a:prstGeom>
          <a:solidFill>
            <a:srgbClr val="EFF7DF"/>
          </a:solidFill>
          <a:ln w="12700">
            <a:solidFill>
              <a:srgbClr val="EFF7DF"/>
            </a:solidFill>
            <a:prstDash val="solid"/>
          </a:ln>
        </p:spPr>
      </p:sp>
      <p:sp>
        <p:nvSpPr>
          <p:cNvPr id="15" name="Text 13"/>
          <p:cNvSpPr/>
          <p:nvPr/>
        </p:nvSpPr>
        <p:spPr>
          <a:xfrm>
            <a:off x="6364224" y="1792224"/>
            <a:ext cx="2221992" cy="74980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4F7F00"/>
                </a:solidFill>
                <a:latin typeface="PingFang SC" pitchFamily="34" charset="0"/>
                <a:ea typeface="PingFang SC" pitchFamily="34" charset="-122"/>
                <a:cs typeface="PingFang SC" pitchFamily="34" charset="-120"/>
              </a:rPr>
              <a:t>构建期</a:t>
            </a:r>
            <a:endParaRPr lang="en-US" sz="1300" dirty="0"/>
          </a:p>
          <a:p>
            <a:pPr algn="ctr" indent="0" marL="0">
              <a:lnSpc>
                <a:spcPct val="104000"/>
              </a:lnSpc>
              <a:buNone/>
            </a:pPr>
            <a:r>
              <a:rPr lang="en-US" sz="1300" b="1" dirty="0">
                <a:solidFill>
                  <a:srgbClr val="4F7F00"/>
                </a:solidFill>
                <a:latin typeface="PingFang SC" pitchFamily="34" charset="0"/>
                <a:ea typeface="PingFang SC" pitchFamily="34" charset="-122"/>
                <a:cs typeface="PingFang SC" pitchFamily="34" charset="-120"/>
              </a:rPr>
              <a:t>编译</a:t>
            </a:r>
            <a:endParaRPr lang="en-US" sz="1300" dirty="0"/>
          </a:p>
        </p:txBody>
      </p:sp>
      <p:sp>
        <p:nvSpPr>
          <p:cNvPr id="16" name="Shape 14"/>
          <p:cNvSpPr/>
          <p:nvPr/>
        </p:nvSpPr>
        <p:spPr>
          <a:xfrm>
            <a:off x="8732520" y="2167128"/>
            <a:ext cx="237744" cy="0"/>
          </a:xfrm>
          <a:prstGeom prst="line">
            <a:avLst/>
          </a:prstGeom>
          <a:noFill/>
          <a:ln w="22860">
            <a:solidFill>
              <a:srgbClr val="76B900"/>
            </a:solidFill>
            <a:prstDash val="solid"/>
            <a:tailEnd type="triangle"/>
          </a:ln>
        </p:spPr>
      </p:sp>
      <p:sp>
        <p:nvSpPr>
          <p:cNvPr id="17" name="Shape 15"/>
          <p:cNvSpPr/>
          <p:nvPr/>
        </p:nvSpPr>
        <p:spPr>
          <a:xfrm>
            <a:off x="9006840" y="1792224"/>
            <a:ext cx="2441448" cy="749808"/>
          </a:xfrm>
          <a:prstGeom prst="rect">
            <a:avLst/>
          </a:prstGeom>
          <a:solidFill>
            <a:srgbClr val="102A43"/>
          </a:solidFill>
          <a:ln w="12700">
            <a:solidFill>
              <a:srgbClr val="102A43"/>
            </a:solidFill>
            <a:prstDash val="solid"/>
          </a:ln>
        </p:spPr>
      </p:sp>
      <p:sp>
        <p:nvSpPr>
          <p:cNvPr id="18" name="Text 16"/>
          <p:cNvSpPr/>
          <p:nvPr/>
        </p:nvSpPr>
        <p:spPr>
          <a:xfrm>
            <a:off x="9116568" y="1792224"/>
            <a:ext cx="2221992" cy="749808"/>
          </a:xfrm>
          <a:prstGeom prst="rect">
            <a:avLst/>
          </a:prstGeom>
          <a:noFill/>
          <a:ln/>
        </p:spPr>
        <p:txBody>
          <a:bodyPr wrap="square" lIns="0" tIns="0" rIns="0" bIns="0" rtlCol="0" anchor="ctr">
            <a:normAutofit/>
          </a:bodyPr>
          <a:lstStyle/>
          <a:p>
            <a:pPr algn="ctr" indent="0" marL="0">
              <a:lnSpc>
                <a:spcPct val="104000"/>
              </a:lnSpc>
              <a:buNone/>
            </a:pPr>
            <a:r>
              <a:rPr lang="en-US" sz="1160" b="1" dirty="0">
                <a:solidFill>
                  <a:srgbClr val="FFFFFF"/>
                </a:solidFill>
                <a:latin typeface="PingFang SC" pitchFamily="34" charset="0"/>
                <a:ea typeface="PingFang SC" pitchFamily="34" charset="-122"/>
                <a:cs typeface="PingFang SC" pitchFamily="34" charset="-120"/>
              </a:rPr>
              <a:t>运行时装载</a:t>
            </a:r>
            <a:endParaRPr lang="en-US" sz="1160" dirty="0"/>
          </a:p>
          <a:p>
            <a:pPr algn="ctr" indent="0" marL="0">
              <a:lnSpc>
                <a:spcPct val="104000"/>
              </a:lnSpc>
              <a:buNone/>
            </a:pPr>
            <a:r>
              <a:rPr lang="en-US" sz="1160" b="1" dirty="0">
                <a:solidFill>
                  <a:srgbClr val="FFFFFF"/>
                </a:solidFill>
                <a:latin typeface="PingFang SC" pitchFamily="34" charset="0"/>
                <a:ea typeface="PingFang SC" pitchFamily="34" charset="-122"/>
                <a:cs typeface="PingFang SC" pitchFamily="34" charset="-120"/>
              </a:rPr>
              <a:t>已有 Shader 资产</a:t>
            </a:r>
            <a:endParaRPr lang="en-US" sz="1160" dirty="0"/>
          </a:p>
        </p:txBody>
      </p:sp>
      <p:sp>
        <p:nvSpPr>
          <p:cNvPr id="19" name="Shape 17"/>
          <p:cNvSpPr/>
          <p:nvPr/>
        </p:nvSpPr>
        <p:spPr>
          <a:xfrm>
            <a:off x="749808" y="2871216"/>
            <a:ext cx="3913632" cy="2212848"/>
          </a:xfrm>
          <a:prstGeom prst="rect">
            <a:avLst/>
          </a:prstGeom>
          <a:solidFill>
            <a:srgbClr val="F4F7F9"/>
          </a:solidFill>
          <a:ln w="10160">
            <a:solidFill>
              <a:srgbClr val="D9E2EC"/>
            </a:solidFill>
            <a:prstDash val="solid"/>
          </a:ln>
        </p:spPr>
      </p:sp>
      <p:pic>
        <p:nvPicPr>
          <p:cNvPr id="20" name="Image 0" descr="/Users/shenxianfei/Documents/tgfx/docs/presentation/assets/flutter-impeller-shaders-49d0823c.png">    </p:cNvPr>
          <p:cNvPicPr>
            <a:picLocks noChangeAspect="1"/>
          </p:cNvPicPr>
          <p:nvPr/>
        </p:nvPicPr>
        <p:blipFill>
          <a:blip r:embed="rId1"/>
          <a:srcRect l="0" r="0" t="0" b="0"/>
          <a:stretch/>
        </p:blipFill>
        <p:spPr>
          <a:xfrm>
            <a:off x="859536" y="2980944"/>
            <a:ext cx="3694176" cy="1664208"/>
          </a:xfrm>
          <a:prstGeom prst="rect">
            <a:avLst/>
          </a:prstGeom>
        </p:spPr>
      </p:pic>
      <p:sp>
        <p:nvSpPr>
          <p:cNvPr id="21" name="Text 18"/>
          <p:cNvSpPr/>
          <p:nvPr/>
        </p:nvSpPr>
        <p:spPr>
          <a:xfrm>
            <a:off x="932688" y="4700016"/>
            <a:ext cx="3547872" cy="219456"/>
          </a:xfrm>
          <a:prstGeom prst="rect">
            <a:avLst/>
          </a:prstGeom>
          <a:noFill/>
          <a:ln/>
        </p:spPr>
        <p:txBody>
          <a:bodyPr wrap="square" lIns="0" tIns="0" rIns="0" bIns="0" rtlCol="0" anchor="t">
            <a:normAutofit/>
          </a:bodyPr>
          <a:lstStyle/>
          <a:p>
            <a:pPr algn="ctr" indent="0" marL="0">
              <a:lnSpc>
                <a:spcPct val="104000"/>
              </a:lnSpc>
              <a:buNone/>
            </a:pPr>
            <a:r>
              <a:rPr lang="en-US" sz="1030" b="1" dirty="0">
                <a:solidFill>
                  <a:srgbClr val="627D98"/>
                </a:solidFill>
                <a:latin typeface="PingFang SC" pitchFamily="34" charset="0"/>
                <a:ea typeface="PingFang SC" pitchFamily="34" charset="-122"/>
                <a:cs typeface="PingFang SC" pitchFamily="34" charset="-120"/>
              </a:rPr>
              <a:t>固定 commit 的 Shader 目录 · 作为“由引擎维护”的证据</a:t>
            </a:r>
            <a:endParaRPr lang="en-US" sz="1030" dirty="0"/>
          </a:p>
        </p:txBody>
      </p:sp>
      <p:sp>
        <p:nvSpPr>
          <p:cNvPr id="22" name="Text 19"/>
          <p:cNvSpPr/>
          <p:nvPr/>
        </p:nvSpPr>
        <p:spPr>
          <a:xfrm>
            <a:off x="5029200" y="2926080"/>
            <a:ext cx="1207008" cy="21945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D95D4F"/>
                </a:solidFill>
                <a:latin typeface="SF Mono" pitchFamily="34" charset="0"/>
                <a:ea typeface="SF Mono" pitchFamily="34" charset="-122"/>
                <a:cs typeface="SF Mono" pitchFamily="34" charset="-120"/>
              </a:rPr>
              <a:t>能力边界</a:t>
            </a:r>
            <a:endParaRPr lang="en-US" sz="1200" dirty="0"/>
          </a:p>
        </p:txBody>
      </p:sp>
      <p:sp>
        <p:nvSpPr>
          <p:cNvPr id="23" name="Text 20"/>
          <p:cNvSpPr/>
          <p:nvPr/>
        </p:nvSpPr>
        <p:spPr>
          <a:xfrm>
            <a:off x="5029200" y="3255264"/>
            <a:ext cx="6144768" cy="658368"/>
          </a:xfrm>
          <a:prstGeom prst="rect">
            <a:avLst/>
          </a:prstGeom>
          <a:noFill/>
          <a:ln/>
        </p:spPr>
        <p:txBody>
          <a:bodyPr wrap="square" lIns="0" tIns="0" rIns="0" bIns="0" rtlCol="0" anchor="ctr">
            <a:normAutofit/>
          </a:bodyPr>
          <a:lstStyle/>
          <a:p>
            <a:pPr algn="l" indent="0" marL="0">
              <a:lnSpc>
                <a:spcPct val="104000"/>
              </a:lnSpc>
              <a:buNone/>
            </a:pPr>
            <a:r>
              <a:rPr lang="en-US" sz="1500" b="1" dirty="0">
                <a:solidFill>
                  <a:srgbClr val="102A43"/>
                </a:solidFill>
                <a:latin typeface="PingFang SC" pitchFamily="34" charset="0"/>
                <a:ea typeface="PingFang SC" pitchFamily="34" charset="-122"/>
                <a:cs typeface="PingFang SC" pitchFamily="34" charset="-120"/>
              </a:rPr>
              <a:t>增加能力需要扩展引擎维护的 Shader / RenderPass；TGFX 的公开组合 API 不具备这一固定前提。</a:t>
            </a:r>
            <a:endParaRPr lang="en-US" sz="1500" dirty="0"/>
          </a:p>
        </p:txBody>
      </p:sp>
      <p:sp>
        <p:nvSpPr>
          <p:cNvPr id="24" name="Shape 21"/>
          <p:cNvSpPr/>
          <p:nvPr/>
        </p:nvSpPr>
        <p:spPr>
          <a:xfrm>
            <a:off x="5029200" y="4114800"/>
            <a:ext cx="6144768" cy="0"/>
          </a:xfrm>
          <a:prstGeom prst="line">
            <a:avLst/>
          </a:prstGeom>
          <a:noFill/>
          <a:ln w="12700">
            <a:solidFill>
              <a:srgbClr val="D9E2EC"/>
            </a:solidFill>
            <a:prstDash val="solid"/>
          </a:ln>
        </p:spPr>
      </p:sp>
      <p:sp>
        <p:nvSpPr>
          <p:cNvPr id="25" name="Text 22"/>
          <p:cNvSpPr/>
          <p:nvPr/>
        </p:nvSpPr>
        <p:spPr>
          <a:xfrm>
            <a:off x="5029200" y="4352544"/>
            <a:ext cx="1207008" cy="219456"/>
          </a:xfrm>
          <a:prstGeom prst="rect">
            <a:avLst/>
          </a:prstGeom>
          <a:noFill/>
          <a:ln/>
        </p:spPr>
        <p:txBody>
          <a:bodyPr wrap="square" lIns="0" tIns="0" rIns="0" bIns="0" rtlCol="0" anchor="t">
            <a:normAutofit/>
          </a:bodyPr>
          <a:lstStyle/>
          <a:p>
            <a:pPr algn="l" indent="0" marL="0">
              <a:lnSpc>
                <a:spcPct val="104000"/>
              </a:lnSpc>
              <a:buNone/>
            </a:pPr>
            <a:r>
              <a:rPr lang="en-US" sz="1200" b="1" dirty="0">
                <a:solidFill>
                  <a:srgbClr val="008C8C"/>
                </a:solidFill>
                <a:latin typeface="SF Mono" pitchFamily="34" charset="0"/>
                <a:ea typeface="SF Mono" pitchFamily="34" charset="-122"/>
                <a:cs typeface="SF Mono" pitchFamily="34" charset="-120"/>
              </a:rPr>
              <a:t>谨慎表述</a:t>
            </a:r>
            <a:endParaRPr lang="en-US" sz="1200" dirty="0"/>
          </a:p>
        </p:txBody>
      </p:sp>
      <p:sp>
        <p:nvSpPr>
          <p:cNvPr id="26" name="Text 23"/>
          <p:cNvSpPr/>
          <p:nvPr/>
        </p:nvSpPr>
        <p:spPr>
          <a:xfrm>
            <a:off x="5029200" y="4626864"/>
            <a:ext cx="6144768" cy="438912"/>
          </a:xfrm>
          <a:prstGeom prst="rect">
            <a:avLst/>
          </a:prstGeom>
          <a:noFill/>
          <a:ln/>
        </p:spPr>
        <p:txBody>
          <a:bodyPr wrap="square" lIns="0" tIns="0" rIns="0" bIns="0" rtlCol="0" anchor="ctr">
            <a:normAutofit/>
          </a:bodyPr>
          <a:lstStyle/>
          <a:p>
            <a:pPr algn="l" indent="0" marL="0">
              <a:lnSpc>
                <a:spcPct val="104000"/>
              </a:lnSpc>
              <a:buNone/>
            </a:pPr>
            <a:r>
              <a:rPr lang="en-US" sz="1440" b="1" dirty="0">
                <a:solidFill>
                  <a:srgbClr val="102A43"/>
                </a:solidFill>
                <a:latin typeface="PingFang SC" pitchFamily="34" charset="0"/>
                <a:ea typeface="PingFang SC" pitchFamily="34" charset="-122"/>
                <a:cs typeface="PingFang SC" pitchFamily="34" charset="-120"/>
              </a:rPr>
              <a:t>Impeller 并非零 variant，也不等于运行时绝无任何 Pipeline 成本。</a:t>
            </a:r>
            <a:endParaRPr lang="en-US" sz="1440" dirty="0"/>
          </a:p>
        </p:txBody>
      </p:sp>
      <p:sp>
        <p:nvSpPr>
          <p:cNvPr id="27" name="Shape 24"/>
          <p:cNvSpPr/>
          <p:nvPr/>
        </p:nvSpPr>
        <p:spPr>
          <a:xfrm>
            <a:off x="658368" y="5742432"/>
            <a:ext cx="10874959" cy="438912"/>
          </a:xfrm>
          <a:prstGeom prst="rect">
            <a:avLst/>
          </a:prstGeom>
          <a:solidFill>
            <a:srgbClr val="EFF7DF"/>
          </a:solidFill>
          <a:ln w="12700">
            <a:solidFill>
              <a:srgbClr val="EFF7DF"/>
            </a:solidFill>
            <a:prstDash val="solid"/>
          </a:ln>
        </p:spPr>
      </p:sp>
      <p:sp>
        <p:nvSpPr>
          <p:cNvPr id="28" name="Text 25"/>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固定能力集使构建期范围可知，但复制这一前提会收窄 TGFX 的公开输入。</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07 · GRAPHITE PRECOMPILE</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700" b="1" dirty="0">
                <a:solidFill>
                  <a:srgbClr val="102A43"/>
                </a:solidFill>
                <a:latin typeface="PingFang SC" pitchFamily="34" charset="0"/>
                <a:ea typeface="PingFang SC" pitchFamily="34" charset="-122"/>
                <a:cs typeface="PingFang SC" pitchFamily="34" charset="-120"/>
              </a:rPr>
              <a:t>Graphite：调用方申报候选维度，预编译范围取决于清单完整性</a:t>
            </a:r>
            <a:endParaRPr lang="en-US" sz="27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07</a:t>
            </a:r>
            <a:endParaRPr lang="en-US" sz="1000" dirty="0"/>
          </a:p>
        </p:txBody>
      </p:sp>
      <p:sp>
        <p:nvSpPr>
          <p:cNvPr id="7" name="Shape 5"/>
          <p:cNvSpPr/>
          <p:nvPr/>
        </p:nvSpPr>
        <p:spPr>
          <a:xfrm>
            <a:off x="713232" y="1572768"/>
            <a:ext cx="5650992" cy="2505456"/>
          </a:xfrm>
          <a:prstGeom prst="rect">
            <a:avLst/>
          </a:prstGeom>
          <a:solidFill>
            <a:srgbClr val="102A43"/>
          </a:solidFill>
          <a:ln w="12700">
            <a:solidFill>
              <a:srgbClr val="102A43"/>
            </a:solidFill>
            <a:prstDash val="solid"/>
          </a:ln>
        </p:spPr>
      </p:sp>
      <p:sp>
        <p:nvSpPr>
          <p:cNvPr id="8" name="Text 6"/>
          <p:cNvSpPr/>
          <p:nvPr/>
        </p:nvSpPr>
        <p:spPr>
          <a:xfrm>
            <a:off x="914400" y="1719072"/>
            <a:ext cx="5248656"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PAINTOPTIONS · SIMPLIFIED REAL API</a:t>
            </a:r>
            <a:endParaRPr lang="en-US" sz="1050" dirty="0"/>
          </a:p>
        </p:txBody>
      </p:sp>
      <p:sp>
        <p:nvSpPr>
          <p:cNvPr id="9" name="Text 7"/>
          <p:cNvSpPr/>
          <p:nvPr/>
        </p:nvSpPr>
        <p:spPr>
          <a:xfrm>
            <a:off x="914400" y="2011680"/>
            <a:ext cx="5248656" cy="1920240"/>
          </a:xfrm>
          <a:prstGeom prst="rect">
            <a:avLst/>
          </a:prstGeom>
          <a:noFill/>
          <a:ln/>
        </p:spPr>
        <p:txBody>
          <a:bodyPr wrap="square" lIns="0" tIns="0" rIns="0" bIns="0" rtlCol="0" anchor="t">
            <a:normAutofit/>
          </a:bodyPr>
          <a:lstStyle/>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PaintOptions options;</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options.setShaders({shader0, shader1});</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options.setColorFilters({filter0, filter1});</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options.setBlendModes({blend0, blend1});</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Precompile(context, options, drawTypes,</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           renderPassProperties);</a:t>
            </a:r>
            <a:endParaRPr lang="en-US" sz="1320" dirty="0"/>
          </a:p>
        </p:txBody>
      </p:sp>
      <p:sp>
        <p:nvSpPr>
          <p:cNvPr id="10" name="Shape 8"/>
          <p:cNvSpPr/>
          <p:nvPr/>
        </p:nvSpPr>
        <p:spPr>
          <a:xfrm>
            <a:off x="713232" y="4297680"/>
            <a:ext cx="5650992" cy="566928"/>
          </a:xfrm>
          <a:prstGeom prst="rect">
            <a:avLst/>
          </a:prstGeom>
          <a:solidFill>
            <a:srgbClr val="E6F4F3"/>
          </a:solidFill>
          <a:ln w="12700">
            <a:solidFill>
              <a:srgbClr val="E6F4F3"/>
            </a:solidFill>
            <a:prstDash val="solid"/>
          </a:ln>
        </p:spPr>
      </p:sp>
      <p:sp>
        <p:nvSpPr>
          <p:cNvPr id="11" name="Text 9"/>
          <p:cNvSpPr/>
          <p:nvPr/>
        </p:nvSpPr>
        <p:spPr>
          <a:xfrm>
            <a:off x="822960" y="4297680"/>
            <a:ext cx="5431536" cy="566928"/>
          </a:xfrm>
          <a:prstGeom prst="rect">
            <a:avLst/>
          </a:prstGeom>
          <a:noFill/>
          <a:ln/>
        </p:spPr>
        <p:txBody>
          <a:bodyPr wrap="square" lIns="0" tIns="0" rIns="0" bIns="0" rtlCol="0" anchor="ctr">
            <a:normAutofit/>
          </a:bodyPr>
          <a:lstStyle/>
          <a:p>
            <a:pPr algn="ctr" indent="0" marL="0">
              <a:lnSpc>
                <a:spcPct val="104000"/>
              </a:lnSpc>
              <a:buNone/>
            </a:pPr>
            <a:r>
              <a:rPr lang="en-US" sz="1600" b="1" dirty="0">
                <a:solidFill>
                  <a:srgbClr val="008C8C"/>
                </a:solidFill>
                <a:latin typeface="SF Mono" pitchFamily="34" charset="0"/>
                <a:ea typeface="SF Mono" pitchFamily="34" charset="-122"/>
                <a:cs typeface="SF Mono" pitchFamily="34" charset="-120"/>
              </a:rPr>
              <a:t>2 Shader × 2 Filter × 2 Blend = 8 candidates</a:t>
            </a:r>
            <a:endParaRPr lang="en-US" sz="1600" dirty="0"/>
          </a:p>
        </p:txBody>
      </p:sp>
      <p:sp>
        <p:nvSpPr>
          <p:cNvPr id="12" name="Text 10"/>
          <p:cNvSpPr/>
          <p:nvPr/>
        </p:nvSpPr>
        <p:spPr>
          <a:xfrm>
            <a:off x="987552" y="5065776"/>
            <a:ext cx="5102352" cy="256032"/>
          </a:xfrm>
          <a:prstGeom prst="rect">
            <a:avLst/>
          </a:prstGeom>
          <a:noFill/>
          <a:ln/>
        </p:spPr>
        <p:txBody>
          <a:bodyPr wrap="square" lIns="0" tIns="0" rIns="0" bIns="0" rtlCol="0" anchor="t">
            <a:normAutofit/>
          </a:bodyPr>
          <a:lstStyle/>
          <a:p>
            <a:pPr algn="ctr" indent="0" marL="0">
              <a:lnSpc>
                <a:spcPct val="104000"/>
              </a:lnSpc>
              <a:buNone/>
            </a:pPr>
            <a:r>
              <a:rPr lang="en-US" sz="1280" b="1" dirty="0">
                <a:solidFill>
                  <a:srgbClr val="102A43"/>
                </a:solidFill>
                <a:latin typeface="PingFang SC" pitchFamily="34" charset="0"/>
                <a:ea typeface="PingFang SC" pitchFamily="34" charset="-122"/>
                <a:cs typeface="PingFang SC" pitchFamily="34" charset="-120"/>
              </a:rPr>
              <a:t>教学简化：候选维度示意，不代表完整 Pipeline 空间</a:t>
            </a:r>
            <a:endParaRPr lang="en-US" sz="1280" dirty="0"/>
          </a:p>
        </p:txBody>
      </p:sp>
      <p:sp>
        <p:nvSpPr>
          <p:cNvPr id="13" name="Text 11"/>
          <p:cNvSpPr/>
          <p:nvPr/>
        </p:nvSpPr>
        <p:spPr>
          <a:xfrm>
            <a:off x="6784848" y="1627632"/>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4F7F00"/>
                </a:solidFill>
                <a:latin typeface="SF Mono" pitchFamily="34" charset="0"/>
                <a:ea typeface="SF Mono" pitchFamily="34" charset="-122"/>
                <a:cs typeface="SF Mono" pitchFamily="34" charset="-120"/>
              </a:rPr>
              <a:t>RESPONSIBILITY · CALLER</a:t>
            </a:r>
            <a:endParaRPr lang="en-US" sz="1100" dirty="0"/>
          </a:p>
        </p:txBody>
      </p:sp>
      <p:sp>
        <p:nvSpPr>
          <p:cNvPr id="14" name="Text 12"/>
          <p:cNvSpPr/>
          <p:nvPr/>
        </p:nvSpPr>
        <p:spPr>
          <a:xfrm>
            <a:off x="6784848" y="1975104"/>
            <a:ext cx="4498848" cy="841248"/>
          </a:xfrm>
          <a:prstGeom prst="rect">
            <a:avLst/>
          </a:prstGeom>
          <a:noFill/>
          <a:ln/>
        </p:spPr>
        <p:txBody>
          <a:bodyPr wrap="square" lIns="0" tIns="0" rIns="0" bIns="0" rtlCol="0" anchor="ctr">
            <a:normAutofit/>
          </a:bodyPr>
          <a:lstStyle/>
          <a:p>
            <a:pPr algn="l" indent="0" marL="0">
              <a:lnSpc>
                <a:spcPct val="104000"/>
              </a:lnSpc>
              <a:buNone/>
            </a:pPr>
            <a:r>
              <a:rPr lang="en-US" sz="1500" b="1" dirty="0">
                <a:solidFill>
                  <a:srgbClr val="102A43"/>
                </a:solidFill>
                <a:latin typeface="PingFang SC" pitchFamily="34" charset="0"/>
                <a:ea typeface="PingFang SC" pitchFamily="34" charset="-122"/>
                <a:cs typeface="PingFang SC" pitchFamily="34" charset="-120"/>
              </a:rPr>
              <a:t>PaintOptions 列出预计会使用的 Shader、ColorFilter、BlendMode 等维度；预编译器据此展开候选组合。</a:t>
            </a:r>
            <a:endParaRPr lang="en-US" sz="1500" dirty="0"/>
          </a:p>
        </p:txBody>
      </p:sp>
      <p:sp>
        <p:nvSpPr>
          <p:cNvPr id="15" name="Shape 13"/>
          <p:cNvSpPr/>
          <p:nvPr/>
        </p:nvSpPr>
        <p:spPr>
          <a:xfrm>
            <a:off x="6784848" y="3017520"/>
            <a:ext cx="4498848" cy="0"/>
          </a:xfrm>
          <a:prstGeom prst="line">
            <a:avLst/>
          </a:prstGeom>
          <a:noFill/>
          <a:ln w="12700">
            <a:solidFill>
              <a:srgbClr val="D9E2EC"/>
            </a:solidFill>
            <a:prstDash val="solid"/>
          </a:ln>
        </p:spPr>
      </p:sp>
      <p:sp>
        <p:nvSpPr>
          <p:cNvPr id="16" name="Shape 14"/>
          <p:cNvSpPr/>
          <p:nvPr/>
        </p:nvSpPr>
        <p:spPr>
          <a:xfrm>
            <a:off x="6784848" y="3273552"/>
            <a:ext cx="1298448" cy="420624"/>
          </a:xfrm>
          <a:prstGeom prst="rect">
            <a:avLst/>
          </a:prstGeom>
          <a:solidFill>
            <a:srgbClr val="EFF7DF"/>
          </a:solidFill>
          <a:ln w="12700">
            <a:solidFill>
              <a:srgbClr val="EFF7DF"/>
            </a:solidFill>
            <a:prstDash val="solid"/>
          </a:ln>
        </p:spPr>
      </p:sp>
      <p:sp>
        <p:nvSpPr>
          <p:cNvPr id="17" name="Text 15"/>
          <p:cNvSpPr/>
          <p:nvPr/>
        </p:nvSpPr>
        <p:spPr>
          <a:xfrm>
            <a:off x="6894576" y="3273552"/>
            <a:ext cx="1078992" cy="420624"/>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4F7F00"/>
                </a:solidFill>
                <a:latin typeface="PingFang SC" pitchFamily="34" charset="0"/>
                <a:ea typeface="PingFang SC" pitchFamily="34" charset="-122"/>
                <a:cs typeface="PingFang SC" pitchFamily="34" charset="-120"/>
              </a:rPr>
              <a:t>申报完整</a:t>
            </a:r>
            <a:endParaRPr lang="en-US" sz="1250" dirty="0"/>
          </a:p>
        </p:txBody>
      </p:sp>
      <p:sp>
        <p:nvSpPr>
          <p:cNvPr id="18" name="Text 16"/>
          <p:cNvSpPr/>
          <p:nvPr/>
        </p:nvSpPr>
        <p:spPr>
          <a:xfrm>
            <a:off x="8302752" y="3273552"/>
            <a:ext cx="2980944" cy="420624"/>
          </a:xfrm>
          <a:prstGeom prst="rect">
            <a:avLst/>
          </a:prstGeom>
          <a:noFill/>
          <a:ln/>
        </p:spPr>
        <p:txBody>
          <a:bodyPr wrap="square" lIns="0" tIns="0" rIns="0" bIns="0" rtlCol="0" anchor="ctr">
            <a:normAutofit/>
          </a:bodyPr>
          <a:lstStyle/>
          <a:p>
            <a:pPr algn="l" indent="0" marL="0">
              <a:lnSpc>
                <a:spcPct val="104000"/>
              </a:lnSpc>
              <a:buNone/>
            </a:pPr>
            <a:r>
              <a:rPr lang="en-US" sz="1440" b="1" dirty="0">
                <a:solidFill>
                  <a:srgbClr val="102A43"/>
                </a:solidFill>
                <a:latin typeface="PingFang SC" pitchFamily="34" charset="0"/>
                <a:ea typeface="PingFang SC" pitchFamily="34" charset="-122"/>
                <a:cs typeface="PingFang SC" pitchFamily="34" charset="-120"/>
              </a:rPr>
              <a:t>候选组合可提前覆盖</a:t>
            </a:r>
            <a:endParaRPr lang="en-US" sz="1440" dirty="0"/>
          </a:p>
        </p:txBody>
      </p:sp>
      <p:sp>
        <p:nvSpPr>
          <p:cNvPr id="19" name="Shape 17"/>
          <p:cNvSpPr/>
          <p:nvPr/>
        </p:nvSpPr>
        <p:spPr>
          <a:xfrm>
            <a:off x="6784848" y="3986784"/>
            <a:ext cx="1298448" cy="420624"/>
          </a:xfrm>
          <a:prstGeom prst="rect">
            <a:avLst/>
          </a:prstGeom>
          <a:solidFill>
            <a:srgbClr val="FBECE9"/>
          </a:solidFill>
          <a:ln w="12700">
            <a:solidFill>
              <a:srgbClr val="FBECE9"/>
            </a:solidFill>
            <a:prstDash val="solid"/>
          </a:ln>
        </p:spPr>
      </p:sp>
      <p:sp>
        <p:nvSpPr>
          <p:cNvPr id="20" name="Text 18"/>
          <p:cNvSpPr/>
          <p:nvPr/>
        </p:nvSpPr>
        <p:spPr>
          <a:xfrm>
            <a:off x="6894576" y="3986784"/>
            <a:ext cx="1078992" cy="420624"/>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D95D4F"/>
                </a:solidFill>
                <a:latin typeface="PingFang SC" pitchFamily="34" charset="0"/>
                <a:ea typeface="PingFang SC" pitchFamily="34" charset="-122"/>
                <a:cs typeface="PingFang SC" pitchFamily="34" charset="-120"/>
              </a:rPr>
              <a:t>出现漏报</a:t>
            </a:r>
            <a:endParaRPr lang="en-US" sz="1250" dirty="0"/>
          </a:p>
        </p:txBody>
      </p:sp>
      <p:sp>
        <p:nvSpPr>
          <p:cNvPr id="21" name="Text 19"/>
          <p:cNvSpPr/>
          <p:nvPr/>
        </p:nvSpPr>
        <p:spPr>
          <a:xfrm>
            <a:off x="8302752" y="3895344"/>
            <a:ext cx="2980944" cy="603504"/>
          </a:xfrm>
          <a:prstGeom prst="rect">
            <a:avLst/>
          </a:prstGeom>
          <a:noFill/>
          <a:ln/>
        </p:spPr>
        <p:txBody>
          <a:bodyPr wrap="square" lIns="0" tIns="0" rIns="0" bIns="0" rtlCol="0" anchor="ctr">
            <a:normAutofit/>
          </a:bodyPr>
          <a:lstStyle/>
          <a:p>
            <a:pPr algn="l" indent="0" marL="0">
              <a:lnSpc>
                <a:spcPct val="104000"/>
              </a:lnSpc>
              <a:buNone/>
            </a:pPr>
            <a:r>
              <a:rPr lang="en-US" sz="1340" b="1" dirty="0">
                <a:solidFill>
                  <a:srgbClr val="102A43"/>
                </a:solidFill>
                <a:latin typeface="PingFang SC" pitchFamily="34" charset="0"/>
                <a:ea typeface="PingFang SC" pitchFamily="34" charset="-122"/>
                <a:cs typeface="PingFang SC" pitchFamily="34" charset="-120"/>
              </a:rPr>
              <a:t>新组合仍可能在运行时首次创建 Pipeline</a:t>
            </a:r>
            <a:endParaRPr lang="en-US" sz="1340" dirty="0"/>
          </a:p>
        </p:txBody>
      </p:sp>
      <p:sp>
        <p:nvSpPr>
          <p:cNvPr id="22" name="Text 20"/>
          <p:cNvSpPr/>
          <p:nvPr/>
        </p:nvSpPr>
        <p:spPr>
          <a:xfrm>
            <a:off x="6784848" y="4974336"/>
            <a:ext cx="4498848" cy="310896"/>
          </a:xfrm>
          <a:prstGeom prst="rect">
            <a:avLst/>
          </a:prstGeom>
          <a:noFill/>
          <a:ln/>
        </p:spPr>
        <p:txBody>
          <a:bodyPr wrap="square" lIns="0" tIns="0" rIns="0" bIns="0" rtlCol="0" anchor="t">
            <a:normAutofit/>
          </a:bodyPr>
          <a:lstStyle/>
          <a:p>
            <a:pPr algn="ctr" indent="0" marL="0">
              <a:lnSpc>
                <a:spcPct val="104000"/>
              </a:lnSpc>
              <a:buNone/>
            </a:pPr>
            <a:r>
              <a:rPr lang="en-US" sz="1520" b="1" dirty="0">
                <a:solidFill>
                  <a:srgbClr val="D95D4F"/>
                </a:solidFill>
                <a:latin typeface="PingFang SC" pitchFamily="34" charset="0"/>
                <a:ea typeface="PingFang SC" pitchFamily="34" charset="-122"/>
                <a:cs typeface="PingFang SC" pitchFamily="34" charset="-120"/>
              </a:rPr>
              <a:t>TGFX 下游不提供这份候选清单。</a:t>
            </a:r>
            <a:endParaRPr lang="en-US" sz="1520" dirty="0"/>
          </a:p>
        </p:txBody>
      </p:sp>
      <p:sp>
        <p:nvSpPr>
          <p:cNvPr id="23" name="Shape 21"/>
          <p:cNvSpPr/>
          <p:nvPr/>
        </p:nvSpPr>
        <p:spPr>
          <a:xfrm>
            <a:off x="658368" y="5742432"/>
            <a:ext cx="10874959" cy="438912"/>
          </a:xfrm>
          <a:prstGeom prst="rect">
            <a:avLst/>
          </a:prstGeom>
          <a:solidFill>
            <a:srgbClr val="EFF7DF"/>
          </a:solidFill>
          <a:ln w="12700">
            <a:solidFill>
              <a:srgbClr val="EFF7DF"/>
            </a:solidFill>
            <a:prstDash val="solid"/>
          </a:ln>
        </p:spPr>
      </p:sp>
      <p:sp>
        <p:nvSpPr>
          <p:cNvPr id="24" name="Text 22"/>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范围完整性由调用方承担，而 TGFX 下游不承担这项责任。</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08 · UE SHADER COOK + PSO</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700" b="1" dirty="0">
                <a:solidFill>
                  <a:srgbClr val="102A43"/>
                </a:solidFill>
                <a:latin typeface="PingFang SC" pitchFamily="34" charset="0"/>
                <a:ea typeface="PingFang SC" pitchFamily="34" charset="-122"/>
                <a:cs typeface="PingFang SC" pitchFamily="34" charset="-120"/>
              </a:rPr>
              <a:t>UE：项目构建上下文界定 Shader 范围，PSO Precache 覆盖完整状态</a:t>
            </a:r>
            <a:endParaRPr lang="en-US" sz="27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08</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Material、项目资产、平台与质量配置共同界定 Cook 范围；PSO Precache 再覆盖完整图形状态。 </a:t>
            </a:r>
            <a:endParaRPr lang="en-US" sz="1600" dirty="0"/>
          </a:p>
        </p:txBody>
      </p:sp>
      <p:sp>
        <p:nvSpPr>
          <p:cNvPr id="8" name="Text 6"/>
          <p:cNvSpPr/>
          <p:nvPr/>
        </p:nvSpPr>
        <p:spPr>
          <a:xfrm>
            <a:off x="768096" y="1865376"/>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008C8C"/>
                </a:solidFill>
                <a:latin typeface="SF Mono" pitchFamily="34" charset="0"/>
                <a:ea typeface="SF Mono" pitchFamily="34" charset="-122"/>
                <a:cs typeface="SF Mono" pitchFamily="34" charset="-120"/>
              </a:rPr>
              <a:t>LAYER 1 · SHADER COOK</a:t>
            </a:r>
            <a:endParaRPr lang="en-US" sz="1100" dirty="0"/>
          </a:p>
        </p:txBody>
      </p:sp>
      <p:sp>
        <p:nvSpPr>
          <p:cNvPr id="9" name="Shape 7"/>
          <p:cNvSpPr/>
          <p:nvPr/>
        </p:nvSpPr>
        <p:spPr>
          <a:xfrm>
            <a:off x="768096" y="2176272"/>
            <a:ext cx="2450592" cy="694944"/>
          </a:xfrm>
          <a:prstGeom prst="rect">
            <a:avLst/>
          </a:prstGeom>
          <a:solidFill>
            <a:srgbClr val="E6F4F3"/>
          </a:solidFill>
          <a:ln w="12700">
            <a:solidFill>
              <a:srgbClr val="E6F4F3"/>
            </a:solidFill>
            <a:prstDash val="solid"/>
          </a:ln>
        </p:spPr>
      </p:sp>
      <p:sp>
        <p:nvSpPr>
          <p:cNvPr id="10" name="Text 8"/>
          <p:cNvSpPr/>
          <p:nvPr/>
        </p:nvSpPr>
        <p:spPr>
          <a:xfrm>
            <a:off x="877824" y="2176272"/>
            <a:ext cx="2231136" cy="694944"/>
          </a:xfrm>
          <a:prstGeom prst="rect">
            <a:avLst/>
          </a:prstGeom>
          <a:noFill/>
          <a:ln/>
        </p:spPr>
        <p:txBody>
          <a:bodyPr wrap="square" lIns="0" tIns="0" rIns="0" bIns="0" rtlCol="0" anchor="ctr">
            <a:normAutofit/>
          </a:bodyPr>
          <a:lstStyle/>
          <a:p>
            <a:pPr algn="ctr" indent="0" marL="0">
              <a:lnSpc>
                <a:spcPct val="104000"/>
              </a:lnSpc>
              <a:buNone/>
            </a:pPr>
            <a:r>
              <a:rPr lang="en-US" sz="1230" b="1" dirty="0">
                <a:solidFill>
                  <a:srgbClr val="008C8C"/>
                </a:solidFill>
                <a:latin typeface="PingFang SC" pitchFamily="34" charset="0"/>
                <a:ea typeface="PingFang SC" pitchFamily="34" charset="-122"/>
                <a:cs typeface="PingFang SC" pitchFamily="34" charset="-120"/>
              </a:rPr>
              <a:t>Material /</a:t>
            </a:r>
            <a:endParaRPr lang="en-US" sz="1230" dirty="0"/>
          </a:p>
          <a:p>
            <a:pPr algn="ctr" indent="0" marL="0">
              <a:lnSpc>
                <a:spcPct val="104000"/>
              </a:lnSpc>
              <a:buNone/>
            </a:pPr>
            <a:r>
              <a:rPr lang="en-US" sz="1230" b="1" dirty="0">
                <a:solidFill>
                  <a:srgbClr val="008C8C"/>
                </a:solidFill>
                <a:latin typeface="PingFang SC" pitchFamily="34" charset="0"/>
                <a:ea typeface="PingFang SC" pitchFamily="34" charset="-122"/>
                <a:cs typeface="PingFang SC" pitchFamily="34" charset="-120"/>
              </a:rPr>
              <a:t>项目资产</a:t>
            </a:r>
            <a:endParaRPr lang="en-US" sz="1230" dirty="0"/>
          </a:p>
        </p:txBody>
      </p:sp>
      <p:sp>
        <p:nvSpPr>
          <p:cNvPr id="11" name="Shape 9"/>
          <p:cNvSpPr/>
          <p:nvPr/>
        </p:nvSpPr>
        <p:spPr>
          <a:xfrm>
            <a:off x="3255264" y="2523744"/>
            <a:ext cx="219456" cy="0"/>
          </a:xfrm>
          <a:prstGeom prst="line">
            <a:avLst/>
          </a:prstGeom>
          <a:noFill/>
          <a:ln w="22860">
            <a:solidFill>
              <a:srgbClr val="008C8C"/>
            </a:solidFill>
            <a:prstDash val="solid"/>
            <a:tailEnd type="triangle"/>
          </a:ln>
        </p:spPr>
      </p:sp>
      <p:sp>
        <p:nvSpPr>
          <p:cNvPr id="12" name="Shape 10"/>
          <p:cNvSpPr/>
          <p:nvPr/>
        </p:nvSpPr>
        <p:spPr>
          <a:xfrm>
            <a:off x="3511296" y="2176272"/>
            <a:ext cx="2450592" cy="694944"/>
          </a:xfrm>
          <a:prstGeom prst="rect">
            <a:avLst/>
          </a:prstGeom>
          <a:solidFill>
            <a:srgbClr val="F4F7F9"/>
          </a:solidFill>
          <a:ln w="12700">
            <a:solidFill>
              <a:srgbClr val="F4F7F9"/>
            </a:solidFill>
            <a:prstDash val="solid"/>
          </a:ln>
        </p:spPr>
      </p:sp>
      <p:sp>
        <p:nvSpPr>
          <p:cNvPr id="13" name="Text 11"/>
          <p:cNvSpPr/>
          <p:nvPr/>
        </p:nvSpPr>
        <p:spPr>
          <a:xfrm>
            <a:off x="3621024" y="2176272"/>
            <a:ext cx="2231136" cy="694944"/>
          </a:xfrm>
          <a:prstGeom prst="rect">
            <a:avLst/>
          </a:prstGeom>
          <a:noFill/>
          <a:ln/>
        </p:spPr>
        <p:txBody>
          <a:bodyPr wrap="square" lIns="0" tIns="0" rIns="0" bIns="0" rtlCol="0" anchor="ctr">
            <a:normAutofit/>
          </a:bodyPr>
          <a:lstStyle/>
          <a:p>
            <a:pPr algn="ctr" indent="0" marL="0">
              <a:lnSpc>
                <a:spcPct val="104000"/>
              </a:lnSpc>
              <a:buNone/>
            </a:pPr>
            <a:r>
              <a:rPr lang="en-US" sz="1240" b="1" dirty="0">
                <a:solidFill>
                  <a:srgbClr val="102A43"/>
                </a:solidFill>
                <a:latin typeface="PingFang SC" pitchFamily="34" charset="0"/>
                <a:ea typeface="PingFang SC" pitchFamily="34" charset="-122"/>
                <a:cs typeface="PingFang SC" pitchFamily="34" charset="-120"/>
              </a:rPr>
              <a:t>Static Switch</a:t>
            </a:r>
            <a:endParaRPr lang="en-US" sz="1240" dirty="0"/>
          </a:p>
        </p:txBody>
      </p:sp>
      <p:sp>
        <p:nvSpPr>
          <p:cNvPr id="14" name="Shape 12"/>
          <p:cNvSpPr/>
          <p:nvPr/>
        </p:nvSpPr>
        <p:spPr>
          <a:xfrm>
            <a:off x="5998464" y="2523744"/>
            <a:ext cx="219456" cy="0"/>
          </a:xfrm>
          <a:prstGeom prst="line">
            <a:avLst/>
          </a:prstGeom>
          <a:noFill/>
          <a:ln w="22860">
            <a:solidFill>
              <a:srgbClr val="008C8C"/>
            </a:solidFill>
            <a:prstDash val="solid"/>
            <a:tailEnd type="triangle"/>
          </a:ln>
        </p:spPr>
      </p:sp>
      <p:sp>
        <p:nvSpPr>
          <p:cNvPr id="15" name="Shape 13"/>
          <p:cNvSpPr/>
          <p:nvPr/>
        </p:nvSpPr>
        <p:spPr>
          <a:xfrm>
            <a:off x="6254496" y="2176272"/>
            <a:ext cx="2450592" cy="694944"/>
          </a:xfrm>
          <a:prstGeom prst="rect">
            <a:avLst/>
          </a:prstGeom>
          <a:solidFill>
            <a:srgbClr val="EFF7DF"/>
          </a:solidFill>
          <a:ln w="12700">
            <a:solidFill>
              <a:srgbClr val="EFF7DF"/>
            </a:solidFill>
            <a:prstDash val="solid"/>
          </a:ln>
        </p:spPr>
      </p:sp>
      <p:sp>
        <p:nvSpPr>
          <p:cNvPr id="16" name="Text 14"/>
          <p:cNvSpPr/>
          <p:nvPr/>
        </p:nvSpPr>
        <p:spPr>
          <a:xfrm>
            <a:off x="6364224" y="2176272"/>
            <a:ext cx="2231136" cy="694944"/>
          </a:xfrm>
          <a:prstGeom prst="rect">
            <a:avLst/>
          </a:prstGeom>
          <a:noFill/>
          <a:ln/>
        </p:spPr>
        <p:txBody>
          <a:bodyPr wrap="square" lIns="0" tIns="0" rIns="0" bIns="0" rtlCol="0" anchor="ctr">
            <a:normAutofit/>
          </a:bodyPr>
          <a:lstStyle/>
          <a:p>
            <a:pPr algn="ctr" indent="0" marL="0">
              <a:lnSpc>
                <a:spcPct val="104000"/>
              </a:lnSpc>
              <a:buNone/>
            </a:pPr>
            <a:r>
              <a:rPr lang="en-US" sz="1080" b="1" dirty="0">
                <a:solidFill>
                  <a:srgbClr val="4F7F00"/>
                </a:solidFill>
                <a:latin typeface="SF Mono" pitchFamily="34" charset="0"/>
                <a:ea typeface="SF Mono" pitchFamily="34" charset="-122"/>
                <a:cs typeface="SF Mono" pitchFamily="34" charset="-120"/>
              </a:rPr>
              <a:t>Shader</a:t>
            </a:r>
            <a:endParaRPr lang="en-US" sz="1080" dirty="0"/>
          </a:p>
          <a:p>
            <a:pPr algn="ctr" indent="0" marL="0">
              <a:lnSpc>
                <a:spcPct val="104000"/>
              </a:lnSpc>
              <a:buNone/>
            </a:pPr>
            <a:r>
              <a:rPr lang="en-US" sz="1080" b="1" dirty="0">
                <a:solidFill>
                  <a:srgbClr val="4F7F00"/>
                </a:solidFill>
                <a:latin typeface="SF Mono" pitchFamily="34" charset="0"/>
                <a:ea typeface="SF Mono" pitchFamily="34" charset="-122"/>
                <a:cs typeface="SF Mono" pitchFamily="34" charset="-120"/>
              </a:rPr>
              <a:t>permutation</a:t>
            </a:r>
            <a:endParaRPr lang="en-US" sz="1080" dirty="0"/>
          </a:p>
        </p:txBody>
      </p:sp>
      <p:sp>
        <p:nvSpPr>
          <p:cNvPr id="17" name="Shape 15"/>
          <p:cNvSpPr/>
          <p:nvPr/>
        </p:nvSpPr>
        <p:spPr>
          <a:xfrm>
            <a:off x="8741664" y="2523744"/>
            <a:ext cx="219456" cy="0"/>
          </a:xfrm>
          <a:prstGeom prst="line">
            <a:avLst/>
          </a:prstGeom>
          <a:noFill/>
          <a:ln w="22860">
            <a:solidFill>
              <a:srgbClr val="008C8C"/>
            </a:solidFill>
            <a:prstDash val="solid"/>
            <a:tailEnd type="triangle"/>
          </a:ln>
        </p:spPr>
      </p:sp>
      <p:sp>
        <p:nvSpPr>
          <p:cNvPr id="18" name="Shape 16"/>
          <p:cNvSpPr/>
          <p:nvPr/>
        </p:nvSpPr>
        <p:spPr>
          <a:xfrm>
            <a:off x="8997696" y="2176272"/>
            <a:ext cx="2450592" cy="694944"/>
          </a:xfrm>
          <a:prstGeom prst="rect">
            <a:avLst/>
          </a:prstGeom>
          <a:solidFill>
            <a:srgbClr val="102A43"/>
          </a:solidFill>
          <a:ln w="12700">
            <a:solidFill>
              <a:srgbClr val="102A43"/>
            </a:solidFill>
            <a:prstDash val="solid"/>
          </a:ln>
        </p:spPr>
      </p:sp>
      <p:sp>
        <p:nvSpPr>
          <p:cNvPr id="19" name="Text 17"/>
          <p:cNvSpPr/>
          <p:nvPr/>
        </p:nvSpPr>
        <p:spPr>
          <a:xfrm>
            <a:off x="9107424" y="2176272"/>
            <a:ext cx="2231136" cy="694944"/>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FFFFFF"/>
                </a:solidFill>
                <a:latin typeface="SF Mono" pitchFamily="34" charset="0"/>
                <a:ea typeface="SF Mono" pitchFamily="34" charset="-122"/>
                <a:cs typeface="SF Mono" pitchFamily="34" charset="-120"/>
              </a:rPr>
              <a:t>Cook</a:t>
            </a:r>
            <a:endParaRPr lang="en-US" sz="1250" dirty="0"/>
          </a:p>
        </p:txBody>
      </p:sp>
      <p:sp>
        <p:nvSpPr>
          <p:cNvPr id="20" name="Text 18"/>
          <p:cNvSpPr/>
          <p:nvPr/>
        </p:nvSpPr>
        <p:spPr>
          <a:xfrm>
            <a:off x="768096" y="3163824"/>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4F7F00"/>
                </a:solidFill>
                <a:latin typeface="SF Mono" pitchFamily="34" charset="0"/>
                <a:ea typeface="SF Mono" pitchFamily="34" charset="-122"/>
                <a:cs typeface="SF Mono" pitchFamily="34" charset="-120"/>
              </a:rPr>
              <a:t>LAYER 2 · PSO PRECACHE</a:t>
            </a:r>
            <a:endParaRPr lang="en-US" sz="1100" dirty="0"/>
          </a:p>
        </p:txBody>
      </p:sp>
      <p:sp>
        <p:nvSpPr>
          <p:cNvPr id="21" name="Shape 19"/>
          <p:cNvSpPr/>
          <p:nvPr/>
        </p:nvSpPr>
        <p:spPr>
          <a:xfrm>
            <a:off x="768096" y="3474720"/>
            <a:ext cx="1945843" cy="694944"/>
          </a:xfrm>
          <a:prstGeom prst="rect">
            <a:avLst/>
          </a:prstGeom>
          <a:solidFill>
            <a:srgbClr val="E6F4F3"/>
          </a:solidFill>
          <a:ln w="12700">
            <a:solidFill>
              <a:srgbClr val="E6F4F3"/>
            </a:solidFill>
            <a:prstDash val="solid"/>
          </a:ln>
        </p:spPr>
      </p:sp>
      <p:sp>
        <p:nvSpPr>
          <p:cNvPr id="22" name="Text 20"/>
          <p:cNvSpPr/>
          <p:nvPr/>
        </p:nvSpPr>
        <p:spPr>
          <a:xfrm>
            <a:off x="877824" y="3474720"/>
            <a:ext cx="1726387" cy="694944"/>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008C8C"/>
                </a:solidFill>
                <a:latin typeface="SF Mono" pitchFamily="34" charset="0"/>
                <a:ea typeface="SF Mono" pitchFamily="34" charset="-122"/>
                <a:cs typeface="SF Mono" pitchFamily="34" charset="-120"/>
              </a:rPr>
              <a:t>Shader</a:t>
            </a:r>
            <a:endParaRPr lang="en-US" sz="1500" dirty="0"/>
          </a:p>
        </p:txBody>
      </p:sp>
      <p:sp>
        <p:nvSpPr>
          <p:cNvPr id="23" name="Shape 21"/>
          <p:cNvSpPr/>
          <p:nvPr/>
        </p:nvSpPr>
        <p:spPr>
          <a:xfrm>
            <a:off x="2750515" y="3822192"/>
            <a:ext cx="164592" cy="0"/>
          </a:xfrm>
          <a:prstGeom prst="line">
            <a:avLst/>
          </a:prstGeom>
          <a:noFill/>
          <a:ln w="22860">
            <a:solidFill>
              <a:srgbClr val="76B900"/>
            </a:solidFill>
            <a:prstDash val="solid"/>
            <a:tailEnd type="triangle"/>
          </a:ln>
        </p:spPr>
      </p:sp>
      <p:sp>
        <p:nvSpPr>
          <p:cNvPr id="24" name="Shape 22"/>
          <p:cNvSpPr/>
          <p:nvPr/>
        </p:nvSpPr>
        <p:spPr>
          <a:xfrm>
            <a:off x="2951683" y="3474720"/>
            <a:ext cx="1945843" cy="694944"/>
          </a:xfrm>
          <a:prstGeom prst="rect">
            <a:avLst/>
          </a:prstGeom>
          <a:solidFill>
            <a:srgbClr val="F4F7F9"/>
          </a:solidFill>
          <a:ln w="12700">
            <a:solidFill>
              <a:srgbClr val="F4F7F9"/>
            </a:solidFill>
            <a:prstDash val="solid"/>
          </a:ln>
        </p:spPr>
      </p:sp>
      <p:sp>
        <p:nvSpPr>
          <p:cNvPr id="25" name="Text 23"/>
          <p:cNvSpPr/>
          <p:nvPr/>
        </p:nvSpPr>
        <p:spPr>
          <a:xfrm>
            <a:off x="3061411" y="3474720"/>
            <a:ext cx="1726387" cy="694944"/>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102A43"/>
                </a:solidFill>
                <a:latin typeface="SF Mono" pitchFamily="34" charset="0"/>
                <a:ea typeface="SF Mono" pitchFamily="34" charset="-122"/>
                <a:cs typeface="SF Mono" pitchFamily="34" charset="-120"/>
              </a:rPr>
              <a:t>Layout</a:t>
            </a:r>
            <a:endParaRPr lang="en-US" sz="1500" dirty="0"/>
          </a:p>
        </p:txBody>
      </p:sp>
      <p:sp>
        <p:nvSpPr>
          <p:cNvPr id="26" name="Shape 24"/>
          <p:cNvSpPr/>
          <p:nvPr/>
        </p:nvSpPr>
        <p:spPr>
          <a:xfrm>
            <a:off x="4934102" y="3822192"/>
            <a:ext cx="164592" cy="0"/>
          </a:xfrm>
          <a:prstGeom prst="line">
            <a:avLst/>
          </a:prstGeom>
          <a:noFill/>
          <a:ln w="22860">
            <a:solidFill>
              <a:srgbClr val="76B900"/>
            </a:solidFill>
            <a:prstDash val="solid"/>
            <a:tailEnd type="triangle"/>
          </a:ln>
        </p:spPr>
      </p:sp>
      <p:sp>
        <p:nvSpPr>
          <p:cNvPr id="27" name="Shape 25"/>
          <p:cNvSpPr/>
          <p:nvPr/>
        </p:nvSpPr>
        <p:spPr>
          <a:xfrm>
            <a:off x="5135270" y="3474720"/>
            <a:ext cx="1945843" cy="694944"/>
          </a:xfrm>
          <a:prstGeom prst="rect">
            <a:avLst/>
          </a:prstGeom>
          <a:solidFill>
            <a:srgbClr val="F4F7F9"/>
          </a:solidFill>
          <a:ln w="12700">
            <a:solidFill>
              <a:srgbClr val="F4F7F9"/>
            </a:solidFill>
            <a:prstDash val="solid"/>
          </a:ln>
        </p:spPr>
      </p:sp>
      <p:sp>
        <p:nvSpPr>
          <p:cNvPr id="28" name="Text 26"/>
          <p:cNvSpPr/>
          <p:nvPr/>
        </p:nvSpPr>
        <p:spPr>
          <a:xfrm>
            <a:off x="5244998" y="3474720"/>
            <a:ext cx="1726387" cy="694944"/>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102A43"/>
                </a:solidFill>
                <a:latin typeface="SF Mono" pitchFamily="34" charset="0"/>
                <a:ea typeface="SF Mono" pitchFamily="34" charset="-122"/>
                <a:cs typeface="SF Mono" pitchFamily="34" charset="-120"/>
              </a:rPr>
              <a:t>Pass</a:t>
            </a:r>
            <a:endParaRPr lang="en-US" sz="1500" dirty="0"/>
          </a:p>
        </p:txBody>
      </p:sp>
      <p:sp>
        <p:nvSpPr>
          <p:cNvPr id="29" name="Shape 27"/>
          <p:cNvSpPr/>
          <p:nvPr/>
        </p:nvSpPr>
        <p:spPr>
          <a:xfrm>
            <a:off x="7117690" y="3822192"/>
            <a:ext cx="164592" cy="0"/>
          </a:xfrm>
          <a:prstGeom prst="line">
            <a:avLst/>
          </a:prstGeom>
          <a:noFill/>
          <a:ln w="22860">
            <a:solidFill>
              <a:srgbClr val="76B900"/>
            </a:solidFill>
            <a:prstDash val="solid"/>
            <a:tailEnd type="triangle"/>
          </a:ln>
        </p:spPr>
      </p:sp>
      <p:sp>
        <p:nvSpPr>
          <p:cNvPr id="30" name="Shape 28"/>
          <p:cNvSpPr/>
          <p:nvPr/>
        </p:nvSpPr>
        <p:spPr>
          <a:xfrm>
            <a:off x="7318858" y="3474720"/>
            <a:ext cx="1945843" cy="694944"/>
          </a:xfrm>
          <a:prstGeom prst="rect">
            <a:avLst/>
          </a:prstGeom>
          <a:solidFill>
            <a:srgbClr val="F4F7F9"/>
          </a:solidFill>
          <a:ln w="12700">
            <a:solidFill>
              <a:srgbClr val="F4F7F9"/>
            </a:solidFill>
            <a:prstDash val="solid"/>
          </a:ln>
        </p:spPr>
      </p:sp>
      <p:sp>
        <p:nvSpPr>
          <p:cNvPr id="31" name="Text 29"/>
          <p:cNvSpPr/>
          <p:nvPr/>
        </p:nvSpPr>
        <p:spPr>
          <a:xfrm>
            <a:off x="7428586" y="3474720"/>
            <a:ext cx="1726387" cy="694944"/>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SF Mono" pitchFamily="34" charset="0"/>
                <a:ea typeface="SF Mono" pitchFamily="34" charset="-122"/>
                <a:cs typeface="SF Mono" pitchFamily="34" charset="-120"/>
              </a:rPr>
              <a:t>Render State</a:t>
            </a:r>
            <a:endParaRPr lang="en-US" sz="1220" dirty="0"/>
          </a:p>
        </p:txBody>
      </p:sp>
      <p:sp>
        <p:nvSpPr>
          <p:cNvPr id="32" name="Shape 30"/>
          <p:cNvSpPr/>
          <p:nvPr/>
        </p:nvSpPr>
        <p:spPr>
          <a:xfrm>
            <a:off x="9301277" y="3822192"/>
            <a:ext cx="164592" cy="0"/>
          </a:xfrm>
          <a:prstGeom prst="line">
            <a:avLst/>
          </a:prstGeom>
          <a:noFill/>
          <a:ln w="22860">
            <a:solidFill>
              <a:srgbClr val="76B900"/>
            </a:solidFill>
            <a:prstDash val="solid"/>
            <a:tailEnd type="triangle"/>
          </a:ln>
        </p:spPr>
      </p:sp>
      <p:sp>
        <p:nvSpPr>
          <p:cNvPr id="33" name="Shape 31"/>
          <p:cNvSpPr/>
          <p:nvPr/>
        </p:nvSpPr>
        <p:spPr>
          <a:xfrm>
            <a:off x="9502445" y="3474720"/>
            <a:ext cx="1945843" cy="694944"/>
          </a:xfrm>
          <a:prstGeom prst="rect">
            <a:avLst/>
          </a:prstGeom>
          <a:solidFill>
            <a:srgbClr val="EFF7DF"/>
          </a:solidFill>
          <a:ln w="12700">
            <a:solidFill>
              <a:srgbClr val="EFF7DF"/>
            </a:solidFill>
            <a:prstDash val="solid"/>
          </a:ln>
        </p:spPr>
      </p:sp>
      <p:sp>
        <p:nvSpPr>
          <p:cNvPr id="34" name="Text 32"/>
          <p:cNvSpPr/>
          <p:nvPr/>
        </p:nvSpPr>
        <p:spPr>
          <a:xfrm>
            <a:off x="9612173" y="3474720"/>
            <a:ext cx="1726387" cy="694944"/>
          </a:xfrm>
          <a:prstGeom prst="rect">
            <a:avLst/>
          </a:prstGeom>
          <a:noFill/>
          <a:ln/>
        </p:spPr>
        <p:txBody>
          <a:bodyPr wrap="square" lIns="0" tIns="0" rIns="0" bIns="0" rtlCol="0" anchor="ctr">
            <a:normAutofit/>
          </a:bodyPr>
          <a:lstStyle/>
          <a:p>
            <a:pPr algn="ctr" indent="0" marL="0">
              <a:lnSpc>
                <a:spcPct val="104000"/>
              </a:lnSpc>
              <a:buNone/>
            </a:pPr>
            <a:r>
              <a:rPr lang="en-US" sz="1150" b="1" dirty="0">
                <a:solidFill>
                  <a:srgbClr val="4F7F00"/>
                </a:solidFill>
                <a:latin typeface="SF Mono" pitchFamily="34" charset="0"/>
                <a:ea typeface="SF Mono" pitchFamily="34" charset="-122"/>
                <a:cs typeface="SF Mono" pitchFamily="34" charset="-120"/>
              </a:rPr>
              <a:t>PSO Precache</a:t>
            </a:r>
            <a:endParaRPr lang="en-US" sz="1150" dirty="0"/>
          </a:p>
        </p:txBody>
      </p:sp>
      <p:sp>
        <p:nvSpPr>
          <p:cNvPr id="35" name="Text 33"/>
          <p:cNvSpPr/>
          <p:nvPr/>
        </p:nvSpPr>
        <p:spPr>
          <a:xfrm>
            <a:off x="822960" y="4572000"/>
            <a:ext cx="1828800" cy="219456"/>
          </a:xfrm>
          <a:prstGeom prst="rect">
            <a:avLst/>
          </a:prstGeom>
          <a:noFill/>
          <a:ln/>
        </p:spPr>
        <p:txBody>
          <a:bodyPr wrap="square" lIns="0" tIns="0" rIns="0" bIns="0" rtlCol="0" anchor="t">
            <a:normAutofit/>
          </a:bodyPr>
          <a:lstStyle/>
          <a:p>
            <a:pPr algn="l" indent="0" marL="0">
              <a:lnSpc>
                <a:spcPct val="104000"/>
              </a:lnSpc>
              <a:buNone/>
            </a:pPr>
            <a:r>
              <a:rPr lang="en-US" sz="1160" b="1" dirty="0">
                <a:solidFill>
                  <a:srgbClr val="008C8C"/>
                </a:solidFill>
                <a:latin typeface="SF Mono" pitchFamily="34" charset="0"/>
                <a:ea typeface="SF Mono" pitchFamily="34" charset="-122"/>
                <a:cs typeface="SF Mono" pitchFamily="34" charset="-120"/>
              </a:rPr>
              <a:t>为什么范围可知</a:t>
            </a:r>
            <a:endParaRPr lang="en-US" sz="1160" dirty="0"/>
          </a:p>
        </p:txBody>
      </p:sp>
      <p:sp>
        <p:nvSpPr>
          <p:cNvPr id="36" name="Text 34"/>
          <p:cNvSpPr/>
          <p:nvPr/>
        </p:nvSpPr>
        <p:spPr>
          <a:xfrm>
            <a:off x="822960" y="4828032"/>
            <a:ext cx="4425696" cy="457200"/>
          </a:xfrm>
          <a:prstGeom prst="rect">
            <a:avLst/>
          </a:prstGeom>
          <a:noFill/>
          <a:ln/>
        </p:spPr>
        <p:txBody>
          <a:bodyPr wrap="square" lIns="0" tIns="0" rIns="0" bIns="0" rtlCol="0" anchor="t">
            <a:normAutofit/>
          </a:bodyPr>
          <a:lstStyle/>
          <a:p>
            <a:pPr algn="l" indent="0" marL="0">
              <a:lnSpc>
                <a:spcPct val="104000"/>
              </a:lnSpc>
              <a:buNone/>
            </a:pPr>
            <a:r>
              <a:rPr lang="en-US" sz="1420" b="1" dirty="0">
                <a:solidFill>
                  <a:srgbClr val="102A43"/>
                </a:solidFill>
                <a:latin typeface="PingFang SC" pitchFamily="34" charset="0"/>
                <a:ea typeface="PingFang SC" pitchFamily="34" charset="-122"/>
                <a:cs typeface="PingFang SC" pitchFamily="34" charset="-120"/>
              </a:rPr>
              <a:t>资产、Material、平台和质量配置共同提供边界。</a:t>
            </a:r>
            <a:endParaRPr lang="en-US" sz="1420" dirty="0"/>
          </a:p>
        </p:txBody>
      </p:sp>
      <p:sp>
        <p:nvSpPr>
          <p:cNvPr id="37" name="Shape 35"/>
          <p:cNvSpPr/>
          <p:nvPr/>
        </p:nvSpPr>
        <p:spPr>
          <a:xfrm>
            <a:off x="5724144" y="4572000"/>
            <a:ext cx="0" cy="749808"/>
          </a:xfrm>
          <a:prstGeom prst="line">
            <a:avLst/>
          </a:prstGeom>
          <a:noFill/>
          <a:ln w="13970">
            <a:solidFill>
              <a:srgbClr val="D9E2EC"/>
            </a:solidFill>
            <a:prstDash val="solid"/>
          </a:ln>
        </p:spPr>
      </p:sp>
      <p:sp>
        <p:nvSpPr>
          <p:cNvPr id="38" name="Text 36"/>
          <p:cNvSpPr/>
          <p:nvPr/>
        </p:nvSpPr>
        <p:spPr>
          <a:xfrm>
            <a:off x="6181344" y="4572000"/>
            <a:ext cx="1828800" cy="219456"/>
          </a:xfrm>
          <a:prstGeom prst="rect">
            <a:avLst/>
          </a:prstGeom>
          <a:noFill/>
          <a:ln/>
        </p:spPr>
        <p:txBody>
          <a:bodyPr wrap="square" lIns="0" tIns="0" rIns="0" bIns="0" rtlCol="0" anchor="t">
            <a:normAutofit/>
          </a:bodyPr>
          <a:lstStyle/>
          <a:p>
            <a:pPr algn="l" indent="0" marL="0">
              <a:lnSpc>
                <a:spcPct val="104000"/>
              </a:lnSpc>
              <a:buNone/>
            </a:pPr>
            <a:r>
              <a:rPr lang="en-US" sz="1160" b="1" dirty="0">
                <a:solidFill>
                  <a:srgbClr val="D95D4F"/>
                </a:solidFill>
                <a:latin typeface="SF Mono" pitchFamily="34" charset="0"/>
                <a:ea typeface="SF Mono" pitchFamily="34" charset="-122"/>
                <a:cs typeface="SF Mono" pitchFamily="34" charset="-120"/>
              </a:rPr>
              <a:t>TGFX 只借鉴</a:t>
            </a:r>
            <a:endParaRPr lang="en-US" sz="1160" dirty="0"/>
          </a:p>
        </p:txBody>
      </p:sp>
      <p:sp>
        <p:nvSpPr>
          <p:cNvPr id="39" name="Text 37"/>
          <p:cNvSpPr/>
          <p:nvPr/>
        </p:nvSpPr>
        <p:spPr>
          <a:xfrm>
            <a:off x="6181344" y="4846320"/>
            <a:ext cx="5065776" cy="493776"/>
          </a:xfrm>
          <a:prstGeom prst="rect">
            <a:avLst/>
          </a:prstGeom>
          <a:noFill/>
          <a:ln/>
        </p:spPr>
        <p:txBody>
          <a:bodyPr wrap="square" lIns="0" tIns="0" rIns="0" bIns="0" rtlCol="0" anchor="t">
            <a:normAutofit/>
          </a:bodyPr>
          <a:lstStyle/>
          <a:p>
            <a:pPr algn="l" indent="0" marL="0">
              <a:lnSpc>
                <a:spcPct val="104000"/>
              </a:lnSpc>
              <a:buNone/>
            </a:pPr>
            <a:r>
              <a:rPr lang="en-US" sz="1420" b="1" dirty="0">
                <a:solidFill>
                  <a:srgbClr val="102A43"/>
                </a:solidFill>
                <a:latin typeface="PingFang SC" pitchFamily="34" charset="0"/>
                <a:ea typeface="PingFang SC" pitchFamily="34" charset="-122"/>
                <a:cs typeface="PingFang SC" pitchFamily="34" charset="-120"/>
              </a:rPr>
              <a:t>有限静态维度与 Shader / Pipeline 分层；不复制 Material Cook 或完整 PSO 枚举。</a:t>
            </a:r>
            <a:endParaRPr lang="en-US" sz="1420" dirty="0"/>
          </a:p>
        </p:txBody>
      </p:sp>
      <p:sp>
        <p:nvSpPr>
          <p:cNvPr id="40" name="Shape 38"/>
          <p:cNvSpPr/>
          <p:nvPr/>
        </p:nvSpPr>
        <p:spPr>
          <a:xfrm>
            <a:off x="658368" y="5742432"/>
            <a:ext cx="10874959" cy="438912"/>
          </a:xfrm>
          <a:prstGeom prst="rect">
            <a:avLst/>
          </a:prstGeom>
          <a:solidFill>
            <a:srgbClr val="EFF7DF"/>
          </a:solidFill>
          <a:ln w="12700">
            <a:solidFill>
              <a:srgbClr val="EFF7DF"/>
            </a:solidFill>
            <a:prstDash val="solid"/>
          </a:ln>
        </p:spPr>
      </p:sp>
      <p:sp>
        <p:nvSpPr>
          <p:cNvPr id="41" name="Text 39"/>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UE 依靠完整项目构建上下文界定范围，而不是由底层渲染库独自推断业务组合。</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09 · TGFX OWNS THE FINITE SET</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000" b="1" dirty="0">
                <a:solidFill>
                  <a:srgbClr val="102A43"/>
                </a:solidFill>
                <a:latin typeface="PingFang SC" pitchFamily="34" charset="0"/>
                <a:ea typeface="PingFang SC" pitchFamily="34" charset="-122"/>
                <a:cs typeface="PingFang SC" pitchFamily="34" charset="-120"/>
              </a:rPr>
              <a:t>TGFX 拿不到业务清单，因此预编译范围只能由库内定义</a:t>
            </a:r>
            <a:endParaRPr lang="en-US" sz="30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09</a:t>
            </a:r>
            <a:endParaRPr lang="en-US" sz="1000" dirty="0"/>
          </a:p>
        </p:txBody>
      </p:sp>
      <p:sp>
        <p:nvSpPr>
          <p:cNvPr id="7" name="Text 5"/>
          <p:cNvSpPr/>
          <p:nvPr/>
        </p:nvSpPr>
        <p:spPr>
          <a:xfrm>
            <a:off x="658368" y="1353312"/>
            <a:ext cx="10874959" cy="329184"/>
          </a:xfrm>
          <a:prstGeom prst="rect">
            <a:avLst/>
          </a:prstGeom>
          <a:noFill/>
          <a:ln/>
        </p:spPr>
        <p:txBody>
          <a:bodyPr wrap="square" lIns="0" tIns="0" rIns="0" bIns="0" rtlCol="0" anchor="t">
            <a:normAutofit/>
          </a:bodyPr>
          <a:lstStyle/>
          <a:p>
            <a:pPr algn="l" indent="0" marL="0">
              <a:lnSpc>
                <a:spcPct val="104000"/>
              </a:lnSpc>
              <a:buNone/>
            </a:pPr>
            <a:r>
              <a:rPr lang="en-US" sz="1550" dirty="0">
                <a:solidFill>
                  <a:srgbClr val="334E68"/>
                </a:solidFill>
                <a:latin typeface="PingFang SC" pitchFamily="34" charset="0"/>
                <a:ea typeface="PingFang SC" pitchFamily="34" charset="-122"/>
                <a:cs typeface="PingFang SC" pitchFamily="34" charset="-120"/>
              </a:rPr>
              <a:t>第4页提出责任问题，第5—8页给出行业前提；逐项对照后，TGFX 没有可外包的范围来源。</a:t>
            </a:r>
            <a:endParaRPr lang="en-US" sz="1550" dirty="0"/>
          </a:p>
        </p:txBody>
      </p:sp>
      <p:sp>
        <p:nvSpPr>
          <p:cNvPr id="8" name="Shape 6"/>
          <p:cNvSpPr/>
          <p:nvPr/>
        </p:nvSpPr>
        <p:spPr>
          <a:xfrm>
            <a:off x="768096" y="1828800"/>
            <a:ext cx="2798064" cy="438912"/>
          </a:xfrm>
          <a:prstGeom prst="rect">
            <a:avLst/>
          </a:prstGeom>
          <a:solidFill>
            <a:srgbClr val="102A43"/>
          </a:solidFill>
          <a:ln w="12700">
            <a:solidFill>
              <a:srgbClr val="102A43"/>
            </a:solidFill>
            <a:prstDash val="solid"/>
          </a:ln>
        </p:spPr>
      </p:sp>
      <p:sp>
        <p:nvSpPr>
          <p:cNvPr id="9" name="Text 7"/>
          <p:cNvSpPr/>
          <p:nvPr/>
        </p:nvSpPr>
        <p:spPr>
          <a:xfrm>
            <a:off x="877824" y="1828800"/>
            <a:ext cx="2578608" cy="438912"/>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FFFFFF"/>
                </a:solidFill>
                <a:latin typeface="PingFang SC" pitchFamily="34" charset="0"/>
                <a:ea typeface="PingFang SC" pitchFamily="34" charset="-122"/>
                <a:cs typeface="PingFang SC" pitchFamily="34" charset="-120"/>
              </a:rPr>
              <a:t>候选范围来源</a:t>
            </a:r>
            <a:endParaRPr lang="en-US" sz="1300" dirty="0"/>
          </a:p>
        </p:txBody>
      </p:sp>
      <p:sp>
        <p:nvSpPr>
          <p:cNvPr id="10" name="Shape 8"/>
          <p:cNvSpPr/>
          <p:nvPr/>
        </p:nvSpPr>
        <p:spPr>
          <a:xfrm>
            <a:off x="3675888" y="1828800"/>
            <a:ext cx="4590288" cy="438912"/>
          </a:xfrm>
          <a:prstGeom prst="rect">
            <a:avLst/>
          </a:prstGeom>
          <a:solidFill>
            <a:srgbClr val="102A43"/>
          </a:solidFill>
          <a:ln w="12700">
            <a:solidFill>
              <a:srgbClr val="102A43"/>
            </a:solidFill>
            <a:prstDash val="solid"/>
          </a:ln>
        </p:spPr>
      </p:sp>
      <p:sp>
        <p:nvSpPr>
          <p:cNvPr id="11" name="Text 9"/>
          <p:cNvSpPr/>
          <p:nvPr/>
        </p:nvSpPr>
        <p:spPr>
          <a:xfrm>
            <a:off x="3785616" y="1828800"/>
            <a:ext cx="4370832" cy="438912"/>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FFFFFF"/>
                </a:solidFill>
                <a:latin typeface="PingFang SC" pitchFamily="34" charset="0"/>
                <a:ea typeface="PingFang SC" pitchFamily="34" charset="-122"/>
                <a:cs typeface="PingFang SC" pitchFamily="34" charset="-120"/>
              </a:rPr>
              <a:t>为什么不适用于 TGFX</a:t>
            </a:r>
            <a:endParaRPr lang="en-US" sz="1300" dirty="0"/>
          </a:p>
        </p:txBody>
      </p:sp>
      <p:sp>
        <p:nvSpPr>
          <p:cNvPr id="12" name="Shape 10"/>
          <p:cNvSpPr/>
          <p:nvPr/>
        </p:nvSpPr>
        <p:spPr>
          <a:xfrm>
            <a:off x="768096" y="2395728"/>
            <a:ext cx="2798064" cy="493776"/>
          </a:xfrm>
          <a:prstGeom prst="rect">
            <a:avLst/>
          </a:prstGeom>
          <a:solidFill>
            <a:srgbClr val="E6F4F3"/>
          </a:solidFill>
          <a:ln w="12700">
            <a:solidFill>
              <a:srgbClr val="E6F4F3"/>
            </a:solidFill>
            <a:prstDash val="solid"/>
          </a:ln>
        </p:spPr>
      </p:sp>
      <p:sp>
        <p:nvSpPr>
          <p:cNvPr id="13" name="Text 11"/>
          <p:cNvSpPr/>
          <p:nvPr/>
        </p:nvSpPr>
        <p:spPr>
          <a:xfrm>
            <a:off x="877824" y="2395728"/>
            <a:ext cx="2578608" cy="493776"/>
          </a:xfrm>
          <a:prstGeom prst="rect">
            <a:avLst/>
          </a:prstGeom>
          <a:noFill/>
          <a:ln/>
        </p:spPr>
        <p:txBody>
          <a:bodyPr wrap="square" lIns="0" tIns="0" rIns="0" bIns="0" rtlCol="0" anchor="ctr">
            <a:normAutofit/>
          </a:bodyPr>
          <a:lstStyle/>
          <a:p>
            <a:pPr algn="ctr" indent="0" marL="0">
              <a:lnSpc>
                <a:spcPct val="104000"/>
              </a:lnSpc>
              <a:buNone/>
            </a:pPr>
            <a:r>
              <a:rPr lang="en-US" sz="1400" b="1" dirty="0">
                <a:solidFill>
                  <a:srgbClr val="008C8C"/>
                </a:solidFill>
                <a:latin typeface="PingFang SC" pitchFamily="34" charset="0"/>
                <a:ea typeface="PingFang SC" pitchFamily="34" charset="-122"/>
                <a:cs typeface="PingFang SC" pitchFamily="34" charset="-120"/>
              </a:rPr>
              <a:t>调用方申报</a:t>
            </a:r>
            <a:endParaRPr lang="en-US" sz="1400" dirty="0"/>
          </a:p>
        </p:txBody>
      </p:sp>
      <p:sp>
        <p:nvSpPr>
          <p:cNvPr id="14" name="Shape 12"/>
          <p:cNvSpPr/>
          <p:nvPr/>
        </p:nvSpPr>
        <p:spPr>
          <a:xfrm>
            <a:off x="3675888" y="2395728"/>
            <a:ext cx="4590288" cy="493776"/>
          </a:xfrm>
          <a:prstGeom prst="rect">
            <a:avLst/>
          </a:prstGeom>
          <a:solidFill>
            <a:srgbClr val="FFFFFF"/>
          </a:solidFill>
          <a:ln w="10160">
            <a:solidFill>
              <a:srgbClr val="D9E2EC"/>
            </a:solidFill>
            <a:prstDash val="solid"/>
          </a:ln>
        </p:spPr>
      </p:sp>
      <p:sp>
        <p:nvSpPr>
          <p:cNvPr id="15" name="Text 13"/>
          <p:cNvSpPr/>
          <p:nvPr/>
        </p:nvSpPr>
        <p:spPr>
          <a:xfrm>
            <a:off x="3877056" y="2395728"/>
            <a:ext cx="4187952" cy="493776"/>
          </a:xfrm>
          <a:prstGeom prst="rect">
            <a:avLst/>
          </a:prstGeom>
          <a:noFill/>
          <a:ln/>
        </p:spPr>
        <p:txBody>
          <a:bodyPr wrap="square" lIns="0" tIns="0" rIns="0" bIns="0" rtlCol="0" anchor="ctr">
            <a:normAutofit/>
          </a:bodyPr>
          <a:lstStyle/>
          <a:p>
            <a:pPr algn="l" indent="0" marL="0">
              <a:lnSpc>
                <a:spcPct val="104000"/>
              </a:lnSpc>
              <a:buNone/>
            </a:pPr>
            <a:r>
              <a:rPr lang="en-US" sz="1380" b="1" dirty="0">
                <a:solidFill>
                  <a:srgbClr val="102A43"/>
                </a:solidFill>
                <a:latin typeface="PingFang SC" pitchFamily="34" charset="0"/>
                <a:ea typeface="PingFang SC" pitchFamily="34" charset="-122"/>
                <a:cs typeface="PingFang SC" pitchFamily="34" charset="-120"/>
              </a:rPr>
              <a:t>下游没有组合清单</a:t>
            </a:r>
            <a:endParaRPr lang="en-US" sz="1380" dirty="0"/>
          </a:p>
        </p:txBody>
      </p:sp>
      <p:sp>
        <p:nvSpPr>
          <p:cNvPr id="16" name="Shape 14"/>
          <p:cNvSpPr/>
          <p:nvPr/>
        </p:nvSpPr>
        <p:spPr>
          <a:xfrm>
            <a:off x="8430768" y="2642616"/>
            <a:ext cx="530352" cy="0"/>
          </a:xfrm>
          <a:prstGeom prst="line">
            <a:avLst/>
          </a:prstGeom>
          <a:noFill/>
          <a:ln w="19050">
            <a:solidFill>
              <a:srgbClr val="D95D4F"/>
            </a:solidFill>
            <a:prstDash val="solid"/>
            <a:tailEnd type="triangle"/>
          </a:ln>
        </p:spPr>
      </p:sp>
      <p:sp>
        <p:nvSpPr>
          <p:cNvPr id="17" name="Shape 15"/>
          <p:cNvSpPr/>
          <p:nvPr/>
        </p:nvSpPr>
        <p:spPr>
          <a:xfrm>
            <a:off x="768096" y="3072384"/>
            <a:ext cx="2798064" cy="493776"/>
          </a:xfrm>
          <a:prstGeom prst="rect">
            <a:avLst/>
          </a:prstGeom>
          <a:solidFill>
            <a:srgbClr val="EFF7DF"/>
          </a:solidFill>
          <a:ln w="12700">
            <a:solidFill>
              <a:srgbClr val="EFF7DF"/>
            </a:solidFill>
            <a:prstDash val="solid"/>
          </a:ln>
        </p:spPr>
      </p:sp>
      <p:sp>
        <p:nvSpPr>
          <p:cNvPr id="18" name="Text 16"/>
          <p:cNvSpPr/>
          <p:nvPr/>
        </p:nvSpPr>
        <p:spPr>
          <a:xfrm>
            <a:off x="877824" y="3072384"/>
            <a:ext cx="2578608" cy="493776"/>
          </a:xfrm>
          <a:prstGeom prst="rect">
            <a:avLst/>
          </a:prstGeom>
          <a:noFill/>
          <a:ln/>
        </p:spPr>
        <p:txBody>
          <a:bodyPr wrap="square" lIns="0" tIns="0" rIns="0" bIns="0" rtlCol="0" anchor="ctr">
            <a:normAutofit/>
          </a:bodyPr>
          <a:lstStyle/>
          <a:p>
            <a:pPr algn="ctr" indent="0" marL="0">
              <a:lnSpc>
                <a:spcPct val="104000"/>
              </a:lnSpc>
              <a:buNone/>
            </a:pPr>
            <a:r>
              <a:rPr lang="en-US" sz="1400" b="1" dirty="0">
                <a:solidFill>
                  <a:srgbClr val="4F7F00"/>
                </a:solidFill>
                <a:latin typeface="PingFang SC" pitchFamily="34" charset="0"/>
                <a:ea typeface="PingFang SC" pitchFamily="34" charset="-122"/>
                <a:cs typeface="PingFang SC" pitchFamily="34" charset="-120"/>
              </a:rPr>
              <a:t>项目资产 Cook</a:t>
            </a:r>
            <a:endParaRPr lang="en-US" sz="1400" dirty="0"/>
          </a:p>
        </p:txBody>
      </p:sp>
      <p:sp>
        <p:nvSpPr>
          <p:cNvPr id="19" name="Shape 17"/>
          <p:cNvSpPr/>
          <p:nvPr/>
        </p:nvSpPr>
        <p:spPr>
          <a:xfrm>
            <a:off x="3675888" y="3072384"/>
            <a:ext cx="4590288" cy="493776"/>
          </a:xfrm>
          <a:prstGeom prst="rect">
            <a:avLst/>
          </a:prstGeom>
          <a:solidFill>
            <a:srgbClr val="FFFFFF"/>
          </a:solidFill>
          <a:ln w="10160">
            <a:solidFill>
              <a:srgbClr val="D9E2EC"/>
            </a:solidFill>
            <a:prstDash val="solid"/>
          </a:ln>
        </p:spPr>
      </p:sp>
      <p:sp>
        <p:nvSpPr>
          <p:cNvPr id="20" name="Text 18"/>
          <p:cNvSpPr/>
          <p:nvPr/>
        </p:nvSpPr>
        <p:spPr>
          <a:xfrm>
            <a:off x="3877056" y="3072384"/>
            <a:ext cx="4187952" cy="493776"/>
          </a:xfrm>
          <a:prstGeom prst="rect">
            <a:avLst/>
          </a:prstGeom>
          <a:noFill/>
          <a:ln/>
        </p:spPr>
        <p:txBody>
          <a:bodyPr wrap="square" lIns="0" tIns="0" rIns="0" bIns="0" rtlCol="0" anchor="ctr">
            <a:normAutofit/>
          </a:bodyPr>
          <a:lstStyle/>
          <a:p>
            <a:pPr algn="l" indent="0" marL="0">
              <a:lnSpc>
                <a:spcPct val="104000"/>
              </a:lnSpc>
              <a:buNone/>
            </a:pPr>
            <a:r>
              <a:rPr lang="en-US" sz="1380" b="1" dirty="0">
                <a:solidFill>
                  <a:srgbClr val="102A43"/>
                </a:solidFill>
                <a:latin typeface="PingFang SC" pitchFamily="34" charset="0"/>
                <a:ea typeface="PingFang SC" pitchFamily="34" charset="-122"/>
                <a:cs typeface="PingFang SC" pitchFamily="34" charset="-120"/>
              </a:rPr>
              <a:t>TGFX 构建阶段看不到下游项目资产</a:t>
            </a:r>
            <a:endParaRPr lang="en-US" sz="1380" dirty="0"/>
          </a:p>
        </p:txBody>
      </p:sp>
      <p:sp>
        <p:nvSpPr>
          <p:cNvPr id="21" name="Shape 19"/>
          <p:cNvSpPr/>
          <p:nvPr/>
        </p:nvSpPr>
        <p:spPr>
          <a:xfrm>
            <a:off x="8430768" y="3319272"/>
            <a:ext cx="530352" cy="0"/>
          </a:xfrm>
          <a:prstGeom prst="line">
            <a:avLst/>
          </a:prstGeom>
          <a:noFill/>
          <a:ln w="19050">
            <a:solidFill>
              <a:srgbClr val="D95D4F"/>
            </a:solidFill>
            <a:prstDash val="solid"/>
            <a:tailEnd type="triangle"/>
          </a:ln>
        </p:spPr>
      </p:sp>
      <p:sp>
        <p:nvSpPr>
          <p:cNvPr id="22" name="Shape 20"/>
          <p:cNvSpPr/>
          <p:nvPr/>
        </p:nvSpPr>
        <p:spPr>
          <a:xfrm>
            <a:off x="768096" y="3749040"/>
            <a:ext cx="2798064" cy="493776"/>
          </a:xfrm>
          <a:prstGeom prst="rect">
            <a:avLst/>
          </a:prstGeom>
          <a:solidFill>
            <a:srgbClr val="FBECE9"/>
          </a:solidFill>
          <a:ln w="12700">
            <a:solidFill>
              <a:srgbClr val="FBECE9"/>
            </a:solidFill>
            <a:prstDash val="solid"/>
          </a:ln>
        </p:spPr>
      </p:sp>
      <p:sp>
        <p:nvSpPr>
          <p:cNvPr id="23" name="Text 21"/>
          <p:cNvSpPr/>
          <p:nvPr/>
        </p:nvSpPr>
        <p:spPr>
          <a:xfrm>
            <a:off x="877824" y="3749040"/>
            <a:ext cx="2578608" cy="493776"/>
          </a:xfrm>
          <a:prstGeom prst="rect">
            <a:avLst/>
          </a:prstGeom>
          <a:noFill/>
          <a:ln/>
        </p:spPr>
        <p:txBody>
          <a:bodyPr wrap="square" lIns="0" tIns="0" rIns="0" bIns="0" rtlCol="0" anchor="ctr">
            <a:normAutofit/>
          </a:bodyPr>
          <a:lstStyle/>
          <a:p>
            <a:pPr algn="ctr" indent="0" marL="0">
              <a:lnSpc>
                <a:spcPct val="104000"/>
              </a:lnSpc>
              <a:buNone/>
            </a:pPr>
            <a:r>
              <a:rPr lang="en-US" sz="1400" b="1" dirty="0">
                <a:solidFill>
                  <a:srgbClr val="D95D4F"/>
                </a:solidFill>
                <a:latin typeface="PingFang SC" pitchFamily="34" charset="0"/>
                <a:ea typeface="PingFang SC" pitchFamily="34" charset="-122"/>
                <a:cs typeface="PingFang SC" pitchFamily="34" charset="-120"/>
              </a:rPr>
              <a:t>限制固定能力</a:t>
            </a:r>
            <a:endParaRPr lang="en-US" sz="1400" dirty="0"/>
          </a:p>
        </p:txBody>
      </p:sp>
      <p:sp>
        <p:nvSpPr>
          <p:cNvPr id="24" name="Shape 22"/>
          <p:cNvSpPr/>
          <p:nvPr/>
        </p:nvSpPr>
        <p:spPr>
          <a:xfrm>
            <a:off x="3675888" y="3749040"/>
            <a:ext cx="4590288" cy="493776"/>
          </a:xfrm>
          <a:prstGeom prst="rect">
            <a:avLst/>
          </a:prstGeom>
          <a:solidFill>
            <a:srgbClr val="FFFFFF"/>
          </a:solidFill>
          <a:ln w="10160">
            <a:solidFill>
              <a:srgbClr val="D9E2EC"/>
            </a:solidFill>
            <a:prstDash val="solid"/>
          </a:ln>
        </p:spPr>
      </p:sp>
      <p:sp>
        <p:nvSpPr>
          <p:cNvPr id="25" name="Text 23"/>
          <p:cNvSpPr/>
          <p:nvPr/>
        </p:nvSpPr>
        <p:spPr>
          <a:xfrm>
            <a:off x="3877056" y="3749040"/>
            <a:ext cx="4187952" cy="493776"/>
          </a:xfrm>
          <a:prstGeom prst="rect">
            <a:avLst/>
          </a:prstGeom>
          <a:noFill/>
          <a:ln/>
        </p:spPr>
        <p:txBody>
          <a:bodyPr wrap="square" lIns="0" tIns="0" rIns="0" bIns="0" rtlCol="0" anchor="ctr">
            <a:normAutofit/>
          </a:bodyPr>
          <a:lstStyle/>
          <a:p>
            <a:pPr algn="l" indent="0" marL="0">
              <a:lnSpc>
                <a:spcPct val="104000"/>
              </a:lnSpc>
              <a:buNone/>
            </a:pPr>
            <a:r>
              <a:rPr lang="en-US" sz="1380" b="1" dirty="0">
                <a:solidFill>
                  <a:srgbClr val="102A43"/>
                </a:solidFill>
                <a:latin typeface="PingFang SC" pitchFamily="34" charset="0"/>
                <a:ea typeface="PingFang SC" pitchFamily="34" charset="-122"/>
                <a:cs typeface="PingFang SC" pitchFamily="34" charset="-120"/>
              </a:rPr>
              <a:t>会收窄公开 API</a:t>
            </a:r>
            <a:endParaRPr lang="en-US" sz="1380" dirty="0"/>
          </a:p>
        </p:txBody>
      </p:sp>
      <p:sp>
        <p:nvSpPr>
          <p:cNvPr id="26" name="Shape 24"/>
          <p:cNvSpPr/>
          <p:nvPr/>
        </p:nvSpPr>
        <p:spPr>
          <a:xfrm>
            <a:off x="8430768" y="3995928"/>
            <a:ext cx="530352" cy="0"/>
          </a:xfrm>
          <a:prstGeom prst="line">
            <a:avLst/>
          </a:prstGeom>
          <a:noFill/>
          <a:ln w="19050">
            <a:solidFill>
              <a:srgbClr val="D95D4F"/>
            </a:solidFill>
            <a:prstDash val="solid"/>
            <a:tailEnd type="triangle"/>
          </a:ln>
        </p:spPr>
      </p:sp>
      <p:sp>
        <p:nvSpPr>
          <p:cNvPr id="27" name="Shape 25"/>
          <p:cNvSpPr/>
          <p:nvPr/>
        </p:nvSpPr>
        <p:spPr>
          <a:xfrm>
            <a:off x="768096" y="4425696"/>
            <a:ext cx="2798064" cy="493776"/>
          </a:xfrm>
          <a:prstGeom prst="rect">
            <a:avLst/>
          </a:prstGeom>
          <a:solidFill>
            <a:srgbClr val="F4F7F9"/>
          </a:solidFill>
          <a:ln w="12700">
            <a:solidFill>
              <a:srgbClr val="F4F7F9"/>
            </a:solidFill>
            <a:prstDash val="solid"/>
          </a:ln>
        </p:spPr>
      </p:sp>
      <p:sp>
        <p:nvSpPr>
          <p:cNvPr id="28" name="Text 26"/>
          <p:cNvSpPr/>
          <p:nvPr/>
        </p:nvSpPr>
        <p:spPr>
          <a:xfrm>
            <a:off x="877824" y="4425696"/>
            <a:ext cx="2578608" cy="493776"/>
          </a:xfrm>
          <a:prstGeom prst="rect">
            <a:avLst/>
          </a:prstGeom>
          <a:noFill/>
          <a:ln/>
        </p:spPr>
        <p:txBody>
          <a:bodyPr wrap="square" lIns="0" tIns="0" rIns="0" bIns="0" rtlCol="0" anchor="ctr">
            <a:normAutofit/>
          </a:bodyPr>
          <a:lstStyle/>
          <a:p>
            <a:pPr algn="ctr" indent="0" marL="0">
              <a:lnSpc>
                <a:spcPct val="104000"/>
              </a:lnSpc>
              <a:buNone/>
            </a:pPr>
            <a:r>
              <a:rPr lang="en-US" sz="1400" b="1" dirty="0">
                <a:solidFill>
                  <a:srgbClr val="102A43"/>
                </a:solidFill>
                <a:latin typeface="PingFang SC" pitchFamily="34" charset="0"/>
                <a:ea typeface="PingFang SC" pitchFamily="34" charset="-122"/>
                <a:cs typeface="PingFang SC" pitchFamily="34" charset="-120"/>
              </a:rPr>
              <a:t>miss 再编译</a:t>
            </a:r>
            <a:endParaRPr lang="en-US" sz="1400" dirty="0"/>
          </a:p>
        </p:txBody>
      </p:sp>
      <p:sp>
        <p:nvSpPr>
          <p:cNvPr id="29" name="Shape 27"/>
          <p:cNvSpPr/>
          <p:nvPr/>
        </p:nvSpPr>
        <p:spPr>
          <a:xfrm>
            <a:off x="3675888" y="4425696"/>
            <a:ext cx="4590288" cy="493776"/>
          </a:xfrm>
          <a:prstGeom prst="rect">
            <a:avLst/>
          </a:prstGeom>
          <a:solidFill>
            <a:srgbClr val="FFFFFF"/>
          </a:solidFill>
          <a:ln w="10160">
            <a:solidFill>
              <a:srgbClr val="D9E2EC"/>
            </a:solidFill>
            <a:prstDash val="solid"/>
          </a:ln>
        </p:spPr>
      </p:sp>
      <p:sp>
        <p:nvSpPr>
          <p:cNvPr id="30" name="Text 28"/>
          <p:cNvSpPr/>
          <p:nvPr/>
        </p:nvSpPr>
        <p:spPr>
          <a:xfrm>
            <a:off x="3877056" y="4425696"/>
            <a:ext cx="4187952" cy="493776"/>
          </a:xfrm>
          <a:prstGeom prst="rect">
            <a:avLst/>
          </a:prstGeom>
          <a:noFill/>
          <a:ln/>
        </p:spPr>
        <p:txBody>
          <a:bodyPr wrap="square" lIns="0" tIns="0" rIns="0" bIns="0" rtlCol="0" anchor="ctr">
            <a:normAutofit/>
          </a:bodyPr>
          <a:lstStyle/>
          <a:p>
            <a:pPr algn="l" indent="0" marL="0">
              <a:lnSpc>
                <a:spcPct val="104000"/>
              </a:lnSpc>
              <a:buNone/>
            </a:pPr>
            <a:r>
              <a:rPr lang="en-US" sz="1380" b="1" dirty="0">
                <a:solidFill>
                  <a:srgbClr val="102A43"/>
                </a:solidFill>
                <a:latin typeface="PingFang SC" pitchFamily="34" charset="0"/>
                <a:ea typeface="PingFang SC" pitchFamily="34" charset="-122"/>
                <a:cs typeface="PingFang SC" pitchFamily="34" charset="-120"/>
              </a:rPr>
              <a:t>违背终态无 JIT</a:t>
            </a:r>
            <a:endParaRPr lang="en-US" sz="1380" dirty="0"/>
          </a:p>
        </p:txBody>
      </p:sp>
      <p:sp>
        <p:nvSpPr>
          <p:cNvPr id="31" name="Shape 29"/>
          <p:cNvSpPr/>
          <p:nvPr/>
        </p:nvSpPr>
        <p:spPr>
          <a:xfrm>
            <a:off x="8430768" y="4672584"/>
            <a:ext cx="530352" cy="0"/>
          </a:xfrm>
          <a:prstGeom prst="line">
            <a:avLst/>
          </a:prstGeom>
          <a:noFill/>
          <a:ln w="19050">
            <a:solidFill>
              <a:srgbClr val="D95D4F"/>
            </a:solidFill>
            <a:prstDash val="solid"/>
            <a:tailEnd type="triangle"/>
          </a:ln>
        </p:spPr>
      </p:sp>
      <p:sp>
        <p:nvSpPr>
          <p:cNvPr id="32" name="Shape 30"/>
          <p:cNvSpPr/>
          <p:nvPr/>
        </p:nvSpPr>
        <p:spPr>
          <a:xfrm>
            <a:off x="9144000" y="2395728"/>
            <a:ext cx="2212848" cy="2523744"/>
          </a:xfrm>
          <a:prstGeom prst="rect">
            <a:avLst/>
          </a:prstGeom>
          <a:solidFill>
            <a:srgbClr val="EFF7DF"/>
          </a:solidFill>
          <a:ln w="15240">
            <a:solidFill>
              <a:srgbClr val="76B900"/>
            </a:solidFill>
            <a:prstDash val="solid"/>
          </a:ln>
        </p:spPr>
      </p:sp>
      <p:sp>
        <p:nvSpPr>
          <p:cNvPr id="33" name="Text 31"/>
          <p:cNvSpPr/>
          <p:nvPr/>
        </p:nvSpPr>
        <p:spPr>
          <a:xfrm>
            <a:off x="9381744" y="2688336"/>
            <a:ext cx="1737360" cy="292608"/>
          </a:xfrm>
          <a:prstGeom prst="rect">
            <a:avLst/>
          </a:prstGeom>
          <a:noFill/>
          <a:ln/>
        </p:spPr>
        <p:txBody>
          <a:bodyPr wrap="square" lIns="0" tIns="0" rIns="0" bIns="0" rtlCol="0" anchor="t">
            <a:normAutofit/>
          </a:bodyPr>
          <a:lstStyle/>
          <a:p>
            <a:pPr algn="ctr" indent="0" marL="0">
              <a:lnSpc>
                <a:spcPct val="104000"/>
              </a:lnSpc>
              <a:buNone/>
            </a:pPr>
            <a:r>
              <a:rPr lang="en-US" sz="1640" b="1" dirty="0">
                <a:solidFill>
                  <a:srgbClr val="4F7F00"/>
                </a:solidFill>
                <a:latin typeface="PingFang SC" pitchFamily="34" charset="0"/>
                <a:ea typeface="PingFang SC" pitchFamily="34" charset="-122"/>
                <a:cs typeface="PingFang SC" pitchFamily="34" charset="-120"/>
              </a:rPr>
              <a:t>TGFX 库内定义</a:t>
            </a:r>
            <a:endParaRPr lang="en-US" sz="1640" dirty="0"/>
          </a:p>
        </p:txBody>
      </p:sp>
      <p:sp>
        <p:nvSpPr>
          <p:cNvPr id="34" name="Shape 32"/>
          <p:cNvSpPr/>
          <p:nvPr/>
        </p:nvSpPr>
        <p:spPr>
          <a:xfrm>
            <a:off x="9601200" y="3236976"/>
            <a:ext cx="1298448" cy="0"/>
          </a:xfrm>
          <a:prstGeom prst="line">
            <a:avLst/>
          </a:prstGeom>
          <a:noFill/>
          <a:ln w="17780">
            <a:solidFill>
              <a:srgbClr val="76B900"/>
            </a:solidFill>
            <a:prstDash val="solid"/>
          </a:ln>
        </p:spPr>
      </p:sp>
      <p:sp>
        <p:nvSpPr>
          <p:cNvPr id="35" name="Text 33"/>
          <p:cNvSpPr/>
          <p:nvPr/>
        </p:nvSpPr>
        <p:spPr>
          <a:xfrm>
            <a:off x="9381744" y="3493008"/>
            <a:ext cx="1737360" cy="420624"/>
          </a:xfrm>
          <a:prstGeom prst="rect">
            <a:avLst/>
          </a:prstGeom>
          <a:noFill/>
          <a:ln/>
        </p:spPr>
        <p:txBody>
          <a:bodyPr wrap="square" lIns="0" tIns="0" rIns="0" bIns="0" rtlCol="0" anchor="ctr">
            <a:normAutofit/>
          </a:bodyPr>
          <a:lstStyle/>
          <a:p>
            <a:pPr algn="ctr" indent="0" marL="0">
              <a:lnSpc>
                <a:spcPct val="104000"/>
              </a:lnSpc>
              <a:buNone/>
            </a:pPr>
            <a:r>
              <a:rPr lang="en-US" sz="1420" b="1" dirty="0">
                <a:solidFill>
                  <a:srgbClr val="102A43"/>
                </a:solidFill>
                <a:latin typeface="PingFang SC" pitchFamily="34" charset="0"/>
                <a:ea typeface="PingFang SC" pitchFamily="34" charset="-122"/>
                <a:cs typeface="PingFang SC" pitchFamily="34" charset="-120"/>
              </a:rPr>
              <a:t>具体预编译 Shader</a:t>
            </a:r>
            <a:endParaRPr lang="en-US" sz="1420" dirty="0"/>
          </a:p>
        </p:txBody>
      </p:sp>
      <p:sp>
        <p:nvSpPr>
          <p:cNvPr id="36" name="Text 34"/>
          <p:cNvSpPr/>
          <p:nvPr/>
        </p:nvSpPr>
        <p:spPr>
          <a:xfrm>
            <a:off x="9930384" y="3968496"/>
            <a:ext cx="640080" cy="256032"/>
          </a:xfrm>
          <a:prstGeom prst="rect">
            <a:avLst/>
          </a:prstGeom>
          <a:noFill/>
          <a:ln/>
        </p:spPr>
        <p:txBody>
          <a:bodyPr wrap="square" lIns="0" tIns="0" rIns="0" bIns="0" rtlCol="0" anchor="t">
            <a:normAutofit/>
          </a:bodyPr>
          <a:lstStyle/>
          <a:p>
            <a:pPr algn="ctr" indent="0" marL="0">
              <a:lnSpc>
                <a:spcPct val="104000"/>
              </a:lnSpc>
              <a:buNone/>
            </a:pPr>
            <a:r>
              <a:rPr lang="en-US" sz="2000" b="1" dirty="0">
                <a:solidFill>
                  <a:srgbClr val="4F7F00"/>
                </a:solidFill>
                <a:latin typeface="PingFang SC" pitchFamily="34" charset="0"/>
                <a:ea typeface="PingFang SC" pitchFamily="34" charset="-122"/>
                <a:cs typeface="PingFang SC" pitchFamily="34" charset="-120"/>
              </a:rPr>
              <a:t>+</a:t>
            </a:r>
            <a:endParaRPr lang="en-US" sz="2000" dirty="0"/>
          </a:p>
        </p:txBody>
      </p:sp>
      <p:sp>
        <p:nvSpPr>
          <p:cNvPr id="37" name="Text 35"/>
          <p:cNvSpPr/>
          <p:nvPr/>
        </p:nvSpPr>
        <p:spPr>
          <a:xfrm>
            <a:off x="9381744" y="4297680"/>
            <a:ext cx="1737360" cy="420624"/>
          </a:xfrm>
          <a:prstGeom prst="rect">
            <a:avLst/>
          </a:prstGeom>
          <a:noFill/>
          <a:ln/>
        </p:spPr>
        <p:txBody>
          <a:bodyPr wrap="square" lIns="0" tIns="0" rIns="0" bIns="0" rtlCol="0" anchor="ctr">
            <a:normAutofit/>
          </a:bodyPr>
          <a:lstStyle/>
          <a:p>
            <a:pPr algn="ctr" indent="0" marL="0">
              <a:lnSpc>
                <a:spcPct val="104000"/>
              </a:lnSpc>
              <a:buNone/>
            </a:pPr>
            <a:r>
              <a:rPr lang="en-US" sz="1360" b="1" dirty="0">
                <a:solidFill>
                  <a:srgbClr val="102A43"/>
                </a:solidFill>
                <a:latin typeface="PingFang SC" pitchFamily="34" charset="0"/>
                <a:ea typeface="PingFang SC" pitchFamily="34" charset="-122"/>
                <a:cs typeface="PingFang SC" pitchFamily="34" charset="-120"/>
              </a:rPr>
              <a:t>合法运行时输入映射</a:t>
            </a:r>
            <a:endParaRPr lang="en-US" sz="1360" dirty="0"/>
          </a:p>
        </p:txBody>
      </p:sp>
      <p:sp>
        <p:nvSpPr>
          <p:cNvPr id="38" name="Shape 36"/>
          <p:cNvSpPr/>
          <p:nvPr/>
        </p:nvSpPr>
        <p:spPr>
          <a:xfrm>
            <a:off x="658368" y="5742432"/>
            <a:ext cx="10874959" cy="438912"/>
          </a:xfrm>
          <a:prstGeom prst="rect">
            <a:avLst/>
          </a:prstGeom>
          <a:solidFill>
            <a:srgbClr val="EFF7DF"/>
          </a:solidFill>
          <a:ln w="12700">
            <a:solidFill>
              <a:srgbClr val="EFF7DF"/>
            </a:solidFill>
            <a:prstDash val="solid"/>
          </a:ln>
        </p:spPr>
      </p:sp>
      <p:sp>
        <p:nvSpPr>
          <p:cNvPr id="39" name="Text 37"/>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范围责任不能外包给下游，也不能靠运行时补洞，只能落在 TGFX 库内。</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10 · STATIC INTERFACE CRITERION</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200" b="1" dirty="0">
                <a:solidFill>
                  <a:srgbClr val="102A43"/>
                </a:solidFill>
                <a:latin typeface="PingFang SC" pitchFamily="34" charset="0"/>
                <a:ea typeface="PingFang SC" pitchFamily="34" charset="-122"/>
                <a:cs typeface="PingFang SC" pitchFamily="34" charset="-120"/>
              </a:rPr>
              <a:t>只为会改变 GPU 接口的差异生成不同版本</a:t>
            </a:r>
            <a:endParaRPr lang="en-US" sz="32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10</a:t>
            </a:r>
            <a:endParaRPr lang="en-US" sz="1000" dirty="0"/>
          </a:p>
        </p:txBody>
      </p:sp>
      <p:sp>
        <p:nvSpPr>
          <p:cNvPr id="7" name="Shape 5"/>
          <p:cNvSpPr/>
          <p:nvPr/>
        </p:nvSpPr>
        <p:spPr>
          <a:xfrm>
            <a:off x="713232" y="1481328"/>
            <a:ext cx="5376672" cy="1938528"/>
          </a:xfrm>
          <a:prstGeom prst="rect">
            <a:avLst/>
          </a:prstGeom>
          <a:solidFill>
            <a:srgbClr val="102A43"/>
          </a:solidFill>
          <a:ln w="12700">
            <a:solidFill>
              <a:srgbClr val="102A43"/>
            </a:solidFill>
            <a:prstDash val="solid"/>
          </a:ln>
        </p:spPr>
      </p:sp>
      <p:sp>
        <p:nvSpPr>
          <p:cNvPr id="8" name="Text 6"/>
          <p:cNvSpPr/>
          <p:nvPr/>
        </p:nvSpPr>
        <p:spPr>
          <a:xfrm>
            <a:off x="914400" y="1627632"/>
            <a:ext cx="4974336"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REAL GLSL · REDUCED</a:t>
            </a:r>
            <a:endParaRPr lang="en-US" sz="1050" dirty="0"/>
          </a:p>
        </p:txBody>
      </p:sp>
      <p:sp>
        <p:nvSpPr>
          <p:cNvPr id="9" name="Text 7"/>
          <p:cNvSpPr/>
          <p:nvPr/>
        </p:nvSpPr>
        <p:spPr>
          <a:xfrm>
            <a:off x="914400" y="1920240"/>
            <a:ext cx="4974336" cy="1353312"/>
          </a:xfrm>
          <a:prstGeom prst="rect">
            <a:avLst/>
          </a:prstGeom>
          <a:noFill/>
          <a:ln/>
        </p:spPr>
        <p:txBody>
          <a:bodyPr wrap="square" lIns="0" tIns="0" rIns="0" bIns="0" rtlCol="0" anchor="t">
            <a:normAutofit/>
          </a:bodyPr>
          <a:lstStyle/>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 No device mask</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layout(set = 1, binding = 0)</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uniform sampler2D TextureSampler_0;</a:t>
            </a:r>
            <a:endParaRPr lang="en-US" sz="1320" dirty="0"/>
          </a:p>
          <a:p>
            <a:pPr algn="l" indent="0" marL="0">
              <a:lnSpc>
                <a:spcPct val="100000"/>
              </a:lnSpc>
              <a:buNone/>
            </a:pPr>
            <a:r>
              <a:rPr lang="en-US" sz="1320" dirty="0">
                <a:solidFill>
                  <a:srgbClr val="EEF4F7"/>
                </a:solidFill>
                <a:latin typeface="SF Mono" pitchFamily="34" charset="0"/>
                <a:ea typeface="SF Mono" pitchFamily="34" charset="-122"/>
                <a:cs typeface="SF Mono" pitchFamily="34" charset="-120"/>
              </a:rPr>
              <a:t>#define XP_DST_TEX_BINDING 1</a:t>
            </a:r>
            <a:endParaRPr lang="en-US" sz="1320" dirty="0"/>
          </a:p>
        </p:txBody>
      </p:sp>
      <p:sp>
        <p:nvSpPr>
          <p:cNvPr id="10" name="Shape 8"/>
          <p:cNvSpPr/>
          <p:nvPr/>
        </p:nvSpPr>
        <p:spPr>
          <a:xfrm>
            <a:off x="6272784" y="1481328"/>
            <a:ext cx="5212080" cy="1938528"/>
          </a:xfrm>
          <a:prstGeom prst="rect">
            <a:avLst/>
          </a:prstGeom>
          <a:solidFill>
            <a:srgbClr val="102A43"/>
          </a:solidFill>
          <a:ln w="12700">
            <a:solidFill>
              <a:srgbClr val="102A43"/>
            </a:solidFill>
            <a:prstDash val="solid"/>
          </a:ln>
        </p:spPr>
      </p:sp>
      <p:sp>
        <p:nvSpPr>
          <p:cNvPr id="11" name="Text 9"/>
          <p:cNvSpPr/>
          <p:nvPr/>
        </p:nvSpPr>
        <p:spPr>
          <a:xfrm>
            <a:off x="6473952" y="1627632"/>
            <a:ext cx="4809744"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REAL GLSL · REDUCED</a:t>
            </a:r>
            <a:endParaRPr lang="en-US" sz="1050" dirty="0"/>
          </a:p>
        </p:txBody>
      </p:sp>
      <p:sp>
        <p:nvSpPr>
          <p:cNvPr id="12" name="Text 10"/>
          <p:cNvSpPr/>
          <p:nvPr/>
        </p:nvSpPr>
        <p:spPr>
          <a:xfrm>
            <a:off x="6473952" y="1920240"/>
            <a:ext cx="4809744" cy="1353312"/>
          </a:xfrm>
          <a:prstGeom prst="rect">
            <a:avLst/>
          </a:prstGeom>
          <a:noFill/>
          <a:ln/>
        </p:spPr>
        <p:txBody>
          <a:bodyPr wrap="square" lIns="0" tIns="0" rIns="0" bIns="0" rtlCol="0" anchor="t">
            <a:normAutofit/>
          </a:bodyPr>
          <a:lstStyle/>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 With device mask</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layout(set = 1, binding = 0)</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uniform sampler2D TextureSampler_0;</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layout(set = 1, binding = 1)</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uniform sampler2D MaskTextureSampler;</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#define XP_DST_TEX_BINDING 2</a:t>
            </a:r>
            <a:endParaRPr lang="en-US" sz="1300" dirty="0"/>
          </a:p>
        </p:txBody>
      </p:sp>
      <p:sp>
        <p:nvSpPr>
          <p:cNvPr id="13" name="Shape 11"/>
          <p:cNvSpPr/>
          <p:nvPr/>
        </p:nvSpPr>
        <p:spPr>
          <a:xfrm>
            <a:off x="713232" y="3675888"/>
            <a:ext cx="5376672" cy="1408176"/>
          </a:xfrm>
          <a:prstGeom prst="rect">
            <a:avLst/>
          </a:prstGeom>
          <a:solidFill>
            <a:srgbClr val="102A43"/>
          </a:solidFill>
          <a:ln w="12700">
            <a:solidFill>
              <a:srgbClr val="102A43"/>
            </a:solidFill>
            <a:prstDash val="solid"/>
          </a:ln>
        </p:spPr>
      </p:sp>
      <p:sp>
        <p:nvSpPr>
          <p:cNvPr id="14" name="Text 12"/>
          <p:cNvSpPr/>
          <p:nvPr/>
        </p:nvSpPr>
        <p:spPr>
          <a:xfrm>
            <a:off x="914400" y="3822192"/>
            <a:ext cx="4974336"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COUNTEREXAMPLE · UNIFORM BRANCH</a:t>
            </a:r>
            <a:endParaRPr lang="en-US" sz="1050" dirty="0"/>
          </a:p>
        </p:txBody>
      </p:sp>
      <p:sp>
        <p:nvSpPr>
          <p:cNvPr id="15" name="Text 13"/>
          <p:cNvSpPr/>
          <p:nvPr/>
        </p:nvSpPr>
        <p:spPr>
          <a:xfrm>
            <a:off x="914400" y="4114800"/>
            <a:ext cx="4974336" cy="822960"/>
          </a:xfrm>
          <a:prstGeom prst="rect">
            <a:avLst/>
          </a:prstGeom>
          <a:noFill/>
          <a:ln/>
        </p:spPr>
        <p:txBody>
          <a:bodyPr wrap="square" lIns="0" tIns="0" rIns="0" bIns="0" rtlCol="0" anchor="t">
            <a:normAutofit/>
          </a:bodyPr>
          <a:lstStyle/>
          <a:p>
            <a:pPr algn="l" indent="0" marL="0">
              <a:lnSpc>
                <a:spcPct val="100000"/>
              </a:lnSpc>
              <a:buNone/>
            </a:pPr>
            <a:r>
              <a:rPr lang="en-US" sz="1350" dirty="0">
                <a:solidFill>
                  <a:srgbClr val="EEF4F7"/>
                </a:solidFill>
                <a:latin typeface="SF Mono" pitchFamily="34" charset="0"/>
                <a:ea typeface="SF Mono" pitchFamily="34" charset="-122"/>
                <a:cs typeface="SF Mono" pitchFamily="34" charset="-120"/>
              </a:rPr>
              <a:t>if (AlphaOnly != 0) {</a:t>
            </a:r>
            <a:endParaRPr lang="en-US" sz="1350" dirty="0"/>
          </a:p>
          <a:p>
            <a:pPr algn="l" indent="0" marL="0">
              <a:lnSpc>
                <a:spcPct val="100000"/>
              </a:lnSpc>
              <a:buNone/>
            </a:pPr>
            <a:r>
              <a:rPr lang="en-US" sz="1350" dirty="0">
                <a:solidFill>
                  <a:srgbClr val="EEF4F7"/>
                </a:solidFill>
                <a:latin typeface="SF Mono" pitchFamily="34" charset="0"/>
                <a:ea typeface="SF Mono" pitchFamily="34" charset="-122"/>
                <a:cs typeface="SF Mono" pitchFamily="34" charset="-120"/>
              </a:rPr>
              <a:t>  color = vec4(color.r);</a:t>
            </a:r>
            <a:endParaRPr lang="en-US" sz="1350" dirty="0"/>
          </a:p>
          <a:p>
            <a:pPr algn="l" indent="0" marL="0">
              <a:lnSpc>
                <a:spcPct val="100000"/>
              </a:lnSpc>
              <a:buNone/>
            </a:pPr>
            <a:r>
              <a:rPr lang="en-US" sz="1350" dirty="0">
                <a:solidFill>
                  <a:srgbClr val="EEF4F7"/>
                </a:solidFill>
                <a:latin typeface="SF Mono" pitchFamily="34" charset="0"/>
                <a:ea typeface="SF Mono" pitchFamily="34" charset="-122"/>
                <a:cs typeface="SF Mono" pitchFamily="34" charset="-120"/>
              </a:rPr>
              <a:t>}</a:t>
            </a:r>
            <a:endParaRPr lang="en-US" sz="1350" dirty="0"/>
          </a:p>
        </p:txBody>
      </p:sp>
      <p:sp>
        <p:nvSpPr>
          <p:cNvPr id="16" name="Shape 14"/>
          <p:cNvSpPr/>
          <p:nvPr/>
        </p:nvSpPr>
        <p:spPr>
          <a:xfrm>
            <a:off x="6272784" y="3675888"/>
            <a:ext cx="2487168" cy="932688"/>
          </a:xfrm>
          <a:prstGeom prst="rect">
            <a:avLst/>
          </a:prstGeom>
          <a:solidFill>
            <a:srgbClr val="E6F4F3"/>
          </a:solidFill>
          <a:ln w="12700">
            <a:solidFill>
              <a:srgbClr val="E6F4F3"/>
            </a:solidFill>
            <a:prstDash val="solid"/>
          </a:ln>
        </p:spPr>
      </p:sp>
      <p:sp>
        <p:nvSpPr>
          <p:cNvPr id="17" name="Text 15"/>
          <p:cNvSpPr/>
          <p:nvPr/>
        </p:nvSpPr>
        <p:spPr>
          <a:xfrm>
            <a:off x="6382512" y="3675888"/>
            <a:ext cx="2267712" cy="932688"/>
          </a:xfrm>
          <a:prstGeom prst="rect">
            <a:avLst/>
          </a:prstGeom>
          <a:noFill/>
          <a:ln/>
        </p:spPr>
        <p:txBody>
          <a:bodyPr wrap="square" lIns="0" tIns="0" rIns="0" bIns="0" rtlCol="0" anchor="ctr">
            <a:normAutofit/>
          </a:bodyPr>
          <a:lstStyle/>
          <a:p>
            <a:pPr algn="ctr" indent="0" marL="0">
              <a:lnSpc>
                <a:spcPct val="104000"/>
              </a:lnSpc>
              <a:buNone/>
            </a:pPr>
            <a:r>
              <a:rPr lang="en-US" sz="1320" b="1" dirty="0">
                <a:solidFill>
                  <a:srgbClr val="008C8C"/>
                </a:solidFill>
                <a:latin typeface="PingFang SC" pitchFamily="34" charset="0"/>
                <a:ea typeface="PingFang SC" pitchFamily="34" charset="-122"/>
                <a:cs typeface="PingFang SC" pitchFamily="34" charset="-120"/>
              </a:rPr>
              <a:t>资源声明 / binding 改变</a:t>
            </a:r>
            <a:endParaRPr lang="en-US" sz="1320" dirty="0"/>
          </a:p>
          <a:p>
            <a:pPr algn="ctr" indent="0" marL="0">
              <a:lnSpc>
                <a:spcPct val="104000"/>
              </a:lnSpc>
              <a:buNone/>
            </a:pPr>
            <a:r>
              <a:rPr lang="en-US" sz="1320" b="1" dirty="0">
                <a:solidFill>
                  <a:srgbClr val="008C8C"/>
                </a:solidFill>
                <a:latin typeface="PingFang SC" pitchFamily="34" charset="0"/>
                <a:ea typeface="PingFang SC" pitchFamily="34" charset="-122"/>
                <a:cs typeface="PingFang SC" pitchFamily="34" charset="-120"/>
              </a:rPr>
              <a:t>→ 静态接口版本</a:t>
            </a:r>
            <a:endParaRPr lang="en-US" sz="1320" dirty="0"/>
          </a:p>
        </p:txBody>
      </p:sp>
      <p:sp>
        <p:nvSpPr>
          <p:cNvPr id="18" name="Shape 16"/>
          <p:cNvSpPr/>
          <p:nvPr/>
        </p:nvSpPr>
        <p:spPr>
          <a:xfrm>
            <a:off x="8997696" y="3675888"/>
            <a:ext cx="2487168" cy="932688"/>
          </a:xfrm>
          <a:prstGeom prst="rect">
            <a:avLst/>
          </a:prstGeom>
          <a:solidFill>
            <a:srgbClr val="EFF7DF"/>
          </a:solidFill>
          <a:ln w="12700">
            <a:solidFill>
              <a:srgbClr val="EFF7DF"/>
            </a:solidFill>
            <a:prstDash val="solid"/>
          </a:ln>
        </p:spPr>
      </p:sp>
      <p:sp>
        <p:nvSpPr>
          <p:cNvPr id="19" name="Text 17"/>
          <p:cNvSpPr/>
          <p:nvPr/>
        </p:nvSpPr>
        <p:spPr>
          <a:xfrm>
            <a:off x="9107424" y="3675888"/>
            <a:ext cx="2267712" cy="932688"/>
          </a:xfrm>
          <a:prstGeom prst="rect">
            <a:avLst/>
          </a:prstGeom>
          <a:noFill/>
          <a:ln/>
        </p:spPr>
        <p:txBody>
          <a:bodyPr wrap="square" lIns="0" tIns="0" rIns="0" bIns="0" rtlCol="0" anchor="ctr">
            <a:normAutofit/>
          </a:bodyPr>
          <a:lstStyle/>
          <a:p>
            <a:pPr algn="ctr" indent="0" marL="0">
              <a:lnSpc>
                <a:spcPct val="104000"/>
              </a:lnSpc>
              <a:buNone/>
            </a:pPr>
            <a:r>
              <a:rPr lang="en-US" sz="1320" b="1" dirty="0">
                <a:solidFill>
                  <a:srgbClr val="4F7F00"/>
                </a:solidFill>
                <a:latin typeface="PingFang SC" pitchFamily="34" charset="0"/>
                <a:ea typeface="PingFang SC" pitchFamily="34" charset="-122"/>
                <a:cs typeface="PingFang SC" pitchFamily="34" charset="-120"/>
              </a:rPr>
              <a:t>只改变计算数据</a:t>
            </a:r>
            <a:endParaRPr lang="en-US" sz="1320" dirty="0"/>
          </a:p>
          <a:p>
            <a:pPr algn="ctr" indent="0" marL="0">
              <a:lnSpc>
                <a:spcPct val="104000"/>
              </a:lnSpc>
              <a:buNone/>
            </a:pPr>
            <a:r>
              <a:rPr lang="en-US" sz="1320" b="1" dirty="0">
                <a:solidFill>
                  <a:srgbClr val="4F7F00"/>
                </a:solidFill>
                <a:latin typeface="PingFang SC" pitchFamily="34" charset="0"/>
                <a:ea typeface="PingFang SC" pitchFamily="34" charset="-122"/>
                <a:cs typeface="PingFang SC" pitchFamily="34" charset="-120"/>
              </a:rPr>
              <a:t>→ 每次 Draw 上传</a:t>
            </a:r>
            <a:endParaRPr lang="en-US" sz="1320" dirty="0"/>
          </a:p>
        </p:txBody>
      </p:sp>
      <p:sp>
        <p:nvSpPr>
          <p:cNvPr id="20" name="Text 18"/>
          <p:cNvSpPr/>
          <p:nvPr/>
        </p:nvSpPr>
        <p:spPr>
          <a:xfrm>
            <a:off x="6309360" y="4846320"/>
            <a:ext cx="5120640" cy="493776"/>
          </a:xfrm>
          <a:prstGeom prst="rect">
            <a:avLst/>
          </a:prstGeom>
          <a:noFill/>
          <a:ln/>
        </p:spPr>
        <p:txBody>
          <a:bodyPr wrap="square" lIns="0" tIns="0" rIns="0" bIns="0" rtlCol="0" anchor="ctr">
            <a:normAutofit/>
          </a:bodyPr>
          <a:lstStyle/>
          <a:p>
            <a:pPr algn="ctr" indent="0" marL="0">
              <a:lnSpc>
                <a:spcPct val="104000"/>
              </a:lnSpc>
              <a:buNone/>
            </a:pPr>
            <a:r>
              <a:rPr lang="en-US" sz="1260" b="1" dirty="0">
                <a:solidFill>
                  <a:srgbClr val="627D98"/>
                </a:solidFill>
                <a:latin typeface="PingFang SC" pitchFamily="34" charset="0"/>
                <a:ea typeface="PingFang SC" pitchFamily="34" charset="-122"/>
                <a:cs typeface="PingFang SC" pitchFamily="34" charset="-120"/>
              </a:rPr>
              <a:t>取舍：不把所有资源塞进一个全能 Shader，也不为每个完整效果手写 Shader；只切分真实静态接口差异。</a:t>
            </a:r>
            <a:endParaRPr lang="en-US" sz="1260" dirty="0"/>
          </a:p>
        </p:txBody>
      </p:sp>
      <p:sp>
        <p:nvSpPr>
          <p:cNvPr id="21" name="Shape 19"/>
          <p:cNvSpPr/>
          <p:nvPr/>
        </p:nvSpPr>
        <p:spPr>
          <a:xfrm>
            <a:off x="658368" y="5742432"/>
            <a:ext cx="10874959" cy="438912"/>
          </a:xfrm>
          <a:prstGeom prst="rect">
            <a:avLst/>
          </a:prstGeom>
          <a:solidFill>
            <a:srgbClr val="EFF7DF"/>
          </a:solidFill>
          <a:ln w="12700">
            <a:solidFill>
              <a:srgbClr val="EFF7DF"/>
            </a:solidFill>
            <a:prstDash val="solid"/>
          </a:ln>
        </p:spPr>
      </p:sp>
      <p:sp>
        <p:nvSpPr>
          <p:cNvPr id="22" name="Text 20"/>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Variant / permutation 是具体预编译 Shader 的静态接口版本，不是效果或参数排列。</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11 · ONE SOURCE TWO BUILDS</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200" b="1" dirty="0">
                <a:solidFill>
                  <a:srgbClr val="102A43"/>
                </a:solidFill>
                <a:latin typeface="PingFang SC" pitchFamily="34" charset="0"/>
                <a:ea typeface="PingFang SC" pitchFamily="34" charset="-122"/>
                <a:cs typeface="PingFang SC" pitchFamily="34" charset="-120"/>
              </a:rPr>
              <a:t>构建工具怎样从同一源码得到两个版本</a:t>
            </a:r>
            <a:endParaRPr lang="en-US" sz="32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11</a:t>
            </a:r>
            <a:endParaRPr lang="en-US" sz="1000" dirty="0"/>
          </a:p>
        </p:txBody>
      </p:sp>
      <p:sp>
        <p:nvSpPr>
          <p:cNvPr id="7" name="Shape 5"/>
          <p:cNvSpPr/>
          <p:nvPr/>
        </p:nvSpPr>
        <p:spPr>
          <a:xfrm>
            <a:off x="713232" y="1664208"/>
            <a:ext cx="3127248" cy="2596896"/>
          </a:xfrm>
          <a:prstGeom prst="rect">
            <a:avLst/>
          </a:prstGeom>
          <a:solidFill>
            <a:srgbClr val="102A43"/>
          </a:solidFill>
          <a:ln w="12700">
            <a:solidFill>
              <a:srgbClr val="102A43"/>
            </a:solidFill>
            <a:prstDash val="solid"/>
          </a:ln>
        </p:spPr>
      </p:sp>
      <p:sp>
        <p:nvSpPr>
          <p:cNvPr id="8" name="Text 6"/>
          <p:cNvSpPr/>
          <p:nvPr/>
        </p:nvSpPr>
        <p:spPr>
          <a:xfrm>
            <a:off x="914400" y="1810512"/>
            <a:ext cx="2724912"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ONE SOURCE</a:t>
            </a:r>
            <a:endParaRPr lang="en-US" sz="1050" dirty="0"/>
          </a:p>
        </p:txBody>
      </p:sp>
      <p:sp>
        <p:nvSpPr>
          <p:cNvPr id="9" name="Text 7"/>
          <p:cNvSpPr/>
          <p:nvPr/>
        </p:nvSpPr>
        <p:spPr>
          <a:xfrm>
            <a:off x="914400" y="2103120"/>
            <a:ext cx="2724912" cy="2011680"/>
          </a:xfrm>
          <a:prstGeom prst="rect">
            <a:avLst/>
          </a:prstGeom>
          <a:noFill/>
          <a:ln/>
        </p:spPr>
        <p:txBody>
          <a:bodyPr wrap="square" lIns="0" tIns="0" rIns="0" bIns="0" rtlCol="0" anchor="t">
            <a:normAutofit/>
          </a:bodyPr>
          <a:lstStyle/>
          <a:p>
            <a:pPr algn="l" indent="0" marL="0">
              <a:lnSpc>
                <a:spcPct val="100000"/>
              </a:lnSpc>
              <a:buNone/>
            </a:pPr>
            <a:r>
              <a:rPr lang="en-US" sz="1400" dirty="0">
                <a:solidFill>
                  <a:srgbClr val="EEF4F7"/>
                </a:solidFill>
                <a:latin typeface="SF Mono" pitchFamily="34" charset="0"/>
                <a:ea typeface="SF Mono" pitchFamily="34" charset="-122"/>
                <a:cs typeface="SF Mono" pitchFamily="34" charset="-120"/>
              </a:rPr>
              <a:t>texture_fill.frag</a:t>
            </a:r>
            <a:endParaRPr lang="en-US" sz="1400" dirty="0"/>
          </a:p>
          <a:p>
            <a:pPr algn="l" indent="0" marL="0">
              <a:lnSpc>
                <a:spcPct val="100000"/>
              </a:lnSpc>
              <a:buNone/>
            </a:pPr>
            <a:endParaRPr lang="en-US" sz="1400" dirty="0"/>
          </a:p>
          <a:p>
            <a:pPr algn="l" indent="0" marL="0">
              <a:lnSpc>
                <a:spcPct val="100000"/>
              </a:lnSpc>
              <a:buNone/>
            </a:pPr>
            <a:r>
              <a:rPr lang="en-US" sz="1400" dirty="0">
                <a:solidFill>
                  <a:srgbClr val="EEF4F7"/>
                </a:solidFill>
                <a:latin typeface="SF Mono" pitchFamily="34" charset="0"/>
                <a:ea typeface="SF Mono" pitchFamily="34" charset="-122"/>
                <a:cs typeface="SF Mono" pitchFamily="34" charset="-120"/>
              </a:rPr>
              <a:t>// injected before source</a:t>
            </a:r>
            <a:endParaRPr lang="en-US" sz="1400" dirty="0"/>
          </a:p>
          <a:p>
            <a:pPr algn="l" indent="0" marL="0">
              <a:lnSpc>
                <a:spcPct val="100000"/>
              </a:lnSpc>
              <a:buNone/>
            </a:pPr>
            <a:r>
              <a:rPr lang="en-US" sz="1400" dirty="0">
                <a:solidFill>
                  <a:srgbClr val="EEF4F7"/>
                </a:solidFill>
                <a:latin typeface="SF Mono" pitchFamily="34" charset="0"/>
                <a:ea typeface="SF Mono" pitchFamily="34" charset="-122"/>
                <a:cs typeface="SF Mono" pitchFamily="34" charset="-120"/>
              </a:rPr>
              <a:t>#define HAS_DEVICE_MASK 0</a:t>
            </a:r>
            <a:endParaRPr lang="en-US" sz="1400" dirty="0"/>
          </a:p>
          <a:p>
            <a:pPr algn="l" indent="0" marL="0">
              <a:lnSpc>
                <a:spcPct val="100000"/>
              </a:lnSpc>
              <a:buNone/>
            </a:pPr>
            <a:endParaRPr lang="en-US" sz="1400" dirty="0"/>
          </a:p>
          <a:p>
            <a:pPr algn="l" indent="0" marL="0">
              <a:lnSpc>
                <a:spcPct val="100000"/>
              </a:lnSpc>
              <a:buNone/>
            </a:pPr>
            <a:r>
              <a:rPr lang="en-US" sz="1400" dirty="0">
                <a:solidFill>
                  <a:srgbClr val="EEF4F7"/>
                </a:solidFill>
                <a:latin typeface="SF Mono" pitchFamily="34" charset="0"/>
                <a:ea typeface="SF Mono" pitchFamily="34" charset="-122"/>
                <a:cs typeface="SF Mono" pitchFamily="34" charset="-120"/>
              </a:rPr>
              <a:t>// or</a:t>
            </a:r>
            <a:endParaRPr lang="en-US" sz="1400" dirty="0"/>
          </a:p>
          <a:p>
            <a:pPr algn="l" indent="0" marL="0">
              <a:lnSpc>
                <a:spcPct val="100000"/>
              </a:lnSpc>
              <a:buNone/>
            </a:pPr>
            <a:r>
              <a:rPr lang="en-US" sz="1400" dirty="0">
                <a:solidFill>
                  <a:srgbClr val="EEF4F7"/>
                </a:solidFill>
                <a:latin typeface="SF Mono" pitchFamily="34" charset="0"/>
                <a:ea typeface="SF Mono" pitchFamily="34" charset="-122"/>
                <a:cs typeface="SF Mono" pitchFamily="34" charset="-120"/>
              </a:rPr>
              <a:t>#define HAS_DEVICE_MASK 1</a:t>
            </a:r>
            <a:endParaRPr lang="en-US" sz="1400" dirty="0"/>
          </a:p>
        </p:txBody>
      </p:sp>
      <p:sp>
        <p:nvSpPr>
          <p:cNvPr id="10" name="Shape 8"/>
          <p:cNvSpPr/>
          <p:nvPr/>
        </p:nvSpPr>
        <p:spPr>
          <a:xfrm>
            <a:off x="4005072" y="2340864"/>
            <a:ext cx="658368" cy="-402336"/>
          </a:xfrm>
          <a:prstGeom prst="line">
            <a:avLst/>
          </a:prstGeom>
          <a:noFill/>
          <a:ln w="22860">
            <a:solidFill>
              <a:srgbClr val="008C8C"/>
            </a:solidFill>
            <a:prstDash val="solid"/>
            <a:tailEnd type="triangle"/>
          </a:ln>
        </p:spPr>
      </p:sp>
      <p:sp>
        <p:nvSpPr>
          <p:cNvPr id="11" name="Shape 9"/>
          <p:cNvSpPr/>
          <p:nvPr/>
        </p:nvSpPr>
        <p:spPr>
          <a:xfrm>
            <a:off x="4005072" y="3419856"/>
            <a:ext cx="658368" cy="402336"/>
          </a:xfrm>
          <a:prstGeom prst="line">
            <a:avLst/>
          </a:prstGeom>
          <a:noFill/>
          <a:ln w="22860">
            <a:solidFill>
              <a:srgbClr val="76B900"/>
            </a:solidFill>
            <a:prstDash val="solid"/>
            <a:tailEnd type="triangle"/>
          </a:ln>
        </p:spPr>
      </p:sp>
      <p:sp>
        <p:nvSpPr>
          <p:cNvPr id="12" name="Shape 10"/>
          <p:cNvSpPr/>
          <p:nvPr/>
        </p:nvSpPr>
        <p:spPr>
          <a:xfrm>
            <a:off x="4736592" y="1536192"/>
            <a:ext cx="6693408" cy="1591056"/>
          </a:xfrm>
          <a:prstGeom prst="rect">
            <a:avLst/>
          </a:prstGeom>
          <a:solidFill>
            <a:srgbClr val="E6F4F3"/>
          </a:solidFill>
          <a:ln w="12700">
            <a:solidFill>
              <a:srgbClr val="E6F4F3"/>
            </a:solidFill>
            <a:prstDash val="solid"/>
          </a:ln>
        </p:spPr>
      </p:sp>
      <p:sp>
        <p:nvSpPr>
          <p:cNvPr id="13" name="Text 11"/>
          <p:cNvSpPr/>
          <p:nvPr/>
        </p:nvSpPr>
        <p:spPr>
          <a:xfrm>
            <a:off x="5010912" y="1773936"/>
            <a:ext cx="6144768" cy="274320"/>
          </a:xfrm>
          <a:prstGeom prst="rect">
            <a:avLst/>
          </a:prstGeom>
          <a:noFill/>
          <a:ln/>
        </p:spPr>
        <p:txBody>
          <a:bodyPr wrap="square" lIns="0" tIns="0" rIns="0" bIns="0" rtlCol="0" anchor="t">
            <a:normAutofit/>
          </a:bodyPr>
          <a:lstStyle/>
          <a:p>
            <a:pPr algn="ctr" indent="0" marL="0">
              <a:lnSpc>
                <a:spcPct val="104000"/>
              </a:lnSpc>
              <a:buNone/>
            </a:pPr>
            <a:r>
              <a:rPr lang="en-US" sz="1600" b="1" dirty="0">
                <a:solidFill>
                  <a:srgbClr val="008C8C"/>
                </a:solidFill>
                <a:latin typeface="SF Mono" pitchFamily="34" charset="0"/>
                <a:ea typeface="SF Mono" pitchFamily="34" charset="-122"/>
                <a:cs typeface="SF Mono" pitchFamily="34" charset="-120"/>
              </a:rPr>
              <a:t>#define HAS_DEVICE_MASK 0</a:t>
            </a:r>
            <a:endParaRPr lang="en-US" sz="1600" dirty="0"/>
          </a:p>
        </p:txBody>
      </p:sp>
      <p:sp>
        <p:nvSpPr>
          <p:cNvPr id="14" name="Text 12"/>
          <p:cNvSpPr/>
          <p:nvPr/>
        </p:nvSpPr>
        <p:spPr>
          <a:xfrm>
            <a:off x="5010912" y="2322576"/>
            <a:ext cx="6144768" cy="310896"/>
          </a:xfrm>
          <a:prstGeom prst="rect">
            <a:avLst/>
          </a:prstGeom>
          <a:noFill/>
          <a:ln/>
        </p:spPr>
        <p:txBody>
          <a:bodyPr wrap="square" lIns="0" tIns="0" rIns="0" bIns="0" rtlCol="0" anchor="t">
            <a:normAutofit/>
          </a:bodyPr>
          <a:lstStyle/>
          <a:p>
            <a:pPr algn="ctr" indent="0" marL="0">
              <a:lnSpc>
                <a:spcPct val="104000"/>
              </a:lnSpc>
              <a:buNone/>
            </a:pPr>
            <a:r>
              <a:rPr lang="en-US" sz="1520" b="1" dirty="0">
                <a:solidFill>
                  <a:srgbClr val="102A43"/>
                </a:solidFill>
                <a:latin typeface="PingFang SC" pitchFamily="34" charset="0"/>
                <a:ea typeface="PingFang SC" pitchFamily="34" charset="-122"/>
                <a:cs typeface="PingFang SC" pitchFamily="34" charset="-120"/>
              </a:rPr>
              <a:t>编译结果 A  ·  1 sampler  ·  XP binding 1</a:t>
            </a:r>
            <a:endParaRPr lang="en-US" sz="1520" dirty="0"/>
          </a:p>
        </p:txBody>
      </p:sp>
      <p:sp>
        <p:nvSpPr>
          <p:cNvPr id="15" name="Shape 13"/>
          <p:cNvSpPr/>
          <p:nvPr/>
        </p:nvSpPr>
        <p:spPr>
          <a:xfrm>
            <a:off x="4736592" y="3346704"/>
            <a:ext cx="6693408" cy="1591056"/>
          </a:xfrm>
          <a:prstGeom prst="rect">
            <a:avLst/>
          </a:prstGeom>
          <a:solidFill>
            <a:srgbClr val="EFF7DF"/>
          </a:solidFill>
          <a:ln w="12700">
            <a:solidFill>
              <a:srgbClr val="EFF7DF"/>
            </a:solidFill>
            <a:prstDash val="solid"/>
          </a:ln>
        </p:spPr>
      </p:sp>
      <p:sp>
        <p:nvSpPr>
          <p:cNvPr id="16" name="Text 14"/>
          <p:cNvSpPr/>
          <p:nvPr/>
        </p:nvSpPr>
        <p:spPr>
          <a:xfrm>
            <a:off x="5010912" y="3584448"/>
            <a:ext cx="6144768" cy="274320"/>
          </a:xfrm>
          <a:prstGeom prst="rect">
            <a:avLst/>
          </a:prstGeom>
          <a:noFill/>
          <a:ln/>
        </p:spPr>
        <p:txBody>
          <a:bodyPr wrap="square" lIns="0" tIns="0" rIns="0" bIns="0" rtlCol="0" anchor="t">
            <a:normAutofit/>
          </a:bodyPr>
          <a:lstStyle/>
          <a:p>
            <a:pPr algn="ctr" indent="0" marL="0">
              <a:lnSpc>
                <a:spcPct val="104000"/>
              </a:lnSpc>
              <a:buNone/>
            </a:pPr>
            <a:r>
              <a:rPr lang="en-US" sz="1600" b="1" dirty="0">
                <a:solidFill>
                  <a:srgbClr val="4F7F00"/>
                </a:solidFill>
                <a:latin typeface="SF Mono" pitchFamily="34" charset="0"/>
                <a:ea typeface="SF Mono" pitchFamily="34" charset="-122"/>
                <a:cs typeface="SF Mono" pitchFamily="34" charset="-120"/>
              </a:rPr>
              <a:t>#define HAS_DEVICE_MASK 1</a:t>
            </a:r>
            <a:endParaRPr lang="en-US" sz="1600" dirty="0"/>
          </a:p>
        </p:txBody>
      </p:sp>
      <p:sp>
        <p:nvSpPr>
          <p:cNvPr id="17" name="Text 15"/>
          <p:cNvSpPr/>
          <p:nvPr/>
        </p:nvSpPr>
        <p:spPr>
          <a:xfrm>
            <a:off x="5010912" y="4133088"/>
            <a:ext cx="6144768" cy="310896"/>
          </a:xfrm>
          <a:prstGeom prst="rect">
            <a:avLst/>
          </a:prstGeom>
          <a:noFill/>
          <a:ln/>
        </p:spPr>
        <p:txBody>
          <a:bodyPr wrap="square" lIns="0" tIns="0" rIns="0" bIns="0" rtlCol="0" anchor="t">
            <a:normAutofit/>
          </a:bodyPr>
          <a:lstStyle/>
          <a:p>
            <a:pPr algn="ctr" indent="0" marL="0">
              <a:lnSpc>
                <a:spcPct val="104000"/>
              </a:lnSpc>
              <a:buNone/>
            </a:pPr>
            <a:r>
              <a:rPr lang="en-US" sz="1520" b="1" dirty="0">
                <a:solidFill>
                  <a:srgbClr val="102A43"/>
                </a:solidFill>
                <a:latin typeface="PingFang SC" pitchFamily="34" charset="0"/>
                <a:ea typeface="PingFang SC" pitchFamily="34" charset="-122"/>
                <a:cs typeface="PingFang SC" pitchFamily="34" charset="-120"/>
              </a:rPr>
              <a:t>编译结果 B  ·  2 samplers  ·  XP binding 2</a:t>
            </a:r>
            <a:endParaRPr lang="en-US" sz="1520" dirty="0"/>
          </a:p>
        </p:txBody>
      </p:sp>
      <p:sp>
        <p:nvSpPr>
          <p:cNvPr id="18" name="Shape 16"/>
          <p:cNvSpPr/>
          <p:nvPr/>
        </p:nvSpPr>
        <p:spPr>
          <a:xfrm>
            <a:off x="2249424" y="4919472"/>
            <a:ext cx="7699248" cy="329184"/>
          </a:xfrm>
          <a:prstGeom prst="rect">
            <a:avLst/>
          </a:prstGeom>
          <a:solidFill>
            <a:srgbClr val="FBECE9"/>
          </a:solidFill>
          <a:ln w="12700">
            <a:solidFill>
              <a:srgbClr val="FBECE9"/>
            </a:solidFill>
            <a:prstDash val="solid"/>
          </a:ln>
        </p:spPr>
      </p:sp>
      <p:sp>
        <p:nvSpPr>
          <p:cNvPr id="19" name="Text 17"/>
          <p:cNvSpPr/>
          <p:nvPr/>
        </p:nvSpPr>
        <p:spPr>
          <a:xfrm>
            <a:off x="2359152" y="4919472"/>
            <a:ext cx="7479792" cy="329184"/>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D95D4F"/>
                </a:solidFill>
                <a:latin typeface="PingFang SC" pitchFamily="34" charset="0"/>
                <a:ea typeface="PingFang SC" pitchFamily="34" charset="-122"/>
                <a:cs typeface="PingFang SC" pitchFamily="34" charset="-120"/>
              </a:rPr>
              <a:t>这里只隔离 HAS_DEVICE_MASK；完整 TextureFill 还包含 HAS_XP 维度。</a:t>
            </a:r>
            <a:endParaRPr lang="en-US" sz="1220" dirty="0"/>
          </a:p>
        </p:txBody>
      </p:sp>
      <p:sp>
        <p:nvSpPr>
          <p:cNvPr id="20" name="Shape 18"/>
          <p:cNvSpPr/>
          <p:nvPr/>
        </p:nvSpPr>
        <p:spPr>
          <a:xfrm>
            <a:off x="2249424" y="5303520"/>
            <a:ext cx="7699248" cy="329184"/>
          </a:xfrm>
          <a:prstGeom prst="rect">
            <a:avLst/>
          </a:prstGeom>
          <a:solidFill>
            <a:srgbClr val="F4F7F9"/>
          </a:solidFill>
          <a:ln w="12700">
            <a:solidFill>
              <a:srgbClr val="F4F7F9"/>
            </a:solidFill>
            <a:prstDash val="solid"/>
          </a:ln>
        </p:spPr>
      </p:sp>
      <p:sp>
        <p:nvSpPr>
          <p:cNvPr id="21" name="Text 19"/>
          <p:cNvSpPr/>
          <p:nvPr/>
        </p:nvSpPr>
        <p:spPr>
          <a:xfrm>
            <a:off x="2359152" y="5303520"/>
            <a:ext cx="7479792" cy="329184"/>
          </a:xfrm>
          <a:prstGeom prst="rect">
            <a:avLst/>
          </a:prstGeom>
          <a:noFill/>
          <a:ln/>
        </p:spPr>
        <p:txBody>
          <a:bodyPr wrap="square" lIns="0" tIns="0" rIns="0" bIns="0" rtlCol="0" anchor="ctr">
            <a:normAutofit/>
          </a:bodyPr>
          <a:lstStyle/>
          <a:p>
            <a:pPr algn="ctr" indent="0" marL="0">
              <a:lnSpc>
                <a:spcPct val="104000"/>
              </a:lnSpc>
              <a:buNone/>
            </a:pPr>
            <a:r>
              <a:rPr lang="en-US" sz="1360" b="1" dirty="0">
                <a:solidFill>
                  <a:srgbClr val="102A43"/>
                </a:solidFill>
                <a:latin typeface="PingFang SC" pitchFamily="34" charset="0"/>
                <a:ea typeface="PingFang SC" pitchFamily="34" charset="-122"/>
                <a:cs typeface="PingFang SC" pitchFamily="34" charset="-120"/>
              </a:rPr>
              <a:t>变体不是两份手写 Shader，而是同一源码 + 不同宏。</a:t>
            </a:r>
            <a:endParaRPr lang="en-US" sz="1360" dirty="0"/>
          </a:p>
        </p:txBody>
      </p:sp>
      <p:sp>
        <p:nvSpPr>
          <p:cNvPr id="22" name="Shape 20"/>
          <p:cNvSpPr/>
          <p:nvPr/>
        </p:nvSpPr>
        <p:spPr>
          <a:xfrm>
            <a:off x="658368" y="5742432"/>
            <a:ext cx="10874959" cy="438912"/>
          </a:xfrm>
          <a:prstGeom prst="rect">
            <a:avLst/>
          </a:prstGeom>
          <a:solidFill>
            <a:srgbClr val="EFF7DF"/>
          </a:solidFill>
          <a:ln w="12700">
            <a:solidFill>
              <a:srgbClr val="EFF7DF"/>
            </a:solidFill>
            <a:prstDash val="solid"/>
          </a:ln>
        </p:spPr>
      </p:sp>
      <p:sp>
        <p:nvSpPr>
          <p:cNvPr id="23" name="Text 21"/>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构建工具用宏值实例化静态接口版本，不复制业务 Shader 源码。</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12 · PRECOMPILED SHADER DECLARATION</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900" b="1" dirty="0">
                <a:solidFill>
                  <a:srgbClr val="102A43"/>
                </a:solidFill>
                <a:latin typeface="PingFang SC" pitchFamily="34" charset="0"/>
                <a:ea typeface="PingFang SC" pitchFamily="34" charset="-122"/>
                <a:cs typeface="PingFang SC" pitchFamily="34" charset="-120"/>
              </a:rPr>
              <a:t>C++ 声明这个 Shader、源码和允许的宏取值</a:t>
            </a:r>
            <a:endParaRPr lang="en-US" sz="29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12</a:t>
            </a:r>
            <a:endParaRPr lang="en-US" sz="1000" dirty="0"/>
          </a:p>
        </p:txBody>
      </p:sp>
      <p:sp>
        <p:nvSpPr>
          <p:cNvPr id="7" name="Shape 5"/>
          <p:cNvSpPr/>
          <p:nvPr/>
        </p:nvSpPr>
        <p:spPr>
          <a:xfrm>
            <a:off x="694944" y="1444752"/>
            <a:ext cx="6729984" cy="4078224"/>
          </a:xfrm>
          <a:prstGeom prst="rect">
            <a:avLst/>
          </a:prstGeom>
          <a:solidFill>
            <a:srgbClr val="102A43"/>
          </a:solidFill>
          <a:ln w="12700">
            <a:solidFill>
              <a:srgbClr val="102A43"/>
            </a:solidFill>
            <a:prstDash val="solid"/>
          </a:ln>
        </p:spPr>
      </p:sp>
      <p:sp>
        <p:nvSpPr>
          <p:cNvPr id="8" name="Text 6"/>
          <p:cNvSpPr/>
          <p:nvPr/>
        </p:nvSpPr>
        <p:spPr>
          <a:xfrm>
            <a:off x="896112" y="1591056"/>
            <a:ext cx="6327648"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REAL STRUCTURE · CONCEPTUALLY REDUCED</a:t>
            </a:r>
            <a:endParaRPr lang="en-US" sz="1050" dirty="0"/>
          </a:p>
        </p:txBody>
      </p:sp>
      <p:sp>
        <p:nvSpPr>
          <p:cNvPr id="9" name="Text 7"/>
          <p:cNvSpPr/>
          <p:nvPr/>
        </p:nvSpPr>
        <p:spPr>
          <a:xfrm>
            <a:off x="896112" y="1883664"/>
            <a:ext cx="6327648" cy="3493008"/>
          </a:xfrm>
          <a:prstGeom prst="rect">
            <a:avLst/>
          </a:prstGeom>
          <a:noFill/>
          <a:ln/>
        </p:spPr>
        <p:txBody>
          <a:bodyPr wrap="square" lIns="0" tIns="0" rIns="0" bIns="0" rtlCol="0" anchor="t">
            <a:normAutofit/>
          </a:bodyPr>
          <a:lstStyle/>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class TextureFillShader : public PrecompiledShader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public:</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struct FragDims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static PermutationDomain domain()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return PermutationDomain({</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PermutationInt("HAS_XP", 3),</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PermutationBool("HAS_DEVICE_MASK"),</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a:t>
            </a:r>
            <a:endParaRPr lang="en-US" sz="1220" dirty="0"/>
          </a:p>
          <a:p>
            <a:pPr algn="l" indent="0" marL="0">
              <a:lnSpc>
                <a:spcPct val="100000"/>
              </a:lnSpc>
              <a:buNone/>
            </a:pP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PrecompiledShaderInfo info() const override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return {Name(),</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"level1/texture_fill.vert",</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"level1/texture_fill.frag",</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PermutationDomain({}), FragDims::domain(),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TGFX_REGISTER_SHADER(tgfx::TextureFillShader)</a:t>
            </a:r>
            <a:endParaRPr lang="en-US" sz="1220" dirty="0"/>
          </a:p>
        </p:txBody>
      </p:sp>
      <p:sp>
        <p:nvSpPr>
          <p:cNvPr id="10" name="Text 8"/>
          <p:cNvSpPr/>
          <p:nvPr/>
        </p:nvSpPr>
        <p:spPr>
          <a:xfrm>
            <a:off x="7754112" y="1481328"/>
            <a:ext cx="3584448" cy="237744"/>
          </a:xfrm>
          <a:prstGeom prst="rect">
            <a:avLst/>
          </a:prstGeom>
          <a:noFill/>
          <a:ln/>
        </p:spPr>
        <p:txBody>
          <a:bodyPr wrap="square" lIns="0" tIns="0" rIns="0" bIns="0" rtlCol="0" anchor="t">
            <a:normAutofit/>
          </a:bodyPr>
          <a:lstStyle/>
          <a:p>
            <a:pPr algn="ctr" indent="0" marL="0">
              <a:lnSpc>
                <a:spcPct val="104000"/>
              </a:lnSpc>
              <a:buNone/>
            </a:pPr>
            <a:r>
              <a:rPr lang="en-US" sz="1120" b="1" dirty="0">
                <a:solidFill>
                  <a:srgbClr val="D95D4F"/>
                </a:solidFill>
                <a:latin typeface="PingFang SC" pitchFamily="34" charset="0"/>
                <a:ea typeface="PingFang SC" pitchFamily="34" charset="-122"/>
                <a:cs typeface="PingFang SC" pitchFamily="34" charset="-120"/>
              </a:rPr>
              <a:t>概念性删减，名称和维度真实</a:t>
            </a:r>
            <a:endParaRPr lang="en-US" sz="1120" dirty="0"/>
          </a:p>
        </p:txBody>
      </p:sp>
      <p:sp>
        <p:nvSpPr>
          <p:cNvPr id="11" name="Shape 9"/>
          <p:cNvSpPr/>
          <p:nvPr/>
        </p:nvSpPr>
        <p:spPr>
          <a:xfrm>
            <a:off x="7662672" y="1883664"/>
            <a:ext cx="3785616" cy="603504"/>
          </a:xfrm>
          <a:prstGeom prst="rect">
            <a:avLst/>
          </a:prstGeom>
          <a:solidFill>
            <a:srgbClr val="E6F4F3"/>
          </a:solidFill>
          <a:ln w="12700">
            <a:solidFill>
              <a:srgbClr val="E6F4F3"/>
            </a:solidFill>
            <a:prstDash val="solid"/>
          </a:ln>
        </p:spPr>
      </p:sp>
      <p:sp>
        <p:nvSpPr>
          <p:cNvPr id="12" name="Text 10"/>
          <p:cNvSpPr/>
          <p:nvPr/>
        </p:nvSpPr>
        <p:spPr>
          <a:xfrm>
            <a:off x="7845552" y="1883664"/>
            <a:ext cx="1188720" cy="603504"/>
          </a:xfrm>
          <a:prstGeom prst="rect">
            <a:avLst/>
          </a:prstGeom>
          <a:noFill/>
          <a:ln/>
        </p:spPr>
        <p:txBody>
          <a:bodyPr wrap="square" lIns="0" tIns="0" rIns="0" bIns="0" rtlCol="0" anchor="ctr">
            <a:normAutofit/>
          </a:bodyPr>
          <a:lstStyle/>
          <a:p>
            <a:pPr algn="l" indent="0" marL="0">
              <a:lnSpc>
                <a:spcPct val="104000"/>
              </a:lnSpc>
              <a:buNone/>
            </a:pPr>
            <a:r>
              <a:rPr lang="en-US" sz="1160" b="1" dirty="0">
                <a:solidFill>
                  <a:srgbClr val="008C8C"/>
                </a:solidFill>
                <a:latin typeface="PingFang SC" pitchFamily="34" charset="0"/>
                <a:ea typeface="PingFang SC" pitchFamily="34" charset="-122"/>
                <a:cs typeface="PingFang SC" pitchFamily="34" charset="-120"/>
              </a:rPr>
              <a:t>这是哪个 Shader</a:t>
            </a:r>
            <a:endParaRPr lang="en-US" sz="1160" dirty="0"/>
          </a:p>
        </p:txBody>
      </p:sp>
      <p:sp>
        <p:nvSpPr>
          <p:cNvPr id="13" name="Text 11"/>
          <p:cNvSpPr/>
          <p:nvPr/>
        </p:nvSpPr>
        <p:spPr>
          <a:xfrm>
            <a:off x="9107424" y="1883664"/>
            <a:ext cx="2139696" cy="603504"/>
          </a:xfrm>
          <a:prstGeom prst="rect">
            <a:avLst/>
          </a:prstGeom>
          <a:noFill/>
          <a:ln/>
        </p:spPr>
        <p:txBody>
          <a:bodyPr wrap="square" lIns="0" tIns="0" rIns="0" bIns="0" rtlCol="0" anchor="ctr">
            <a:normAutofit/>
          </a:bodyPr>
          <a:lstStyle/>
          <a:p>
            <a:pPr algn="l"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TextureFillShader 继承 PrecompiledShader</a:t>
            </a:r>
            <a:endParaRPr lang="en-US" sz="1220" dirty="0"/>
          </a:p>
        </p:txBody>
      </p:sp>
      <p:sp>
        <p:nvSpPr>
          <p:cNvPr id="14" name="Shape 12"/>
          <p:cNvSpPr/>
          <p:nvPr/>
        </p:nvSpPr>
        <p:spPr>
          <a:xfrm>
            <a:off x="7662672" y="2670048"/>
            <a:ext cx="3785616" cy="603504"/>
          </a:xfrm>
          <a:prstGeom prst="rect">
            <a:avLst/>
          </a:prstGeom>
          <a:solidFill>
            <a:srgbClr val="EFF7DF"/>
          </a:solidFill>
          <a:ln w="12700">
            <a:solidFill>
              <a:srgbClr val="EFF7DF"/>
            </a:solidFill>
            <a:prstDash val="solid"/>
          </a:ln>
        </p:spPr>
      </p:sp>
      <p:sp>
        <p:nvSpPr>
          <p:cNvPr id="15" name="Text 13"/>
          <p:cNvSpPr/>
          <p:nvPr/>
        </p:nvSpPr>
        <p:spPr>
          <a:xfrm>
            <a:off x="7845552" y="2670048"/>
            <a:ext cx="1188720" cy="603504"/>
          </a:xfrm>
          <a:prstGeom prst="rect">
            <a:avLst/>
          </a:prstGeom>
          <a:noFill/>
          <a:ln/>
        </p:spPr>
        <p:txBody>
          <a:bodyPr wrap="square" lIns="0" tIns="0" rIns="0" bIns="0" rtlCol="0" anchor="ctr">
            <a:normAutofit/>
          </a:bodyPr>
          <a:lstStyle/>
          <a:p>
            <a:pPr algn="l" indent="0" marL="0">
              <a:lnSpc>
                <a:spcPct val="104000"/>
              </a:lnSpc>
              <a:buNone/>
            </a:pPr>
            <a:r>
              <a:rPr lang="en-US" sz="1160" b="1" dirty="0">
                <a:solidFill>
                  <a:srgbClr val="4F7F00"/>
                </a:solidFill>
                <a:latin typeface="PingFang SC" pitchFamily="34" charset="0"/>
                <a:ea typeface="PingFang SC" pitchFamily="34" charset="-122"/>
                <a:cs typeface="PingFang SC" pitchFamily="34" charset="-120"/>
              </a:rPr>
              <a:t>源码在哪</a:t>
            </a:r>
            <a:endParaRPr lang="en-US" sz="1160" dirty="0"/>
          </a:p>
        </p:txBody>
      </p:sp>
      <p:sp>
        <p:nvSpPr>
          <p:cNvPr id="16" name="Text 14"/>
          <p:cNvSpPr/>
          <p:nvPr/>
        </p:nvSpPr>
        <p:spPr>
          <a:xfrm>
            <a:off x="9107424" y="2670048"/>
            <a:ext cx="2139696" cy="603504"/>
          </a:xfrm>
          <a:prstGeom prst="rect">
            <a:avLst/>
          </a:prstGeom>
          <a:noFill/>
          <a:ln/>
        </p:spPr>
        <p:txBody>
          <a:bodyPr wrap="square" lIns="0" tIns="0" rIns="0" bIns="0" rtlCol="0" anchor="ctr">
            <a:normAutofit/>
          </a:bodyPr>
          <a:lstStyle/>
          <a:p>
            <a:pPr algn="l"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info() 连接 Vertex / Fragment 文件</a:t>
            </a:r>
            <a:endParaRPr lang="en-US" sz="1220" dirty="0"/>
          </a:p>
        </p:txBody>
      </p:sp>
      <p:sp>
        <p:nvSpPr>
          <p:cNvPr id="17" name="Shape 15"/>
          <p:cNvSpPr/>
          <p:nvPr/>
        </p:nvSpPr>
        <p:spPr>
          <a:xfrm>
            <a:off x="7662672" y="3456432"/>
            <a:ext cx="3785616" cy="603504"/>
          </a:xfrm>
          <a:prstGeom prst="rect">
            <a:avLst/>
          </a:prstGeom>
          <a:solidFill>
            <a:srgbClr val="FBECE9"/>
          </a:solidFill>
          <a:ln w="12700">
            <a:solidFill>
              <a:srgbClr val="FBECE9"/>
            </a:solidFill>
            <a:prstDash val="solid"/>
          </a:ln>
        </p:spPr>
      </p:sp>
      <p:sp>
        <p:nvSpPr>
          <p:cNvPr id="18" name="Text 16"/>
          <p:cNvSpPr/>
          <p:nvPr/>
        </p:nvSpPr>
        <p:spPr>
          <a:xfrm>
            <a:off x="7845552" y="3456432"/>
            <a:ext cx="1188720" cy="603504"/>
          </a:xfrm>
          <a:prstGeom prst="rect">
            <a:avLst/>
          </a:prstGeom>
          <a:noFill/>
          <a:ln/>
        </p:spPr>
        <p:txBody>
          <a:bodyPr wrap="square" lIns="0" tIns="0" rIns="0" bIns="0" rtlCol="0" anchor="ctr">
            <a:normAutofit/>
          </a:bodyPr>
          <a:lstStyle/>
          <a:p>
            <a:pPr algn="l" indent="0" marL="0">
              <a:lnSpc>
                <a:spcPct val="104000"/>
              </a:lnSpc>
              <a:buNone/>
            </a:pPr>
            <a:r>
              <a:rPr lang="en-US" sz="1160" b="1" dirty="0">
                <a:solidFill>
                  <a:srgbClr val="D95D4F"/>
                </a:solidFill>
                <a:latin typeface="PingFang SC" pitchFamily="34" charset="0"/>
                <a:ea typeface="PingFang SC" pitchFamily="34" charset="-122"/>
                <a:cs typeface="PingFang SC" pitchFamily="34" charset="-120"/>
              </a:rPr>
              <a:t>宏可取什么值</a:t>
            </a:r>
            <a:endParaRPr lang="en-US" sz="1160" dirty="0"/>
          </a:p>
        </p:txBody>
      </p:sp>
      <p:sp>
        <p:nvSpPr>
          <p:cNvPr id="19" name="Text 17"/>
          <p:cNvSpPr/>
          <p:nvPr/>
        </p:nvSpPr>
        <p:spPr>
          <a:xfrm>
            <a:off x="9107424" y="3456432"/>
            <a:ext cx="2139696" cy="603504"/>
          </a:xfrm>
          <a:prstGeom prst="rect">
            <a:avLst/>
          </a:prstGeom>
          <a:noFill/>
          <a:ln/>
        </p:spPr>
        <p:txBody>
          <a:bodyPr wrap="square" lIns="0" tIns="0" rIns="0" bIns="0" rtlCol="0" anchor="ctr">
            <a:normAutofit/>
          </a:bodyPr>
          <a:lstStyle/>
          <a:p>
            <a:pPr algn="l"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domain() 声明两个静态维度的范围</a:t>
            </a:r>
            <a:endParaRPr lang="en-US" sz="1220" dirty="0"/>
          </a:p>
        </p:txBody>
      </p:sp>
      <p:sp>
        <p:nvSpPr>
          <p:cNvPr id="20" name="Shape 18"/>
          <p:cNvSpPr/>
          <p:nvPr/>
        </p:nvSpPr>
        <p:spPr>
          <a:xfrm>
            <a:off x="7662672" y="4242816"/>
            <a:ext cx="3785616" cy="603504"/>
          </a:xfrm>
          <a:prstGeom prst="rect">
            <a:avLst/>
          </a:prstGeom>
          <a:solidFill>
            <a:srgbClr val="F4F7F9"/>
          </a:solidFill>
          <a:ln w="12700">
            <a:solidFill>
              <a:srgbClr val="F4F7F9"/>
            </a:solidFill>
            <a:prstDash val="solid"/>
          </a:ln>
        </p:spPr>
      </p:sp>
      <p:sp>
        <p:nvSpPr>
          <p:cNvPr id="21" name="Text 19"/>
          <p:cNvSpPr/>
          <p:nvPr/>
        </p:nvSpPr>
        <p:spPr>
          <a:xfrm>
            <a:off x="7845552" y="4242816"/>
            <a:ext cx="1188720" cy="603504"/>
          </a:xfrm>
          <a:prstGeom prst="rect">
            <a:avLst/>
          </a:prstGeom>
          <a:noFill/>
          <a:ln/>
        </p:spPr>
        <p:txBody>
          <a:bodyPr wrap="square" lIns="0" tIns="0" rIns="0" bIns="0" rtlCol="0" anchor="ctr">
            <a:normAutofit/>
          </a:bodyPr>
          <a:lstStyle/>
          <a:p>
            <a:pPr algn="l" indent="0" marL="0">
              <a:lnSpc>
                <a:spcPct val="104000"/>
              </a:lnSpc>
              <a:buNone/>
            </a:pPr>
            <a:r>
              <a:rPr lang="en-US" sz="1160" b="1" dirty="0">
                <a:solidFill>
                  <a:srgbClr val="102A43"/>
                </a:solidFill>
                <a:latin typeface="PingFang SC" pitchFamily="34" charset="0"/>
                <a:ea typeface="PingFang SC" pitchFamily="34" charset="-122"/>
                <a:cs typeface="PingFang SC" pitchFamily="34" charset="-120"/>
              </a:rPr>
              <a:t>工具怎样发现</a:t>
            </a:r>
            <a:endParaRPr lang="en-US" sz="1160" dirty="0"/>
          </a:p>
        </p:txBody>
      </p:sp>
      <p:sp>
        <p:nvSpPr>
          <p:cNvPr id="22" name="Text 20"/>
          <p:cNvSpPr/>
          <p:nvPr/>
        </p:nvSpPr>
        <p:spPr>
          <a:xfrm>
            <a:off x="9107424" y="4242816"/>
            <a:ext cx="2139696" cy="603504"/>
          </a:xfrm>
          <a:prstGeom prst="rect">
            <a:avLst/>
          </a:prstGeom>
          <a:noFill/>
          <a:ln/>
        </p:spPr>
        <p:txBody>
          <a:bodyPr wrap="square" lIns="0" tIns="0" rIns="0" bIns="0" rtlCol="0" anchor="ctr">
            <a:normAutofit/>
          </a:bodyPr>
          <a:lstStyle/>
          <a:p>
            <a:pPr algn="l"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TGFX_REGISTER_SHADER 注册声明</a:t>
            </a:r>
            <a:endParaRPr lang="en-US" sz="1220" dirty="0"/>
          </a:p>
        </p:txBody>
      </p:sp>
      <p:sp>
        <p:nvSpPr>
          <p:cNvPr id="23" name="Shape 21"/>
          <p:cNvSpPr/>
          <p:nvPr/>
        </p:nvSpPr>
        <p:spPr>
          <a:xfrm>
            <a:off x="7662672" y="5193792"/>
            <a:ext cx="3785616" cy="384048"/>
          </a:xfrm>
          <a:prstGeom prst="rect">
            <a:avLst/>
          </a:prstGeom>
          <a:solidFill>
            <a:srgbClr val="102A43"/>
          </a:solidFill>
          <a:ln w="12700">
            <a:solidFill>
              <a:srgbClr val="102A43"/>
            </a:solidFill>
            <a:prstDash val="solid"/>
          </a:ln>
        </p:spPr>
      </p:sp>
      <p:sp>
        <p:nvSpPr>
          <p:cNvPr id="24" name="Text 22"/>
          <p:cNvSpPr/>
          <p:nvPr/>
        </p:nvSpPr>
        <p:spPr>
          <a:xfrm>
            <a:off x="7772400" y="5193792"/>
            <a:ext cx="3566160" cy="384048"/>
          </a:xfrm>
          <a:prstGeom prst="rect">
            <a:avLst/>
          </a:prstGeom>
          <a:noFill/>
          <a:ln/>
        </p:spPr>
        <p:txBody>
          <a:bodyPr wrap="square" lIns="0" tIns="0" rIns="0" bIns="0" rtlCol="0" anchor="ctr">
            <a:normAutofit/>
          </a:bodyPr>
          <a:lstStyle/>
          <a:p>
            <a:pPr algn="ctr" indent="0" marL="0">
              <a:lnSpc>
                <a:spcPct val="104000"/>
              </a:lnSpc>
              <a:buNone/>
            </a:pPr>
            <a:r>
              <a:rPr lang="en-US" sz="1350" b="1" dirty="0">
                <a:solidFill>
                  <a:srgbClr val="FFFFFF"/>
                </a:solidFill>
                <a:latin typeface="PingFang SC" pitchFamily="34" charset="0"/>
                <a:ea typeface="PingFang SC" pitchFamily="34" charset="-122"/>
                <a:cs typeface="PingFang SC" pitchFamily="34" charset="-120"/>
              </a:rPr>
              <a:t>一组维度取值 = 一个 permutation</a:t>
            </a:r>
            <a:endParaRPr lang="en-US" sz="1350" dirty="0"/>
          </a:p>
        </p:txBody>
      </p:sp>
      <p:sp>
        <p:nvSpPr>
          <p:cNvPr id="25" name="Shape 23"/>
          <p:cNvSpPr/>
          <p:nvPr/>
        </p:nvSpPr>
        <p:spPr>
          <a:xfrm>
            <a:off x="658368" y="5742432"/>
            <a:ext cx="10874959" cy="438912"/>
          </a:xfrm>
          <a:prstGeom prst="rect">
            <a:avLst/>
          </a:prstGeom>
          <a:solidFill>
            <a:srgbClr val="EFF7DF"/>
          </a:solidFill>
          <a:ln w="12700">
            <a:solidFill>
              <a:srgbClr val="EFF7DF"/>
            </a:solidFill>
            <a:prstDash val="solid"/>
          </a:ln>
        </p:spPr>
      </p:sp>
      <p:sp>
        <p:nvSpPr>
          <p:cNvPr id="26" name="Text 24"/>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声明范围 ≠ 全量编译；真正构建哪些版本由可达规则决定。</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13 · REACHABLE BUILD LIST</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102A43"/>
                </a:solidFill>
                <a:latin typeface="PingFang SC" pitchFamily="34" charset="0"/>
                <a:ea typeface="PingFang SC" pitchFamily="34" charset="-122"/>
                <a:cs typeface="PingFang SC" pitchFamily="34" charset="-120"/>
              </a:rPr>
              <a:t>构建工具只编译运行时可能选中的版本</a:t>
            </a:r>
            <a:endParaRPr lang="en-US" sz="31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13</a:t>
            </a:r>
            <a:endParaRPr lang="en-US" sz="1000" dirty="0"/>
          </a:p>
        </p:txBody>
      </p:sp>
      <p:sp>
        <p:nvSpPr>
          <p:cNvPr id="7" name="Shape 5"/>
          <p:cNvSpPr/>
          <p:nvPr/>
        </p:nvSpPr>
        <p:spPr>
          <a:xfrm>
            <a:off x="694944" y="1444752"/>
            <a:ext cx="6894576" cy="3584448"/>
          </a:xfrm>
          <a:prstGeom prst="rect">
            <a:avLst/>
          </a:prstGeom>
          <a:solidFill>
            <a:srgbClr val="102A43"/>
          </a:solidFill>
          <a:ln w="12700">
            <a:solidFill>
              <a:srgbClr val="102A43"/>
            </a:solidFill>
            <a:prstDash val="solid"/>
          </a:ln>
        </p:spPr>
      </p:sp>
      <p:sp>
        <p:nvSpPr>
          <p:cNvPr id="8" name="Text 6"/>
          <p:cNvSpPr/>
          <p:nvPr/>
        </p:nvSpPr>
        <p:spPr>
          <a:xfrm>
            <a:off x="896112" y="1591056"/>
            <a:ext cx="649224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ENUMERATETEXTUREFILLREACHABLE · REDUCED</a:t>
            </a:r>
            <a:endParaRPr lang="en-US" sz="1050" dirty="0"/>
          </a:p>
        </p:txBody>
      </p:sp>
      <p:sp>
        <p:nvSpPr>
          <p:cNvPr id="9" name="Text 7"/>
          <p:cNvSpPr/>
          <p:nvPr/>
        </p:nvSpPr>
        <p:spPr>
          <a:xfrm>
            <a:off x="896112" y="1883664"/>
            <a:ext cx="6492240" cy="2999232"/>
          </a:xfrm>
          <a:prstGeom prst="rect">
            <a:avLst/>
          </a:prstGeom>
          <a:noFill/>
          <a:ln/>
        </p:spPr>
        <p:txBody>
          <a:bodyPr wrap="square" lIns="0" tIns="0" rIns="0" bIns="0" rtlCol="0" anchor="t">
            <a:normAutofit/>
          </a:bodyPr>
          <a:lstStyle/>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for (int deviceMask = 0; deviceMask &lt;= 1; ++deviceMask)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for (int xpType = -1; xpType &lt;= 2; ++xpType)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TextureFillInputs inputs;</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inputs.deviceMask = deviceMask;</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inputs.xpType = xpType;</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auto composed = ComposeTextureFill(inputs);</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if (!composed) continue;</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auto frag = TextureFillShader::FD::domain()</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.encode(composed-&gt;fragValues);</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result.insert({0, frag});</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  }</a:t>
            </a:r>
            <a:endParaRPr lang="en-US" sz="1220" dirty="0"/>
          </a:p>
          <a:p>
            <a:pPr algn="l" indent="0" marL="0">
              <a:lnSpc>
                <a:spcPct val="100000"/>
              </a:lnSpc>
              <a:buNone/>
            </a:pPr>
            <a:r>
              <a:rPr lang="en-US" sz="1220" dirty="0">
                <a:solidFill>
                  <a:srgbClr val="EEF4F7"/>
                </a:solidFill>
                <a:latin typeface="SF Mono" pitchFamily="34" charset="0"/>
                <a:ea typeface="SF Mono" pitchFamily="34" charset="-122"/>
                <a:cs typeface="SF Mono" pitchFamily="34" charset="-120"/>
              </a:rPr>
              <a:t>}</a:t>
            </a:r>
            <a:endParaRPr lang="en-US" sz="1220" dirty="0"/>
          </a:p>
        </p:txBody>
      </p:sp>
      <p:sp>
        <p:nvSpPr>
          <p:cNvPr id="10" name="Shape 8"/>
          <p:cNvSpPr/>
          <p:nvPr/>
        </p:nvSpPr>
        <p:spPr>
          <a:xfrm>
            <a:off x="7918704" y="1572768"/>
            <a:ext cx="3529584" cy="804672"/>
          </a:xfrm>
          <a:prstGeom prst="rect">
            <a:avLst/>
          </a:prstGeom>
          <a:solidFill>
            <a:srgbClr val="E6F4F3"/>
          </a:solidFill>
          <a:ln w="12700">
            <a:solidFill>
              <a:srgbClr val="E6F4F3"/>
            </a:solidFill>
            <a:prstDash val="solid"/>
          </a:ln>
        </p:spPr>
      </p:sp>
      <p:sp>
        <p:nvSpPr>
          <p:cNvPr id="11" name="Shape 9"/>
          <p:cNvSpPr/>
          <p:nvPr/>
        </p:nvSpPr>
        <p:spPr>
          <a:xfrm>
            <a:off x="8083296" y="1755648"/>
            <a:ext cx="384048" cy="384048"/>
          </a:xfrm>
          <a:prstGeom prst="rect">
            <a:avLst/>
          </a:prstGeom>
          <a:solidFill>
            <a:srgbClr val="FFFFFF"/>
          </a:solidFill>
          <a:ln w="12700">
            <a:solidFill>
              <a:srgbClr val="FFFFFF"/>
            </a:solidFill>
            <a:prstDash val="solid"/>
          </a:ln>
        </p:spPr>
      </p:sp>
      <p:sp>
        <p:nvSpPr>
          <p:cNvPr id="12" name="Text 10"/>
          <p:cNvSpPr/>
          <p:nvPr/>
        </p:nvSpPr>
        <p:spPr>
          <a:xfrm>
            <a:off x="8193024" y="1755648"/>
            <a:ext cx="164592" cy="38404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008C8C"/>
                </a:solidFill>
                <a:latin typeface="PingFang SC" pitchFamily="34" charset="0"/>
                <a:ea typeface="PingFang SC" pitchFamily="34" charset="-122"/>
                <a:cs typeface="PingFang SC" pitchFamily="34" charset="-120"/>
              </a:rPr>
              <a:t>1</a:t>
            </a:r>
            <a:endParaRPr lang="en-US" sz="1300" dirty="0"/>
          </a:p>
        </p:txBody>
      </p:sp>
      <p:sp>
        <p:nvSpPr>
          <p:cNvPr id="13" name="Text 11"/>
          <p:cNvSpPr/>
          <p:nvPr/>
        </p:nvSpPr>
        <p:spPr>
          <a:xfrm>
            <a:off x="8650224" y="1664208"/>
            <a:ext cx="2487168" cy="201168"/>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008C8C"/>
                </a:solidFill>
                <a:latin typeface="PingFang SC" pitchFamily="34" charset="0"/>
                <a:ea typeface="PingFang SC" pitchFamily="34" charset="-122"/>
                <a:cs typeface="PingFang SC" pitchFamily="34" charset="-120"/>
              </a:rPr>
              <a:t>枚举规则输入</a:t>
            </a:r>
            <a:endParaRPr lang="en-US" sz="1350" dirty="0"/>
          </a:p>
        </p:txBody>
      </p:sp>
      <p:sp>
        <p:nvSpPr>
          <p:cNvPr id="14" name="Text 12"/>
          <p:cNvSpPr/>
          <p:nvPr/>
        </p:nvSpPr>
        <p:spPr>
          <a:xfrm>
            <a:off x="8650224" y="1956816"/>
            <a:ext cx="2487168" cy="256032"/>
          </a:xfrm>
          <a:prstGeom prst="rect">
            <a:avLst/>
          </a:prstGeom>
          <a:noFill/>
          <a:ln/>
        </p:spPr>
        <p:txBody>
          <a:bodyPr wrap="square" lIns="0" tIns="0" rIns="0" bIns="0" rtlCol="0" anchor="t">
            <a:normAutofit/>
          </a:bodyPr>
          <a:lstStyle/>
          <a:p>
            <a:pPr algn="l" indent="0" marL="0">
              <a:lnSpc>
                <a:spcPct val="104000"/>
              </a:lnSpc>
              <a:buNone/>
            </a:pPr>
            <a:r>
              <a:rPr lang="en-US" sz="1170" b="1" dirty="0">
                <a:solidFill>
                  <a:srgbClr val="102A43"/>
                </a:solidFill>
                <a:latin typeface="PingFang SC" pitchFamily="34" charset="0"/>
                <a:ea typeface="PingFang SC" pitchFamily="34" charset="-122"/>
                <a:cs typeface="PingFang SC" pitchFamily="34" charset="-120"/>
              </a:rPr>
              <a:t>deviceMask 0..1；xpType -1..2</a:t>
            </a:r>
            <a:endParaRPr lang="en-US" sz="1170" dirty="0"/>
          </a:p>
        </p:txBody>
      </p:sp>
      <p:sp>
        <p:nvSpPr>
          <p:cNvPr id="15" name="Shape 13"/>
          <p:cNvSpPr/>
          <p:nvPr/>
        </p:nvSpPr>
        <p:spPr>
          <a:xfrm>
            <a:off x="7918704" y="2596896"/>
            <a:ext cx="3529584" cy="804672"/>
          </a:xfrm>
          <a:prstGeom prst="rect">
            <a:avLst/>
          </a:prstGeom>
          <a:solidFill>
            <a:srgbClr val="FBECE9"/>
          </a:solidFill>
          <a:ln w="12700">
            <a:solidFill>
              <a:srgbClr val="FBECE9"/>
            </a:solidFill>
            <a:prstDash val="solid"/>
          </a:ln>
        </p:spPr>
      </p:sp>
      <p:sp>
        <p:nvSpPr>
          <p:cNvPr id="16" name="Shape 14"/>
          <p:cNvSpPr/>
          <p:nvPr/>
        </p:nvSpPr>
        <p:spPr>
          <a:xfrm>
            <a:off x="8083296" y="2779776"/>
            <a:ext cx="384048" cy="384048"/>
          </a:xfrm>
          <a:prstGeom prst="rect">
            <a:avLst/>
          </a:prstGeom>
          <a:solidFill>
            <a:srgbClr val="FFFFFF"/>
          </a:solidFill>
          <a:ln w="12700">
            <a:solidFill>
              <a:srgbClr val="FFFFFF"/>
            </a:solidFill>
            <a:prstDash val="solid"/>
          </a:ln>
        </p:spPr>
      </p:sp>
      <p:sp>
        <p:nvSpPr>
          <p:cNvPr id="17" name="Text 15"/>
          <p:cNvSpPr/>
          <p:nvPr/>
        </p:nvSpPr>
        <p:spPr>
          <a:xfrm>
            <a:off x="8193024" y="2779776"/>
            <a:ext cx="164592" cy="38404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D95D4F"/>
                </a:solidFill>
                <a:latin typeface="PingFang SC" pitchFamily="34" charset="0"/>
                <a:ea typeface="PingFang SC" pitchFamily="34" charset="-122"/>
                <a:cs typeface="PingFang SC" pitchFamily="34" charset="-120"/>
              </a:rPr>
              <a:t>2</a:t>
            </a:r>
            <a:endParaRPr lang="en-US" sz="1300" dirty="0"/>
          </a:p>
        </p:txBody>
      </p:sp>
      <p:sp>
        <p:nvSpPr>
          <p:cNvPr id="18" name="Text 16"/>
          <p:cNvSpPr/>
          <p:nvPr/>
        </p:nvSpPr>
        <p:spPr>
          <a:xfrm>
            <a:off x="8650224" y="2688336"/>
            <a:ext cx="2487168" cy="201168"/>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D95D4F"/>
                </a:solidFill>
                <a:latin typeface="PingFang SC" pitchFamily="34" charset="0"/>
                <a:ea typeface="PingFang SC" pitchFamily="34" charset="-122"/>
                <a:cs typeface="PingFang SC" pitchFamily="34" charset="-120"/>
              </a:rPr>
              <a:t>Compose 过滤并映射</a:t>
            </a:r>
            <a:endParaRPr lang="en-US" sz="1350" dirty="0"/>
          </a:p>
        </p:txBody>
      </p:sp>
      <p:sp>
        <p:nvSpPr>
          <p:cNvPr id="19" name="Text 17"/>
          <p:cNvSpPr/>
          <p:nvPr/>
        </p:nvSpPr>
        <p:spPr>
          <a:xfrm>
            <a:off x="8650224" y="2980944"/>
            <a:ext cx="2487168" cy="256032"/>
          </a:xfrm>
          <a:prstGeom prst="rect">
            <a:avLst/>
          </a:prstGeom>
          <a:noFill/>
          <a:ln/>
        </p:spPr>
        <p:txBody>
          <a:bodyPr wrap="square" lIns="0" tIns="0" rIns="0" bIns="0" rtlCol="0" anchor="t">
            <a:normAutofit/>
          </a:bodyPr>
          <a:lstStyle/>
          <a:p>
            <a:pPr algn="l" indent="0" marL="0">
              <a:lnSpc>
                <a:spcPct val="104000"/>
              </a:lnSpc>
              <a:buNone/>
            </a:pPr>
            <a:r>
              <a:rPr lang="en-US" sz="1170" b="1" dirty="0">
                <a:solidFill>
                  <a:srgbClr val="102A43"/>
                </a:solidFill>
                <a:latin typeface="PingFang SC" pitchFamily="34" charset="0"/>
                <a:ea typeface="PingFang SC" pitchFamily="34" charset="-122"/>
                <a:cs typeface="PingFang SC" pitchFamily="34" charset="-120"/>
              </a:rPr>
              <a:t>拒绝不合法输入，生成真实维度值</a:t>
            </a:r>
            <a:endParaRPr lang="en-US" sz="1170" dirty="0"/>
          </a:p>
        </p:txBody>
      </p:sp>
      <p:sp>
        <p:nvSpPr>
          <p:cNvPr id="20" name="Shape 18"/>
          <p:cNvSpPr/>
          <p:nvPr/>
        </p:nvSpPr>
        <p:spPr>
          <a:xfrm>
            <a:off x="7918704" y="3621024"/>
            <a:ext cx="3529584" cy="804672"/>
          </a:xfrm>
          <a:prstGeom prst="rect">
            <a:avLst/>
          </a:prstGeom>
          <a:solidFill>
            <a:srgbClr val="EFF7DF"/>
          </a:solidFill>
          <a:ln w="12700">
            <a:solidFill>
              <a:srgbClr val="EFF7DF"/>
            </a:solidFill>
            <a:prstDash val="solid"/>
          </a:ln>
        </p:spPr>
      </p:sp>
      <p:sp>
        <p:nvSpPr>
          <p:cNvPr id="21" name="Shape 19"/>
          <p:cNvSpPr/>
          <p:nvPr/>
        </p:nvSpPr>
        <p:spPr>
          <a:xfrm>
            <a:off x="8083296" y="3803904"/>
            <a:ext cx="384048" cy="384048"/>
          </a:xfrm>
          <a:prstGeom prst="rect">
            <a:avLst/>
          </a:prstGeom>
          <a:solidFill>
            <a:srgbClr val="FFFFFF"/>
          </a:solidFill>
          <a:ln w="12700">
            <a:solidFill>
              <a:srgbClr val="FFFFFF"/>
            </a:solidFill>
            <a:prstDash val="solid"/>
          </a:ln>
        </p:spPr>
      </p:sp>
      <p:sp>
        <p:nvSpPr>
          <p:cNvPr id="22" name="Text 20"/>
          <p:cNvSpPr/>
          <p:nvPr/>
        </p:nvSpPr>
        <p:spPr>
          <a:xfrm>
            <a:off x="8193024" y="3803904"/>
            <a:ext cx="164592" cy="38404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4F7F00"/>
                </a:solidFill>
                <a:latin typeface="PingFang SC" pitchFamily="34" charset="0"/>
                <a:ea typeface="PingFang SC" pitchFamily="34" charset="-122"/>
                <a:cs typeface="PingFang SC" pitchFamily="34" charset="-120"/>
              </a:rPr>
              <a:t>3</a:t>
            </a:r>
            <a:endParaRPr lang="en-US" sz="1300" dirty="0"/>
          </a:p>
        </p:txBody>
      </p:sp>
      <p:sp>
        <p:nvSpPr>
          <p:cNvPr id="23" name="Text 21"/>
          <p:cNvSpPr/>
          <p:nvPr/>
        </p:nvSpPr>
        <p:spPr>
          <a:xfrm>
            <a:off x="8650224" y="3712464"/>
            <a:ext cx="2487168" cy="201168"/>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4F7F00"/>
                </a:solidFill>
                <a:latin typeface="PingFang SC" pitchFamily="34" charset="0"/>
                <a:ea typeface="PingFang SC" pitchFamily="34" charset="-122"/>
                <a:cs typeface="PingFang SC" pitchFamily="34" charset="-120"/>
              </a:rPr>
              <a:t>reachable 才是清单</a:t>
            </a:r>
            <a:endParaRPr lang="en-US" sz="1350" dirty="0"/>
          </a:p>
        </p:txBody>
      </p:sp>
      <p:sp>
        <p:nvSpPr>
          <p:cNvPr id="24" name="Text 22"/>
          <p:cNvSpPr/>
          <p:nvPr/>
        </p:nvSpPr>
        <p:spPr>
          <a:xfrm>
            <a:off x="8650224" y="4005072"/>
            <a:ext cx="2487168" cy="256032"/>
          </a:xfrm>
          <a:prstGeom prst="rect">
            <a:avLst/>
          </a:prstGeom>
          <a:noFill/>
          <a:ln/>
        </p:spPr>
        <p:txBody>
          <a:bodyPr wrap="square" lIns="0" tIns="0" rIns="0" bIns="0" rtlCol="0" anchor="t">
            <a:normAutofit/>
          </a:bodyPr>
          <a:lstStyle/>
          <a:p>
            <a:pPr algn="l" indent="0" marL="0">
              <a:lnSpc>
                <a:spcPct val="104000"/>
              </a:lnSpc>
              <a:buNone/>
            </a:pPr>
            <a:r>
              <a:rPr lang="en-US" sz="1170" b="1" dirty="0">
                <a:solidFill>
                  <a:srgbClr val="102A43"/>
                </a:solidFill>
                <a:latin typeface="PingFang SC" pitchFamily="34" charset="0"/>
                <a:ea typeface="PingFang SC" pitchFamily="34" charset="-122"/>
                <a:cs typeface="PingFang SC" pitchFamily="34" charset="-120"/>
              </a:rPr>
              <a:t>只 insert 合法编码，不全编笛卡尔积</a:t>
            </a:r>
            <a:endParaRPr lang="en-US" sz="1170" dirty="0"/>
          </a:p>
        </p:txBody>
      </p:sp>
      <p:sp>
        <p:nvSpPr>
          <p:cNvPr id="25" name="Shape 23"/>
          <p:cNvSpPr/>
          <p:nvPr/>
        </p:nvSpPr>
        <p:spPr>
          <a:xfrm>
            <a:off x="1371600" y="5175504"/>
            <a:ext cx="2171700" cy="384048"/>
          </a:xfrm>
          <a:prstGeom prst="rect">
            <a:avLst/>
          </a:prstGeom>
          <a:solidFill>
            <a:srgbClr val="E6F4F3"/>
          </a:solidFill>
          <a:ln w="12700">
            <a:solidFill>
              <a:srgbClr val="E6F4F3"/>
            </a:solidFill>
            <a:prstDash val="solid"/>
          </a:ln>
        </p:spPr>
      </p:sp>
      <p:sp>
        <p:nvSpPr>
          <p:cNvPr id="26" name="Text 24"/>
          <p:cNvSpPr/>
          <p:nvPr/>
        </p:nvSpPr>
        <p:spPr>
          <a:xfrm>
            <a:off x="1481328" y="5175504"/>
            <a:ext cx="1952244" cy="384048"/>
          </a:xfrm>
          <a:prstGeom prst="rect">
            <a:avLst/>
          </a:prstGeom>
          <a:noFill/>
          <a:ln/>
        </p:spPr>
        <p:txBody>
          <a:bodyPr wrap="square" lIns="0" tIns="0" rIns="0" bIns="0" rtlCol="0" anchor="ctr">
            <a:normAutofit/>
          </a:bodyPr>
          <a:lstStyle/>
          <a:p>
            <a:pPr algn="ctr" indent="0" marL="0">
              <a:lnSpc>
                <a:spcPct val="104000"/>
              </a:lnSpc>
              <a:buNone/>
            </a:pPr>
            <a:r>
              <a:rPr lang="en-US" sz="1060" b="1" dirty="0">
                <a:solidFill>
                  <a:srgbClr val="008C8C"/>
                </a:solidFill>
                <a:latin typeface="SF Mono" pitchFamily="34" charset="0"/>
                <a:ea typeface="SF Mono" pitchFamily="34" charset="-122"/>
                <a:cs typeface="SF Mono" pitchFamily="34" charset="-120"/>
              </a:rPr>
              <a:t>reachable</a:t>
            </a:r>
            <a:endParaRPr lang="en-US" sz="1060" dirty="0"/>
          </a:p>
          <a:p>
            <a:pPr algn="ctr" indent="0" marL="0">
              <a:lnSpc>
                <a:spcPct val="104000"/>
              </a:lnSpc>
              <a:buNone/>
            </a:pPr>
            <a:r>
              <a:rPr lang="en-US" sz="1060" b="1" dirty="0">
                <a:solidFill>
                  <a:srgbClr val="008C8C"/>
                </a:solidFill>
                <a:latin typeface="SF Mono" pitchFamily="34" charset="0"/>
                <a:ea typeface="SF Mono" pitchFamily="34" charset="-122"/>
                <a:cs typeface="SF Mono" pitchFamily="34" charset="-120"/>
              </a:rPr>
              <a:t>permutation</a:t>
            </a:r>
            <a:endParaRPr lang="en-US" sz="1060" dirty="0"/>
          </a:p>
        </p:txBody>
      </p:sp>
      <p:sp>
        <p:nvSpPr>
          <p:cNvPr id="27" name="Shape 25"/>
          <p:cNvSpPr/>
          <p:nvPr/>
        </p:nvSpPr>
        <p:spPr>
          <a:xfrm>
            <a:off x="3579876" y="5367528"/>
            <a:ext cx="182880" cy="0"/>
          </a:xfrm>
          <a:prstGeom prst="line">
            <a:avLst/>
          </a:prstGeom>
          <a:noFill/>
          <a:ln w="22860">
            <a:solidFill>
              <a:srgbClr val="76B900"/>
            </a:solidFill>
            <a:prstDash val="solid"/>
            <a:tailEnd type="triangle"/>
          </a:ln>
        </p:spPr>
      </p:sp>
      <p:sp>
        <p:nvSpPr>
          <p:cNvPr id="28" name="Shape 26"/>
          <p:cNvSpPr/>
          <p:nvPr/>
        </p:nvSpPr>
        <p:spPr>
          <a:xfrm>
            <a:off x="3799332" y="5175504"/>
            <a:ext cx="2171700" cy="384048"/>
          </a:xfrm>
          <a:prstGeom prst="rect">
            <a:avLst/>
          </a:prstGeom>
          <a:solidFill>
            <a:srgbClr val="F4F7F9"/>
          </a:solidFill>
          <a:ln w="12700">
            <a:solidFill>
              <a:srgbClr val="F4F7F9"/>
            </a:solidFill>
            <a:prstDash val="solid"/>
          </a:ln>
        </p:spPr>
      </p:sp>
      <p:sp>
        <p:nvSpPr>
          <p:cNvPr id="29" name="Text 27"/>
          <p:cNvSpPr/>
          <p:nvPr/>
        </p:nvSpPr>
        <p:spPr>
          <a:xfrm>
            <a:off x="3909060" y="5175504"/>
            <a:ext cx="1952244" cy="384048"/>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注入宏</a:t>
            </a:r>
            <a:endParaRPr lang="en-US" sz="1220" dirty="0"/>
          </a:p>
        </p:txBody>
      </p:sp>
      <p:sp>
        <p:nvSpPr>
          <p:cNvPr id="30" name="Shape 28"/>
          <p:cNvSpPr/>
          <p:nvPr/>
        </p:nvSpPr>
        <p:spPr>
          <a:xfrm>
            <a:off x="6007608" y="5367528"/>
            <a:ext cx="182880" cy="0"/>
          </a:xfrm>
          <a:prstGeom prst="line">
            <a:avLst/>
          </a:prstGeom>
          <a:noFill/>
          <a:ln w="22860">
            <a:solidFill>
              <a:srgbClr val="76B900"/>
            </a:solidFill>
            <a:prstDash val="solid"/>
            <a:tailEnd type="triangle"/>
          </a:ln>
        </p:spPr>
      </p:sp>
      <p:sp>
        <p:nvSpPr>
          <p:cNvPr id="31" name="Shape 29"/>
          <p:cNvSpPr/>
          <p:nvPr/>
        </p:nvSpPr>
        <p:spPr>
          <a:xfrm>
            <a:off x="6227064" y="5175504"/>
            <a:ext cx="2171700" cy="384048"/>
          </a:xfrm>
          <a:prstGeom prst="rect">
            <a:avLst/>
          </a:prstGeom>
          <a:solidFill>
            <a:srgbClr val="EFF7DF"/>
          </a:solidFill>
          <a:ln w="12700">
            <a:solidFill>
              <a:srgbClr val="EFF7DF"/>
            </a:solidFill>
            <a:prstDash val="solid"/>
          </a:ln>
        </p:spPr>
      </p:sp>
      <p:sp>
        <p:nvSpPr>
          <p:cNvPr id="32" name="Text 30"/>
          <p:cNvSpPr/>
          <p:nvPr/>
        </p:nvSpPr>
        <p:spPr>
          <a:xfrm>
            <a:off x="6336792" y="5175504"/>
            <a:ext cx="1952244" cy="384048"/>
          </a:xfrm>
          <a:prstGeom prst="rect">
            <a:avLst/>
          </a:prstGeom>
          <a:noFill/>
          <a:ln/>
        </p:spPr>
        <p:txBody>
          <a:bodyPr wrap="square" lIns="0" tIns="0" rIns="0" bIns="0" rtlCol="0" anchor="ctr">
            <a:normAutofit/>
          </a:bodyPr>
          <a:lstStyle/>
          <a:p>
            <a:pPr algn="ctr" indent="0" marL="0">
              <a:lnSpc>
                <a:spcPct val="104000"/>
              </a:lnSpc>
              <a:buNone/>
            </a:pPr>
            <a:r>
              <a:rPr lang="en-US" sz="1200" b="1" dirty="0">
                <a:solidFill>
                  <a:srgbClr val="4F7F00"/>
                </a:solidFill>
                <a:latin typeface="PingFang SC" pitchFamily="34" charset="0"/>
                <a:ea typeface="PingFang SC" pitchFamily="34" charset="-122"/>
                <a:cs typeface="PingFang SC" pitchFamily="34" charset="-120"/>
              </a:rPr>
              <a:t>Backend 编译</a:t>
            </a:r>
            <a:endParaRPr lang="en-US" sz="1200" dirty="0"/>
          </a:p>
        </p:txBody>
      </p:sp>
      <p:sp>
        <p:nvSpPr>
          <p:cNvPr id="33" name="Shape 31"/>
          <p:cNvSpPr/>
          <p:nvPr/>
        </p:nvSpPr>
        <p:spPr>
          <a:xfrm>
            <a:off x="8435340" y="5367528"/>
            <a:ext cx="182880" cy="0"/>
          </a:xfrm>
          <a:prstGeom prst="line">
            <a:avLst/>
          </a:prstGeom>
          <a:noFill/>
          <a:ln w="22860">
            <a:solidFill>
              <a:srgbClr val="76B900"/>
            </a:solidFill>
            <a:prstDash val="solid"/>
            <a:tailEnd type="triangle"/>
          </a:ln>
        </p:spPr>
      </p:sp>
      <p:sp>
        <p:nvSpPr>
          <p:cNvPr id="34" name="Shape 32"/>
          <p:cNvSpPr/>
          <p:nvPr/>
        </p:nvSpPr>
        <p:spPr>
          <a:xfrm>
            <a:off x="8654796" y="5175504"/>
            <a:ext cx="2171700" cy="384048"/>
          </a:xfrm>
          <a:prstGeom prst="rect">
            <a:avLst/>
          </a:prstGeom>
          <a:solidFill>
            <a:srgbClr val="102A43"/>
          </a:solidFill>
          <a:ln w="12700">
            <a:solidFill>
              <a:srgbClr val="102A43"/>
            </a:solidFill>
            <a:prstDash val="solid"/>
          </a:ln>
        </p:spPr>
      </p:sp>
      <p:sp>
        <p:nvSpPr>
          <p:cNvPr id="35" name="Text 33"/>
          <p:cNvSpPr/>
          <p:nvPr/>
        </p:nvSpPr>
        <p:spPr>
          <a:xfrm>
            <a:off x="8764524" y="5175504"/>
            <a:ext cx="1952244" cy="384048"/>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FFFFFF"/>
                </a:solidFill>
                <a:latin typeface="SF Mono" pitchFamily="34" charset="0"/>
                <a:ea typeface="SF Mono" pitchFamily="34" charset="-122"/>
                <a:cs typeface="SF Mono" pitchFamily="34" charset="-120"/>
              </a:rPr>
              <a:t>Bundle</a:t>
            </a:r>
            <a:endParaRPr lang="en-US" sz="1220" dirty="0"/>
          </a:p>
        </p:txBody>
      </p:sp>
      <p:sp>
        <p:nvSpPr>
          <p:cNvPr id="36" name="Shape 34"/>
          <p:cNvSpPr/>
          <p:nvPr/>
        </p:nvSpPr>
        <p:spPr>
          <a:xfrm>
            <a:off x="658368" y="5742432"/>
            <a:ext cx="10874959" cy="438912"/>
          </a:xfrm>
          <a:prstGeom prst="rect">
            <a:avLst/>
          </a:prstGeom>
          <a:solidFill>
            <a:srgbClr val="EFF7DF"/>
          </a:solidFill>
          <a:ln w="12700">
            <a:solidFill>
              <a:srgbClr val="EFF7DF"/>
            </a:solidFill>
            <a:prstDash val="solid"/>
          </a:ln>
        </p:spPr>
      </p:sp>
      <p:sp>
        <p:nvSpPr>
          <p:cNvPr id="37" name="Text 35"/>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Bundle 保存 stage 资产与反射信息，不是完整 Pipeline。</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14 · SHARED COMPOSE RULE</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2900" b="1" dirty="0">
                <a:solidFill>
                  <a:srgbClr val="102A43"/>
                </a:solidFill>
                <a:latin typeface="PingFang SC" pitchFamily="34" charset="0"/>
                <a:ea typeface="PingFang SC" pitchFamily="34" charset="-122"/>
                <a:cs typeface="PingFang SC" pitchFamily="34" charset="-120"/>
              </a:rPr>
              <a:t>Build 和 Runtime 用同一规则得到相同的 permutation 编码</a:t>
            </a:r>
            <a:endParaRPr lang="en-US" sz="29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14</a:t>
            </a:r>
            <a:endParaRPr lang="en-US" sz="1000" dirty="0"/>
          </a:p>
        </p:txBody>
      </p:sp>
      <p:sp>
        <p:nvSpPr>
          <p:cNvPr id="7" name="Shape 5"/>
          <p:cNvSpPr/>
          <p:nvPr/>
        </p:nvSpPr>
        <p:spPr>
          <a:xfrm>
            <a:off x="694944" y="1426464"/>
            <a:ext cx="6711696" cy="3803904"/>
          </a:xfrm>
          <a:prstGeom prst="rect">
            <a:avLst/>
          </a:prstGeom>
          <a:solidFill>
            <a:srgbClr val="102A43"/>
          </a:solidFill>
          <a:ln w="12700">
            <a:solidFill>
              <a:srgbClr val="102A43"/>
            </a:solidFill>
            <a:prstDash val="solid"/>
          </a:ln>
        </p:spPr>
      </p:sp>
      <p:sp>
        <p:nvSpPr>
          <p:cNvPr id="8" name="Text 6"/>
          <p:cNvSpPr/>
          <p:nvPr/>
        </p:nvSpPr>
        <p:spPr>
          <a:xfrm>
            <a:off x="896112" y="1572768"/>
            <a:ext cx="630936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TRYMATCHTEXTUREFILL · REDUCED</a:t>
            </a:r>
            <a:endParaRPr lang="en-US" sz="1050" dirty="0"/>
          </a:p>
        </p:txBody>
      </p:sp>
      <p:sp>
        <p:nvSpPr>
          <p:cNvPr id="9" name="Text 7"/>
          <p:cNvSpPr/>
          <p:nvPr/>
        </p:nvSpPr>
        <p:spPr>
          <a:xfrm>
            <a:off x="896112" y="1865376"/>
            <a:ext cx="6309360" cy="3218688"/>
          </a:xfrm>
          <a:prstGeom prst="rect">
            <a:avLst/>
          </a:prstGeom>
          <a:noFill/>
          <a:ln/>
        </p:spPr>
        <p:txBody>
          <a:bodyPr wrap="square" lIns="0" tIns="0" rIns="0" bIns="0" rtlCol="0" anchor="t">
            <a:normAutofit/>
          </a:bodyPr>
          <a:lstStyle/>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auto deviceMask = SharedDeviceMaskValue(programInfo);</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if (!deviceMask) return std::nullopt;</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int xpType = GetXPType(programInfo);</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if (xpType &lt; 0) return std::nullopt;</a:t>
            </a:r>
            <a:endParaRPr lang="en-US" sz="1200" dirty="0"/>
          </a:p>
          <a:p>
            <a:pPr algn="l" indent="0" marL="0">
              <a:lnSpc>
                <a:spcPct val="100000"/>
              </a:lnSpc>
              <a:buNone/>
            </a:pP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TextureFillInputs inputs;</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inputs.deviceMask = *deviceMask;</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inputs.xpType = xpType;</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auto composed = ComposeTextureFill(inputs);</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if (!composed) return std::nullopt;</a:t>
            </a:r>
            <a:endParaRPr lang="en-US" sz="1200" dirty="0"/>
          </a:p>
          <a:p>
            <a:pPr algn="l" indent="0" marL="0">
              <a:lnSpc>
                <a:spcPct val="100000"/>
              </a:lnSpc>
              <a:buNone/>
            </a:pP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auto frag = TextureFillShader::FD::domain()</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.encode(composed-&gt;fragValues);</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return PermutationMatchResult{TextureFillShader::Name(),</a:t>
            </a:r>
            <a:endParaRPr lang="en-US" sz="1200" dirty="0"/>
          </a:p>
          <a:p>
            <a:pPr algn="l" indent="0" marL="0">
              <a:lnSpc>
                <a:spcPct val="100000"/>
              </a:lnSpc>
              <a:buNone/>
            </a:pPr>
            <a:r>
              <a:rPr lang="en-US" sz="1200" dirty="0">
                <a:solidFill>
                  <a:srgbClr val="EEF4F7"/>
                </a:solidFill>
                <a:latin typeface="SF Mono" pitchFamily="34" charset="0"/>
                <a:ea typeface="SF Mono" pitchFamily="34" charset="-122"/>
                <a:cs typeface="SF Mono" pitchFamily="34" charset="-120"/>
              </a:rPr>
              <a:t>  TextureFillShader::EncodeVertex(), frag};</a:t>
            </a:r>
            <a:endParaRPr lang="en-US" sz="1200" dirty="0"/>
          </a:p>
        </p:txBody>
      </p:sp>
      <p:sp>
        <p:nvSpPr>
          <p:cNvPr id="10" name="Text 8"/>
          <p:cNvSpPr/>
          <p:nvPr/>
        </p:nvSpPr>
        <p:spPr>
          <a:xfrm>
            <a:off x="7735824" y="1572768"/>
            <a:ext cx="749808"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008C8C"/>
                </a:solidFill>
                <a:latin typeface="SF Mono" pitchFamily="34" charset="0"/>
                <a:ea typeface="SF Mono" pitchFamily="34" charset="-122"/>
                <a:cs typeface="SF Mono" pitchFamily="34" charset="-120"/>
              </a:rPr>
              <a:t>BUILD</a:t>
            </a:r>
            <a:endParaRPr lang="en-US" sz="1100" dirty="0"/>
          </a:p>
        </p:txBody>
      </p:sp>
      <p:sp>
        <p:nvSpPr>
          <p:cNvPr id="11" name="Shape 9"/>
          <p:cNvSpPr/>
          <p:nvPr/>
        </p:nvSpPr>
        <p:spPr>
          <a:xfrm>
            <a:off x="7735824" y="1865376"/>
            <a:ext cx="1121664" cy="530352"/>
          </a:xfrm>
          <a:prstGeom prst="rect">
            <a:avLst/>
          </a:prstGeom>
          <a:solidFill>
            <a:srgbClr val="E6F4F3"/>
          </a:solidFill>
          <a:ln w="12700">
            <a:solidFill>
              <a:srgbClr val="E6F4F3"/>
            </a:solidFill>
            <a:prstDash val="solid"/>
          </a:ln>
        </p:spPr>
      </p:sp>
      <p:sp>
        <p:nvSpPr>
          <p:cNvPr id="12" name="Text 10"/>
          <p:cNvSpPr/>
          <p:nvPr/>
        </p:nvSpPr>
        <p:spPr>
          <a:xfrm>
            <a:off x="7845552" y="1865376"/>
            <a:ext cx="902208" cy="530352"/>
          </a:xfrm>
          <a:prstGeom prst="rect">
            <a:avLst/>
          </a:prstGeom>
          <a:noFill/>
          <a:ln/>
        </p:spPr>
        <p:txBody>
          <a:bodyPr wrap="square" lIns="0" tIns="0" rIns="0" bIns="0" rtlCol="0" anchor="ctr">
            <a:normAutofit/>
          </a:bodyPr>
          <a:lstStyle/>
          <a:p>
            <a:pPr algn="ctr" indent="0" marL="0">
              <a:lnSpc>
                <a:spcPct val="104000"/>
              </a:lnSpc>
              <a:buNone/>
            </a:pPr>
            <a:r>
              <a:rPr lang="en-US" sz="1160" b="1" dirty="0">
                <a:solidFill>
                  <a:srgbClr val="008C8C"/>
                </a:solidFill>
                <a:latin typeface="PingFang SC" pitchFamily="34" charset="0"/>
                <a:ea typeface="PingFang SC" pitchFamily="34" charset="-122"/>
                <a:cs typeface="PingFang SC" pitchFamily="34" charset="-120"/>
              </a:rPr>
              <a:t>枚举输入</a:t>
            </a:r>
            <a:endParaRPr lang="en-US" sz="1160" dirty="0"/>
          </a:p>
        </p:txBody>
      </p:sp>
      <p:sp>
        <p:nvSpPr>
          <p:cNvPr id="13" name="Shape 11"/>
          <p:cNvSpPr/>
          <p:nvPr/>
        </p:nvSpPr>
        <p:spPr>
          <a:xfrm>
            <a:off x="8894064" y="2130552"/>
            <a:ext cx="91440" cy="0"/>
          </a:xfrm>
          <a:prstGeom prst="line">
            <a:avLst/>
          </a:prstGeom>
          <a:noFill/>
          <a:ln w="22860">
            <a:solidFill>
              <a:srgbClr val="008C8C"/>
            </a:solidFill>
            <a:prstDash val="solid"/>
            <a:tailEnd type="triangle"/>
          </a:ln>
        </p:spPr>
      </p:sp>
      <p:sp>
        <p:nvSpPr>
          <p:cNvPr id="14" name="Shape 12"/>
          <p:cNvSpPr/>
          <p:nvPr/>
        </p:nvSpPr>
        <p:spPr>
          <a:xfrm>
            <a:off x="9022080" y="1865376"/>
            <a:ext cx="1121664" cy="530352"/>
          </a:xfrm>
          <a:prstGeom prst="rect">
            <a:avLst/>
          </a:prstGeom>
          <a:solidFill>
            <a:srgbClr val="F4F7F9"/>
          </a:solidFill>
          <a:ln w="12700">
            <a:solidFill>
              <a:srgbClr val="F4F7F9"/>
            </a:solidFill>
            <a:prstDash val="solid"/>
          </a:ln>
        </p:spPr>
      </p:sp>
      <p:sp>
        <p:nvSpPr>
          <p:cNvPr id="15" name="Text 13"/>
          <p:cNvSpPr/>
          <p:nvPr/>
        </p:nvSpPr>
        <p:spPr>
          <a:xfrm>
            <a:off x="9131808" y="1865376"/>
            <a:ext cx="902208" cy="530352"/>
          </a:xfrm>
          <a:prstGeom prst="rect">
            <a:avLst/>
          </a:prstGeom>
          <a:noFill/>
          <a:ln/>
        </p:spPr>
        <p:txBody>
          <a:bodyPr wrap="square" lIns="0" tIns="0" rIns="0" bIns="0" rtlCol="0" anchor="ctr">
            <a:normAutofit/>
          </a:bodyPr>
          <a:lstStyle/>
          <a:p>
            <a:pPr algn="ctr" indent="0" marL="0">
              <a:lnSpc>
                <a:spcPct val="104000"/>
              </a:lnSpc>
              <a:buNone/>
            </a:pPr>
            <a:r>
              <a:rPr lang="en-US" sz="950" b="1" dirty="0">
                <a:solidFill>
                  <a:srgbClr val="102A43"/>
                </a:solidFill>
                <a:latin typeface="SF Mono" pitchFamily="34" charset="0"/>
                <a:ea typeface="SF Mono" pitchFamily="34" charset="-122"/>
                <a:cs typeface="SF Mono" pitchFamily="34" charset="-120"/>
              </a:rPr>
              <a:t>Compose</a:t>
            </a:r>
            <a:endParaRPr lang="en-US" sz="950" dirty="0"/>
          </a:p>
          <a:p>
            <a:pPr algn="ctr" indent="0" marL="0">
              <a:lnSpc>
                <a:spcPct val="104000"/>
              </a:lnSpc>
              <a:buNone/>
            </a:pPr>
            <a:r>
              <a:rPr lang="en-US" sz="950" b="1" dirty="0">
                <a:solidFill>
                  <a:srgbClr val="102A43"/>
                </a:solidFill>
                <a:latin typeface="SF Mono" pitchFamily="34" charset="0"/>
                <a:ea typeface="SF Mono" pitchFamily="34" charset="-122"/>
                <a:cs typeface="SF Mono" pitchFamily="34" charset="-120"/>
              </a:rPr>
              <a:t>TextureFill</a:t>
            </a:r>
            <a:endParaRPr lang="en-US" sz="950" dirty="0"/>
          </a:p>
        </p:txBody>
      </p:sp>
      <p:sp>
        <p:nvSpPr>
          <p:cNvPr id="16" name="Shape 14"/>
          <p:cNvSpPr/>
          <p:nvPr/>
        </p:nvSpPr>
        <p:spPr>
          <a:xfrm>
            <a:off x="10180320" y="2130552"/>
            <a:ext cx="91440" cy="0"/>
          </a:xfrm>
          <a:prstGeom prst="line">
            <a:avLst/>
          </a:prstGeom>
          <a:noFill/>
          <a:ln w="22860">
            <a:solidFill>
              <a:srgbClr val="008C8C"/>
            </a:solidFill>
            <a:prstDash val="solid"/>
            <a:tailEnd type="triangle"/>
          </a:ln>
        </p:spPr>
      </p:sp>
      <p:sp>
        <p:nvSpPr>
          <p:cNvPr id="17" name="Shape 15"/>
          <p:cNvSpPr/>
          <p:nvPr/>
        </p:nvSpPr>
        <p:spPr>
          <a:xfrm>
            <a:off x="10308336" y="1865376"/>
            <a:ext cx="1121664" cy="530352"/>
          </a:xfrm>
          <a:prstGeom prst="rect">
            <a:avLst/>
          </a:prstGeom>
          <a:solidFill>
            <a:srgbClr val="102A43"/>
          </a:solidFill>
          <a:ln w="12700">
            <a:solidFill>
              <a:srgbClr val="102A43"/>
            </a:solidFill>
            <a:prstDash val="solid"/>
          </a:ln>
        </p:spPr>
      </p:sp>
      <p:sp>
        <p:nvSpPr>
          <p:cNvPr id="18" name="Text 16"/>
          <p:cNvSpPr/>
          <p:nvPr/>
        </p:nvSpPr>
        <p:spPr>
          <a:xfrm>
            <a:off x="10418064" y="1865376"/>
            <a:ext cx="902208" cy="530352"/>
          </a:xfrm>
          <a:prstGeom prst="rect">
            <a:avLst/>
          </a:prstGeom>
          <a:noFill/>
          <a:ln/>
        </p:spPr>
        <p:txBody>
          <a:bodyPr wrap="square" lIns="0" tIns="0" rIns="0" bIns="0" rtlCol="0" anchor="ctr">
            <a:normAutofit/>
          </a:bodyPr>
          <a:lstStyle/>
          <a:p>
            <a:pPr algn="ctr" indent="0" marL="0">
              <a:lnSpc>
                <a:spcPct val="104000"/>
              </a:lnSpc>
              <a:buNone/>
            </a:pPr>
            <a:r>
              <a:rPr lang="en-US" sz="1020" b="1" dirty="0">
                <a:solidFill>
                  <a:srgbClr val="FFFFFF"/>
                </a:solidFill>
                <a:latin typeface="SF Mono" pitchFamily="34" charset="0"/>
                <a:ea typeface="SF Mono" pitchFamily="34" charset="-122"/>
                <a:cs typeface="SF Mono" pitchFamily="34" charset="-120"/>
              </a:rPr>
              <a:t>permutation</a:t>
            </a:r>
            <a:endParaRPr lang="en-US" sz="1020" dirty="0"/>
          </a:p>
          <a:p>
            <a:pPr algn="ctr" indent="0" marL="0">
              <a:lnSpc>
                <a:spcPct val="104000"/>
              </a:lnSpc>
              <a:buNone/>
            </a:pPr>
            <a:r>
              <a:rPr lang="en-US" sz="1020" b="1" dirty="0">
                <a:solidFill>
                  <a:srgbClr val="FFFFFF"/>
                </a:solidFill>
                <a:latin typeface="SF Mono" pitchFamily="34" charset="0"/>
                <a:ea typeface="SF Mono" pitchFamily="34" charset="-122"/>
                <a:cs typeface="SF Mono" pitchFamily="34" charset="-120"/>
              </a:rPr>
              <a:t>编码</a:t>
            </a:r>
            <a:endParaRPr lang="en-US" sz="1020" dirty="0"/>
          </a:p>
        </p:txBody>
      </p:sp>
      <p:sp>
        <p:nvSpPr>
          <p:cNvPr id="19" name="Text 17"/>
          <p:cNvSpPr/>
          <p:nvPr/>
        </p:nvSpPr>
        <p:spPr>
          <a:xfrm>
            <a:off x="7735824" y="2688336"/>
            <a:ext cx="841248"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4F7F00"/>
                </a:solidFill>
                <a:latin typeface="SF Mono" pitchFamily="34" charset="0"/>
                <a:ea typeface="SF Mono" pitchFamily="34" charset="-122"/>
                <a:cs typeface="SF Mono" pitchFamily="34" charset="-120"/>
              </a:rPr>
              <a:t>RUNTIME</a:t>
            </a:r>
            <a:endParaRPr lang="en-US" sz="1100" dirty="0"/>
          </a:p>
        </p:txBody>
      </p:sp>
      <p:sp>
        <p:nvSpPr>
          <p:cNvPr id="20" name="Shape 18"/>
          <p:cNvSpPr/>
          <p:nvPr/>
        </p:nvSpPr>
        <p:spPr>
          <a:xfrm>
            <a:off x="7735824" y="2980944"/>
            <a:ext cx="1121664" cy="530352"/>
          </a:xfrm>
          <a:prstGeom prst="rect">
            <a:avLst/>
          </a:prstGeom>
          <a:solidFill>
            <a:srgbClr val="EFF7DF"/>
          </a:solidFill>
          <a:ln w="12700">
            <a:solidFill>
              <a:srgbClr val="EFF7DF"/>
            </a:solidFill>
            <a:prstDash val="solid"/>
          </a:ln>
        </p:spPr>
      </p:sp>
      <p:sp>
        <p:nvSpPr>
          <p:cNvPr id="21" name="Text 19"/>
          <p:cNvSpPr/>
          <p:nvPr/>
        </p:nvSpPr>
        <p:spPr>
          <a:xfrm>
            <a:off x="7845552" y="2980944"/>
            <a:ext cx="902208" cy="530352"/>
          </a:xfrm>
          <a:prstGeom prst="rect">
            <a:avLst/>
          </a:prstGeom>
          <a:noFill/>
          <a:ln/>
        </p:spPr>
        <p:txBody>
          <a:bodyPr wrap="square" lIns="0" tIns="0" rIns="0" bIns="0" rtlCol="0" anchor="ctr">
            <a:normAutofit/>
          </a:bodyPr>
          <a:lstStyle/>
          <a:p>
            <a:pPr algn="ctr" indent="0" marL="0">
              <a:lnSpc>
                <a:spcPct val="104000"/>
              </a:lnSpc>
              <a:buNone/>
            </a:pPr>
            <a:r>
              <a:rPr lang="en-US" sz="1160" b="1" dirty="0">
                <a:solidFill>
                  <a:srgbClr val="4F7F00"/>
                </a:solidFill>
                <a:latin typeface="PingFang SC" pitchFamily="34" charset="0"/>
                <a:ea typeface="PingFang SC" pitchFamily="34" charset="-122"/>
                <a:cs typeface="PingFang SC" pitchFamily="34" charset="-120"/>
              </a:rPr>
              <a:t>当前 Draw</a:t>
            </a:r>
            <a:endParaRPr lang="en-US" sz="1160" dirty="0"/>
          </a:p>
        </p:txBody>
      </p:sp>
      <p:sp>
        <p:nvSpPr>
          <p:cNvPr id="22" name="Shape 20"/>
          <p:cNvSpPr/>
          <p:nvPr/>
        </p:nvSpPr>
        <p:spPr>
          <a:xfrm>
            <a:off x="8894064" y="3246120"/>
            <a:ext cx="91440" cy="0"/>
          </a:xfrm>
          <a:prstGeom prst="line">
            <a:avLst/>
          </a:prstGeom>
          <a:noFill/>
          <a:ln w="22860">
            <a:solidFill>
              <a:srgbClr val="76B900"/>
            </a:solidFill>
            <a:prstDash val="solid"/>
            <a:tailEnd type="triangle"/>
          </a:ln>
        </p:spPr>
      </p:sp>
      <p:sp>
        <p:nvSpPr>
          <p:cNvPr id="23" name="Shape 21"/>
          <p:cNvSpPr/>
          <p:nvPr/>
        </p:nvSpPr>
        <p:spPr>
          <a:xfrm>
            <a:off x="9022080" y="2980944"/>
            <a:ext cx="1121664" cy="530352"/>
          </a:xfrm>
          <a:prstGeom prst="rect">
            <a:avLst/>
          </a:prstGeom>
          <a:solidFill>
            <a:srgbClr val="F4F7F9"/>
          </a:solidFill>
          <a:ln w="12700">
            <a:solidFill>
              <a:srgbClr val="F4F7F9"/>
            </a:solidFill>
            <a:prstDash val="solid"/>
          </a:ln>
        </p:spPr>
      </p:sp>
      <p:sp>
        <p:nvSpPr>
          <p:cNvPr id="24" name="Text 22"/>
          <p:cNvSpPr/>
          <p:nvPr/>
        </p:nvSpPr>
        <p:spPr>
          <a:xfrm>
            <a:off x="9131808" y="2980944"/>
            <a:ext cx="902208" cy="530352"/>
          </a:xfrm>
          <a:prstGeom prst="rect">
            <a:avLst/>
          </a:prstGeom>
          <a:noFill/>
          <a:ln/>
        </p:spPr>
        <p:txBody>
          <a:bodyPr wrap="square" lIns="0" tIns="0" rIns="0" bIns="0" rtlCol="0" anchor="ctr">
            <a:normAutofit/>
          </a:bodyPr>
          <a:lstStyle/>
          <a:p>
            <a:pPr algn="ctr" indent="0" marL="0">
              <a:lnSpc>
                <a:spcPct val="104000"/>
              </a:lnSpc>
              <a:buNone/>
            </a:pPr>
            <a:r>
              <a:rPr lang="en-US" sz="950" b="1" dirty="0">
                <a:solidFill>
                  <a:srgbClr val="102A43"/>
                </a:solidFill>
                <a:latin typeface="SF Mono" pitchFamily="34" charset="0"/>
                <a:ea typeface="SF Mono" pitchFamily="34" charset="-122"/>
                <a:cs typeface="SF Mono" pitchFamily="34" charset="-120"/>
              </a:rPr>
              <a:t>Compose</a:t>
            </a:r>
            <a:endParaRPr lang="en-US" sz="950" dirty="0"/>
          </a:p>
          <a:p>
            <a:pPr algn="ctr" indent="0" marL="0">
              <a:lnSpc>
                <a:spcPct val="104000"/>
              </a:lnSpc>
              <a:buNone/>
            </a:pPr>
            <a:r>
              <a:rPr lang="en-US" sz="950" b="1" dirty="0">
                <a:solidFill>
                  <a:srgbClr val="102A43"/>
                </a:solidFill>
                <a:latin typeface="SF Mono" pitchFamily="34" charset="0"/>
                <a:ea typeface="SF Mono" pitchFamily="34" charset="-122"/>
                <a:cs typeface="SF Mono" pitchFamily="34" charset="-120"/>
              </a:rPr>
              <a:t>TextureFill</a:t>
            </a:r>
            <a:endParaRPr lang="en-US" sz="950" dirty="0"/>
          </a:p>
        </p:txBody>
      </p:sp>
      <p:sp>
        <p:nvSpPr>
          <p:cNvPr id="25" name="Shape 23"/>
          <p:cNvSpPr/>
          <p:nvPr/>
        </p:nvSpPr>
        <p:spPr>
          <a:xfrm>
            <a:off x="10180320" y="3246120"/>
            <a:ext cx="91440" cy="0"/>
          </a:xfrm>
          <a:prstGeom prst="line">
            <a:avLst/>
          </a:prstGeom>
          <a:noFill/>
          <a:ln w="22860">
            <a:solidFill>
              <a:srgbClr val="76B900"/>
            </a:solidFill>
            <a:prstDash val="solid"/>
            <a:tailEnd type="triangle"/>
          </a:ln>
        </p:spPr>
      </p:sp>
      <p:sp>
        <p:nvSpPr>
          <p:cNvPr id="26" name="Shape 24"/>
          <p:cNvSpPr/>
          <p:nvPr/>
        </p:nvSpPr>
        <p:spPr>
          <a:xfrm>
            <a:off x="10308336" y="2980944"/>
            <a:ext cx="1121664" cy="530352"/>
          </a:xfrm>
          <a:prstGeom prst="rect">
            <a:avLst/>
          </a:prstGeom>
          <a:solidFill>
            <a:srgbClr val="102A43"/>
          </a:solidFill>
          <a:ln w="12700">
            <a:solidFill>
              <a:srgbClr val="102A43"/>
            </a:solidFill>
            <a:prstDash val="solid"/>
          </a:ln>
        </p:spPr>
      </p:sp>
      <p:sp>
        <p:nvSpPr>
          <p:cNvPr id="27" name="Text 25"/>
          <p:cNvSpPr/>
          <p:nvPr/>
        </p:nvSpPr>
        <p:spPr>
          <a:xfrm>
            <a:off x="10418064" y="2980944"/>
            <a:ext cx="902208" cy="530352"/>
          </a:xfrm>
          <a:prstGeom prst="rect">
            <a:avLst/>
          </a:prstGeom>
          <a:noFill/>
          <a:ln/>
        </p:spPr>
        <p:txBody>
          <a:bodyPr wrap="square" lIns="0" tIns="0" rIns="0" bIns="0" rtlCol="0" anchor="ctr">
            <a:normAutofit/>
          </a:bodyPr>
          <a:lstStyle/>
          <a:p>
            <a:pPr algn="ctr" indent="0" marL="0">
              <a:lnSpc>
                <a:spcPct val="104000"/>
              </a:lnSpc>
              <a:buNone/>
            </a:pPr>
            <a:r>
              <a:rPr lang="en-US" sz="1150" b="1" dirty="0">
                <a:solidFill>
                  <a:srgbClr val="FFFFFF"/>
                </a:solidFill>
                <a:latin typeface="PingFang SC" pitchFamily="34" charset="0"/>
                <a:ea typeface="PingFang SC" pitchFamily="34" charset="-122"/>
                <a:cs typeface="PingFang SC" pitchFamily="34" charset="-120"/>
              </a:rPr>
              <a:t>相同编码</a:t>
            </a:r>
            <a:endParaRPr lang="en-US" sz="1150" dirty="0"/>
          </a:p>
        </p:txBody>
      </p:sp>
      <p:sp>
        <p:nvSpPr>
          <p:cNvPr id="28" name="Shape 26"/>
          <p:cNvSpPr/>
          <p:nvPr/>
        </p:nvSpPr>
        <p:spPr>
          <a:xfrm>
            <a:off x="7735824" y="3858768"/>
            <a:ext cx="3694176" cy="1078992"/>
          </a:xfrm>
          <a:prstGeom prst="rect">
            <a:avLst/>
          </a:prstGeom>
          <a:solidFill>
            <a:srgbClr val="EFF7DF"/>
          </a:solidFill>
          <a:ln w="12700">
            <a:solidFill>
              <a:srgbClr val="EFF7DF"/>
            </a:solidFill>
            <a:prstDash val="solid"/>
          </a:ln>
        </p:spPr>
      </p:sp>
      <p:sp>
        <p:nvSpPr>
          <p:cNvPr id="29" name="Text 27"/>
          <p:cNvSpPr/>
          <p:nvPr/>
        </p:nvSpPr>
        <p:spPr>
          <a:xfrm>
            <a:off x="7955280" y="4041648"/>
            <a:ext cx="3255264" cy="219456"/>
          </a:xfrm>
          <a:prstGeom prst="rect">
            <a:avLst/>
          </a:prstGeom>
          <a:noFill/>
          <a:ln/>
        </p:spPr>
        <p:txBody>
          <a:bodyPr wrap="square" lIns="0" tIns="0" rIns="0" bIns="0" rtlCol="0" anchor="t">
            <a:normAutofit/>
          </a:bodyPr>
          <a:lstStyle/>
          <a:p>
            <a:pPr algn="ctr" indent="0" marL="0">
              <a:lnSpc>
                <a:spcPct val="104000"/>
              </a:lnSpc>
              <a:buNone/>
            </a:pPr>
            <a:r>
              <a:rPr lang="en-US" sz="1420" b="1" dirty="0">
                <a:solidFill>
                  <a:srgbClr val="4F7F00"/>
                </a:solidFill>
                <a:latin typeface="PingFang SC" pitchFamily="34" charset="0"/>
                <a:ea typeface="PingFang SC" pitchFamily="34" charset="-122"/>
                <a:cs typeface="PingFang SC" pitchFamily="34" charset="-120"/>
              </a:rPr>
              <a:t>为何能证明一致？</a:t>
            </a:r>
            <a:endParaRPr lang="en-US" sz="1420" dirty="0"/>
          </a:p>
        </p:txBody>
      </p:sp>
      <p:sp>
        <p:nvSpPr>
          <p:cNvPr id="30" name="Text 28"/>
          <p:cNvSpPr/>
          <p:nvPr/>
        </p:nvSpPr>
        <p:spPr>
          <a:xfrm>
            <a:off x="7991856" y="4370832"/>
            <a:ext cx="3182112" cy="384048"/>
          </a:xfrm>
          <a:prstGeom prst="rect">
            <a:avLst/>
          </a:prstGeom>
          <a:noFill/>
          <a:ln/>
        </p:spPr>
        <p:txBody>
          <a:bodyPr wrap="square" lIns="0" tIns="0" rIns="0" bIns="0" rtlCol="0" anchor="t">
            <a:normAutofit/>
          </a:bodyPr>
          <a:lstStyle/>
          <a:p>
            <a:pPr algn="ctr" indent="0" marL="0">
              <a:lnSpc>
                <a:spcPct val="104000"/>
              </a:lnSpc>
              <a:buNone/>
            </a:pPr>
            <a:r>
              <a:rPr lang="en-US" sz="1170" b="1" dirty="0">
                <a:solidFill>
                  <a:srgbClr val="102A43"/>
                </a:solidFill>
                <a:latin typeface="PingFang SC" pitchFamily="34" charset="0"/>
                <a:ea typeface="PingFang SC" pitchFamily="34" charset="-122"/>
                <a:cs typeface="PingFang SC" pitchFamily="34" charset="-120"/>
              </a:rPr>
              <a:t>两边都用 Compose 映射维度；同一合法输入编码为同一 Name / vertex / fragment。</a:t>
            </a:r>
            <a:endParaRPr lang="en-US" sz="1170" dirty="0"/>
          </a:p>
        </p:txBody>
      </p:sp>
      <p:sp>
        <p:nvSpPr>
          <p:cNvPr id="31" name="Shape 29"/>
          <p:cNvSpPr/>
          <p:nvPr/>
        </p:nvSpPr>
        <p:spPr>
          <a:xfrm>
            <a:off x="1170432" y="5358384"/>
            <a:ext cx="9857232" cy="310896"/>
          </a:xfrm>
          <a:prstGeom prst="rect">
            <a:avLst/>
          </a:prstGeom>
          <a:solidFill>
            <a:srgbClr val="F4F7F9"/>
          </a:solidFill>
          <a:ln w="12700">
            <a:solidFill>
              <a:srgbClr val="F4F7F9"/>
            </a:solidFill>
            <a:prstDash val="solid"/>
          </a:ln>
        </p:spPr>
      </p:sp>
      <p:sp>
        <p:nvSpPr>
          <p:cNvPr id="32" name="Text 30"/>
          <p:cNvSpPr/>
          <p:nvPr/>
        </p:nvSpPr>
        <p:spPr>
          <a:xfrm>
            <a:off x="1280160" y="5358384"/>
            <a:ext cx="9637776" cy="310896"/>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102A43"/>
                </a:solidFill>
                <a:latin typeface="PingFang SC" pitchFamily="34" charset="0"/>
                <a:ea typeface="PingFang SC" pitchFamily="34" charset="-122"/>
                <a:cs typeface="PingFang SC" pitchFamily="34" charset="-120"/>
              </a:rPr>
              <a:t>命中后 → 加载 stages → 绑定纹理 / uniform → 创建或复用 Pipeline → Draw</a:t>
            </a:r>
            <a:endParaRPr lang="en-US" sz="1220" dirty="0"/>
          </a:p>
        </p:txBody>
      </p:sp>
      <p:sp>
        <p:nvSpPr>
          <p:cNvPr id="33" name="Shape 31"/>
          <p:cNvSpPr/>
          <p:nvPr/>
        </p:nvSpPr>
        <p:spPr>
          <a:xfrm>
            <a:off x="658368" y="5742432"/>
            <a:ext cx="10874959" cy="438912"/>
          </a:xfrm>
          <a:prstGeom prst="rect">
            <a:avLst/>
          </a:prstGeom>
          <a:solidFill>
            <a:srgbClr val="EFF7DF"/>
          </a:solidFill>
          <a:ln w="12700">
            <a:solidFill>
              <a:srgbClr val="EFF7DF"/>
            </a:solidFill>
            <a:prstDash val="solid"/>
          </a:ln>
        </p:spPr>
      </p:sp>
      <p:sp>
        <p:nvSpPr>
          <p:cNvPr id="34" name="Text 32"/>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同一 Compose 规则同时定义“构建什么”和“运行时选什么”。</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15 · FINITE INTERFACE OPEN TREE</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200" b="1" dirty="0">
                <a:solidFill>
                  <a:srgbClr val="102A43"/>
                </a:solidFill>
                <a:latin typeface="PingFang SC" pitchFamily="34" charset="0"/>
                <a:ea typeface="PingFang SC" pitchFamily="34" charset="-122"/>
                <a:cs typeface="PingFang SC" pitchFamily="34" charset="-120"/>
              </a:rPr>
              <a:t>有限 Variant 不能枚举任意效果树</a:t>
            </a:r>
            <a:endParaRPr lang="en-US" sz="32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15</a:t>
            </a:r>
            <a:endParaRPr lang="en-US" sz="1000" dirty="0"/>
          </a:p>
        </p:txBody>
      </p:sp>
      <p:sp>
        <p:nvSpPr>
          <p:cNvPr id="7" name="Shape 5"/>
          <p:cNvSpPr/>
          <p:nvPr/>
        </p:nvSpPr>
        <p:spPr>
          <a:xfrm>
            <a:off x="694944" y="1444752"/>
            <a:ext cx="6437376" cy="1773936"/>
          </a:xfrm>
          <a:prstGeom prst="rect">
            <a:avLst/>
          </a:prstGeom>
          <a:solidFill>
            <a:srgbClr val="102A43"/>
          </a:solidFill>
          <a:ln w="12700">
            <a:solidFill>
              <a:srgbClr val="102A43"/>
            </a:solidFill>
            <a:prstDash val="solid"/>
          </a:ln>
        </p:spPr>
      </p:sp>
      <p:sp>
        <p:nvSpPr>
          <p:cNvPr id="8" name="Text 6"/>
          <p:cNvSpPr/>
          <p:nvPr/>
        </p:nvSpPr>
        <p:spPr>
          <a:xfrm>
            <a:off x="896112" y="1591056"/>
            <a:ext cx="603504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76B900"/>
                </a:solidFill>
                <a:latin typeface="SF Mono" pitchFamily="34" charset="0"/>
                <a:ea typeface="SF Mono" pitchFamily="34" charset="-122"/>
                <a:cs typeface="SF Mono" pitchFamily="34" charset="-120"/>
              </a:rPr>
              <a:t>PUBLIC API · REDUCED</a:t>
            </a:r>
            <a:endParaRPr lang="en-US" sz="1050" dirty="0"/>
          </a:p>
        </p:txBody>
      </p:sp>
      <p:sp>
        <p:nvSpPr>
          <p:cNvPr id="9" name="Text 7"/>
          <p:cNvSpPr/>
          <p:nvPr/>
        </p:nvSpPr>
        <p:spPr>
          <a:xfrm>
            <a:off x="896112" y="1883664"/>
            <a:ext cx="6035040" cy="1188720"/>
          </a:xfrm>
          <a:prstGeom prst="rect">
            <a:avLst/>
          </a:prstGeom>
          <a:noFill/>
          <a:ln/>
        </p:spPr>
        <p:txBody>
          <a:bodyPr wrap="square" lIns="0" tIns="0" rIns="0" bIns="0" rtlCol="0" anchor="t">
            <a:normAutofit/>
          </a:bodyPr>
          <a:lstStyle/>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auto filtered = shaderA-&gt;makeWithColorFilter(matrix);</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auto nested = Shader::MakeBlend(</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    mode, filtered,</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    Shader::MakeBlend(mode, shaderB, shaderC));</a:t>
            </a:r>
            <a:endParaRPr lang="en-US" sz="1300" dirty="0"/>
          </a:p>
          <a:p>
            <a:pPr algn="l" indent="0" marL="0">
              <a:lnSpc>
                <a:spcPct val="100000"/>
              </a:lnSpc>
              <a:buNone/>
            </a:pPr>
            <a:r>
              <a:rPr lang="en-US" sz="1300" dirty="0">
                <a:solidFill>
                  <a:srgbClr val="EEF4F7"/>
                </a:solidFill>
                <a:latin typeface="SF Mono" pitchFamily="34" charset="0"/>
                <a:ea typeface="SF Mono" pitchFamily="34" charset="-122"/>
                <a:cs typeface="SF Mono" pitchFamily="34" charset="-120"/>
              </a:rPr>
              <a:t>// nested can be wrapped by another MakeBlend(...).</a:t>
            </a:r>
            <a:endParaRPr lang="en-US" sz="1300" dirty="0"/>
          </a:p>
        </p:txBody>
      </p:sp>
      <p:sp>
        <p:nvSpPr>
          <p:cNvPr id="10" name="Text 8"/>
          <p:cNvSpPr/>
          <p:nvPr/>
        </p:nvSpPr>
        <p:spPr>
          <a:xfrm>
            <a:off x="7607808" y="1463040"/>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008C8C"/>
                </a:solidFill>
                <a:latin typeface="SF Mono" pitchFamily="34" charset="0"/>
                <a:ea typeface="SF Mono" pitchFamily="34" charset="-122"/>
                <a:cs typeface="SF Mono" pitchFamily="34" charset="-120"/>
              </a:rPr>
              <a:t>TREE MATCHING THE CODE</a:t>
            </a:r>
            <a:endParaRPr lang="en-US" sz="1100" dirty="0"/>
          </a:p>
        </p:txBody>
      </p:sp>
      <p:sp>
        <p:nvSpPr>
          <p:cNvPr id="11" name="Shape 9"/>
          <p:cNvSpPr/>
          <p:nvPr/>
        </p:nvSpPr>
        <p:spPr>
          <a:xfrm>
            <a:off x="9454896" y="1773936"/>
            <a:ext cx="1024128" cy="384048"/>
          </a:xfrm>
          <a:prstGeom prst="rect">
            <a:avLst/>
          </a:prstGeom>
          <a:solidFill>
            <a:srgbClr val="FBECE9"/>
          </a:solidFill>
          <a:ln w="12700">
            <a:solidFill>
              <a:srgbClr val="FBECE9"/>
            </a:solidFill>
            <a:prstDash val="solid"/>
          </a:ln>
        </p:spPr>
      </p:sp>
      <p:sp>
        <p:nvSpPr>
          <p:cNvPr id="12" name="Text 10"/>
          <p:cNvSpPr/>
          <p:nvPr/>
        </p:nvSpPr>
        <p:spPr>
          <a:xfrm>
            <a:off x="9564624" y="1773936"/>
            <a:ext cx="804672" cy="384048"/>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D95D4F"/>
                </a:solidFill>
                <a:latin typeface="SF Mono" pitchFamily="34" charset="0"/>
                <a:ea typeface="SF Mono" pitchFamily="34" charset="-122"/>
                <a:cs typeface="SF Mono" pitchFamily="34" charset="-120"/>
              </a:rPr>
              <a:t>Blend</a:t>
            </a:r>
            <a:endParaRPr lang="en-US" sz="1250" dirty="0"/>
          </a:p>
        </p:txBody>
      </p:sp>
      <p:sp>
        <p:nvSpPr>
          <p:cNvPr id="13" name="Shape 11"/>
          <p:cNvSpPr/>
          <p:nvPr/>
        </p:nvSpPr>
        <p:spPr>
          <a:xfrm>
            <a:off x="7772400" y="2578608"/>
            <a:ext cx="1389888" cy="438912"/>
          </a:xfrm>
          <a:prstGeom prst="rect">
            <a:avLst/>
          </a:prstGeom>
          <a:solidFill>
            <a:srgbClr val="E6F4F3"/>
          </a:solidFill>
          <a:ln w="12700">
            <a:solidFill>
              <a:srgbClr val="E6F4F3"/>
            </a:solidFill>
            <a:prstDash val="solid"/>
          </a:ln>
        </p:spPr>
      </p:sp>
      <p:sp>
        <p:nvSpPr>
          <p:cNvPr id="14" name="Text 12"/>
          <p:cNvSpPr/>
          <p:nvPr/>
        </p:nvSpPr>
        <p:spPr>
          <a:xfrm>
            <a:off x="7882128" y="2578608"/>
            <a:ext cx="1170432" cy="438912"/>
          </a:xfrm>
          <a:prstGeom prst="rect">
            <a:avLst/>
          </a:prstGeom>
          <a:noFill/>
          <a:ln/>
        </p:spPr>
        <p:txBody>
          <a:bodyPr wrap="square" lIns="0" tIns="0" rIns="0" bIns="0" rtlCol="0" anchor="ctr">
            <a:normAutofit/>
          </a:bodyPr>
          <a:lstStyle/>
          <a:p>
            <a:pPr algn="ctr" indent="0" marL="0">
              <a:lnSpc>
                <a:spcPct val="104000"/>
              </a:lnSpc>
              <a:buNone/>
            </a:pPr>
            <a:r>
              <a:rPr lang="en-US" sz="1050" b="1" dirty="0">
                <a:solidFill>
                  <a:srgbClr val="008C8C"/>
                </a:solidFill>
                <a:latin typeface="SF Mono" pitchFamily="34" charset="0"/>
                <a:ea typeface="SF Mono" pitchFamily="34" charset="-122"/>
                <a:cs typeface="SF Mono" pitchFamily="34" charset="-120"/>
              </a:rPr>
              <a:t>Filtered / Matrix</a:t>
            </a:r>
            <a:endParaRPr lang="en-US" sz="1050" dirty="0"/>
          </a:p>
        </p:txBody>
      </p:sp>
      <p:sp>
        <p:nvSpPr>
          <p:cNvPr id="15" name="Shape 13"/>
          <p:cNvSpPr/>
          <p:nvPr/>
        </p:nvSpPr>
        <p:spPr>
          <a:xfrm>
            <a:off x="10771632" y="2578608"/>
            <a:ext cx="877824" cy="438912"/>
          </a:xfrm>
          <a:prstGeom prst="rect">
            <a:avLst/>
          </a:prstGeom>
          <a:solidFill>
            <a:srgbClr val="EFF7DF"/>
          </a:solidFill>
          <a:ln w="12700">
            <a:solidFill>
              <a:srgbClr val="EFF7DF"/>
            </a:solidFill>
            <a:prstDash val="solid"/>
          </a:ln>
        </p:spPr>
      </p:sp>
      <p:sp>
        <p:nvSpPr>
          <p:cNvPr id="16" name="Text 14"/>
          <p:cNvSpPr/>
          <p:nvPr/>
        </p:nvSpPr>
        <p:spPr>
          <a:xfrm>
            <a:off x="10881360" y="2578608"/>
            <a:ext cx="658368" cy="438912"/>
          </a:xfrm>
          <a:prstGeom prst="rect">
            <a:avLst/>
          </a:prstGeom>
          <a:noFill/>
          <a:ln/>
        </p:spPr>
        <p:txBody>
          <a:bodyPr wrap="square" lIns="0" tIns="0" rIns="0" bIns="0" rtlCol="0" anchor="ctr">
            <a:normAutofit/>
          </a:bodyPr>
          <a:lstStyle/>
          <a:p>
            <a:pPr algn="ctr" indent="0" marL="0">
              <a:lnSpc>
                <a:spcPct val="104000"/>
              </a:lnSpc>
              <a:buNone/>
            </a:pPr>
            <a:r>
              <a:rPr lang="en-US" sz="1150" b="1" dirty="0">
                <a:solidFill>
                  <a:srgbClr val="4F7F00"/>
                </a:solidFill>
                <a:latin typeface="SF Mono" pitchFamily="34" charset="0"/>
                <a:ea typeface="SF Mono" pitchFamily="34" charset="-122"/>
                <a:cs typeface="SF Mono" pitchFamily="34" charset="-120"/>
              </a:rPr>
              <a:t>Blend</a:t>
            </a:r>
            <a:endParaRPr lang="en-US" sz="1150" dirty="0"/>
          </a:p>
        </p:txBody>
      </p:sp>
      <p:sp>
        <p:nvSpPr>
          <p:cNvPr id="17" name="Shape 15"/>
          <p:cNvSpPr/>
          <p:nvPr/>
        </p:nvSpPr>
        <p:spPr>
          <a:xfrm>
            <a:off x="7936992" y="3364992"/>
            <a:ext cx="1060704" cy="384048"/>
          </a:xfrm>
          <a:prstGeom prst="rect">
            <a:avLst/>
          </a:prstGeom>
          <a:solidFill>
            <a:srgbClr val="F4F7F9"/>
          </a:solidFill>
          <a:ln w="12700">
            <a:solidFill>
              <a:srgbClr val="F4F7F9"/>
            </a:solidFill>
            <a:prstDash val="solid"/>
          </a:ln>
        </p:spPr>
      </p:sp>
      <p:sp>
        <p:nvSpPr>
          <p:cNvPr id="18" name="Text 16"/>
          <p:cNvSpPr/>
          <p:nvPr/>
        </p:nvSpPr>
        <p:spPr>
          <a:xfrm>
            <a:off x="8046720" y="3364992"/>
            <a:ext cx="841248" cy="384048"/>
          </a:xfrm>
          <a:prstGeom prst="rect">
            <a:avLst/>
          </a:prstGeom>
          <a:noFill/>
          <a:ln/>
        </p:spPr>
        <p:txBody>
          <a:bodyPr wrap="square" lIns="0" tIns="0" rIns="0" bIns="0" rtlCol="0" anchor="ctr">
            <a:normAutofit/>
          </a:bodyPr>
          <a:lstStyle/>
          <a:p>
            <a:pPr algn="ctr" indent="0" marL="0">
              <a:lnSpc>
                <a:spcPct val="104000"/>
              </a:lnSpc>
              <a:buNone/>
            </a:pPr>
            <a:r>
              <a:rPr lang="en-US" sz="1080" b="1" dirty="0">
                <a:solidFill>
                  <a:srgbClr val="102A43"/>
                </a:solidFill>
                <a:latin typeface="SF Mono" pitchFamily="34" charset="0"/>
                <a:ea typeface="SF Mono" pitchFamily="34" charset="-122"/>
                <a:cs typeface="SF Mono" pitchFamily="34" charset="-120"/>
              </a:rPr>
              <a:t>Image A</a:t>
            </a:r>
            <a:endParaRPr lang="en-US" sz="1080" dirty="0"/>
          </a:p>
        </p:txBody>
      </p:sp>
      <p:sp>
        <p:nvSpPr>
          <p:cNvPr id="19" name="Shape 17"/>
          <p:cNvSpPr/>
          <p:nvPr/>
        </p:nvSpPr>
        <p:spPr>
          <a:xfrm>
            <a:off x="9966960" y="3364992"/>
            <a:ext cx="932688" cy="384048"/>
          </a:xfrm>
          <a:prstGeom prst="rect">
            <a:avLst/>
          </a:prstGeom>
          <a:solidFill>
            <a:srgbClr val="F4F7F9"/>
          </a:solidFill>
          <a:ln w="12700">
            <a:solidFill>
              <a:srgbClr val="F4F7F9"/>
            </a:solidFill>
            <a:prstDash val="solid"/>
          </a:ln>
        </p:spPr>
      </p:sp>
      <p:sp>
        <p:nvSpPr>
          <p:cNvPr id="20" name="Text 18"/>
          <p:cNvSpPr/>
          <p:nvPr/>
        </p:nvSpPr>
        <p:spPr>
          <a:xfrm>
            <a:off x="10076688" y="3364992"/>
            <a:ext cx="713232" cy="384048"/>
          </a:xfrm>
          <a:prstGeom prst="rect">
            <a:avLst/>
          </a:prstGeom>
          <a:noFill/>
          <a:ln/>
        </p:spPr>
        <p:txBody>
          <a:bodyPr wrap="square" lIns="0" tIns="0" rIns="0" bIns="0" rtlCol="0" anchor="ctr">
            <a:normAutofit/>
          </a:bodyPr>
          <a:lstStyle/>
          <a:p>
            <a:pPr algn="ctr" indent="0" marL="0">
              <a:lnSpc>
                <a:spcPct val="104000"/>
              </a:lnSpc>
              <a:buNone/>
            </a:pPr>
            <a:r>
              <a:rPr lang="en-US" sz="1020" b="1" dirty="0">
                <a:solidFill>
                  <a:srgbClr val="102A43"/>
                </a:solidFill>
                <a:latin typeface="SF Mono" pitchFamily="34" charset="0"/>
                <a:ea typeface="SF Mono" pitchFamily="34" charset="-122"/>
                <a:cs typeface="SF Mono" pitchFamily="34" charset="-120"/>
              </a:rPr>
              <a:t>Image B</a:t>
            </a:r>
            <a:endParaRPr lang="en-US" sz="1020" dirty="0"/>
          </a:p>
        </p:txBody>
      </p:sp>
      <p:sp>
        <p:nvSpPr>
          <p:cNvPr id="21" name="Shape 19"/>
          <p:cNvSpPr/>
          <p:nvPr/>
        </p:nvSpPr>
        <p:spPr>
          <a:xfrm>
            <a:off x="11082528" y="3364992"/>
            <a:ext cx="932688" cy="384048"/>
          </a:xfrm>
          <a:prstGeom prst="rect">
            <a:avLst/>
          </a:prstGeom>
          <a:solidFill>
            <a:srgbClr val="F4F7F9"/>
          </a:solidFill>
          <a:ln w="12700">
            <a:solidFill>
              <a:srgbClr val="F4F7F9"/>
            </a:solidFill>
            <a:prstDash val="solid"/>
          </a:ln>
        </p:spPr>
      </p:sp>
      <p:sp>
        <p:nvSpPr>
          <p:cNvPr id="22" name="Text 20"/>
          <p:cNvSpPr/>
          <p:nvPr/>
        </p:nvSpPr>
        <p:spPr>
          <a:xfrm>
            <a:off x="11192256" y="3364992"/>
            <a:ext cx="713232" cy="384048"/>
          </a:xfrm>
          <a:prstGeom prst="rect">
            <a:avLst/>
          </a:prstGeom>
          <a:noFill/>
          <a:ln/>
        </p:spPr>
        <p:txBody>
          <a:bodyPr wrap="square" lIns="0" tIns="0" rIns="0" bIns="0" rtlCol="0" anchor="ctr">
            <a:normAutofit/>
          </a:bodyPr>
          <a:lstStyle/>
          <a:p>
            <a:pPr algn="ctr" indent="0" marL="0">
              <a:lnSpc>
                <a:spcPct val="104000"/>
              </a:lnSpc>
              <a:buNone/>
            </a:pPr>
            <a:r>
              <a:rPr lang="en-US" sz="1020" b="1" dirty="0">
                <a:solidFill>
                  <a:srgbClr val="102A43"/>
                </a:solidFill>
                <a:latin typeface="SF Mono" pitchFamily="34" charset="0"/>
                <a:ea typeface="SF Mono" pitchFamily="34" charset="-122"/>
                <a:cs typeface="SF Mono" pitchFamily="34" charset="-120"/>
              </a:rPr>
              <a:t>Image C</a:t>
            </a:r>
            <a:endParaRPr lang="en-US" sz="1020" dirty="0"/>
          </a:p>
        </p:txBody>
      </p:sp>
      <p:sp>
        <p:nvSpPr>
          <p:cNvPr id="23" name="Shape 21"/>
          <p:cNvSpPr/>
          <p:nvPr/>
        </p:nvSpPr>
        <p:spPr>
          <a:xfrm>
            <a:off x="8467344" y="2578608"/>
            <a:ext cx="1499616" cy="-420624"/>
          </a:xfrm>
          <a:prstGeom prst="line">
            <a:avLst/>
          </a:prstGeom>
          <a:noFill/>
          <a:ln w="17780">
            <a:solidFill>
              <a:srgbClr val="008C8C"/>
            </a:solidFill>
            <a:prstDash val="solid"/>
          </a:ln>
        </p:spPr>
      </p:sp>
      <p:sp>
        <p:nvSpPr>
          <p:cNvPr id="24" name="Shape 22"/>
          <p:cNvSpPr/>
          <p:nvPr/>
        </p:nvSpPr>
        <p:spPr>
          <a:xfrm>
            <a:off x="9966960" y="2157984"/>
            <a:ext cx="1243584" cy="420624"/>
          </a:xfrm>
          <a:prstGeom prst="line">
            <a:avLst/>
          </a:prstGeom>
          <a:noFill/>
          <a:ln w="17780">
            <a:solidFill>
              <a:srgbClr val="76B900"/>
            </a:solidFill>
            <a:prstDash val="solid"/>
          </a:ln>
        </p:spPr>
      </p:sp>
      <p:sp>
        <p:nvSpPr>
          <p:cNvPr id="25" name="Shape 23"/>
          <p:cNvSpPr/>
          <p:nvPr/>
        </p:nvSpPr>
        <p:spPr>
          <a:xfrm>
            <a:off x="8467344" y="3017520"/>
            <a:ext cx="0" cy="347472"/>
          </a:xfrm>
          <a:prstGeom prst="line">
            <a:avLst/>
          </a:prstGeom>
          <a:noFill/>
          <a:ln w="17780">
            <a:solidFill>
              <a:srgbClr val="008C8C"/>
            </a:solidFill>
            <a:prstDash val="solid"/>
          </a:ln>
        </p:spPr>
      </p:sp>
      <p:sp>
        <p:nvSpPr>
          <p:cNvPr id="26" name="Shape 24"/>
          <p:cNvSpPr/>
          <p:nvPr/>
        </p:nvSpPr>
        <p:spPr>
          <a:xfrm>
            <a:off x="10433304" y="3364992"/>
            <a:ext cx="777240" cy="-347472"/>
          </a:xfrm>
          <a:prstGeom prst="line">
            <a:avLst/>
          </a:prstGeom>
          <a:noFill/>
          <a:ln w="17780">
            <a:solidFill>
              <a:srgbClr val="76B900"/>
            </a:solidFill>
            <a:prstDash val="solid"/>
          </a:ln>
        </p:spPr>
      </p:sp>
      <p:sp>
        <p:nvSpPr>
          <p:cNvPr id="27" name="Shape 25"/>
          <p:cNvSpPr/>
          <p:nvPr/>
        </p:nvSpPr>
        <p:spPr>
          <a:xfrm>
            <a:off x="11210544" y="3017520"/>
            <a:ext cx="338328" cy="347472"/>
          </a:xfrm>
          <a:prstGeom prst="line">
            <a:avLst/>
          </a:prstGeom>
          <a:noFill/>
          <a:ln w="17780">
            <a:solidFill>
              <a:srgbClr val="76B900"/>
            </a:solidFill>
            <a:prstDash val="solid"/>
          </a:ln>
        </p:spPr>
      </p:sp>
      <p:sp>
        <p:nvSpPr>
          <p:cNvPr id="28" name="Shape 26"/>
          <p:cNvSpPr/>
          <p:nvPr/>
        </p:nvSpPr>
        <p:spPr>
          <a:xfrm>
            <a:off x="7973568" y="4041648"/>
            <a:ext cx="3547872" cy="384048"/>
          </a:xfrm>
          <a:prstGeom prst="rect">
            <a:avLst/>
          </a:prstGeom>
          <a:solidFill>
            <a:srgbClr val="FBECE9"/>
          </a:solidFill>
          <a:ln w="12700">
            <a:solidFill>
              <a:srgbClr val="FBECE9"/>
            </a:solidFill>
            <a:prstDash val="solid"/>
          </a:ln>
        </p:spPr>
      </p:sp>
      <p:sp>
        <p:nvSpPr>
          <p:cNvPr id="29" name="Text 27"/>
          <p:cNvSpPr/>
          <p:nvPr/>
        </p:nvSpPr>
        <p:spPr>
          <a:xfrm>
            <a:off x="8083296" y="4041648"/>
            <a:ext cx="3328416" cy="384048"/>
          </a:xfrm>
          <a:prstGeom prst="rect">
            <a:avLst/>
          </a:prstGeom>
          <a:noFill/>
          <a:ln/>
        </p:spPr>
        <p:txBody>
          <a:bodyPr wrap="square" lIns="0" tIns="0" rIns="0" bIns="0" rtlCol="0" anchor="ctr">
            <a:normAutofit/>
          </a:bodyPr>
          <a:lstStyle/>
          <a:p>
            <a:pPr algn="ctr" indent="0" marL="0">
              <a:lnSpc>
                <a:spcPct val="104000"/>
              </a:lnSpc>
              <a:buNone/>
            </a:pPr>
            <a:r>
              <a:rPr lang="en-US" sz="980" b="1" dirty="0">
                <a:solidFill>
                  <a:srgbClr val="D95D4F"/>
                </a:solidFill>
                <a:latin typeface="SF Mono" pitchFamily="34" charset="0"/>
                <a:ea typeface="SF Mono" pitchFamily="34" charset="-122"/>
                <a:cs typeface="SF Mono" pitchFamily="34" charset="-120"/>
              </a:rPr>
              <a:t>仍可继续包一层 MakeBlend(...) → 深度继续增长</a:t>
            </a:r>
            <a:endParaRPr lang="en-US" sz="980" dirty="0"/>
          </a:p>
        </p:txBody>
      </p:sp>
      <p:sp>
        <p:nvSpPr>
          <p:cNvPr id="30" name="Shape 28"/>
          <p:cNvSpPr/>
          <p:nvPr/>
        </p:nvSpPr>
        <p:spPr>
          <a:xfrm>
            <a:off x="694944" y="3529584"/>
            <a:ext cx="6437376" cy="1078992"/>
          </a:xfrm>
          <a:prstGeom prst="rect">
            <a:avLst/>
          </a:prstGeom>
          <a:solidFill>
            <a:srgbClr val="F4F7F9"/>
          </a:solidFill>
          <a:ln w="10160">
            <a:solidFill>
              <a:srgbClr val="D9E2EC"/>
            </a:solidFill>
            <a:prstDash val="solid"/>
          </a:ln>
        </p:spPr>
      </p:sp>
      <p:sp>
        <p:nvSpPr>
          <p:cNvPr id="31" name="Text 29"/>
          <p:cNvSpPr/>
          <p:nvPr/>
        </p:nvSpPr>
        <p:spPr>
          <a:xfrm>
            <a:off x="932688" y="3749040"/>
            <a:ext cx="2779776" cy="237744"/>
          </a:xfrm>
          <a:prstGeom prst="rect">
            <a:avLst/>
          </a:prstGeom>
          <a:noFill/>
          <a:ln/>
        </p:spPr>
        <p:txBody>
          <a:bodyPr wrap="square" lIns="0" tIns="0" rIns="0" bIns="0" rtlCol="0" anchor="t">
            <a:normAutofit/>
          </a:bodyPr>
          <a:lstStyle/>
          <a:p>
            <a:pPr algn="ctr" indent="0" marL="0">
              <a:lnSpc>
                <a:spcPct val="104000"/>
              </a:lnSpc>
              <a:buNone/>
            </a:pPr>
            <a:r>
              <a:rPr lang="en-US" sz="1400" b="1" dirty="0">
                <a:solidFill>
                  <a:srgbClr val="008C8C"/>
                </a:solidFill>
                <a:latin typeface="SF Mono" pitchFamily="34" charset="0"/>
                <a:ea typeface="SF Mono" pitchFamily="34" charset="-122"/>
                <a:cs typeface="SF Mono" pitchFamily="34" charset="-120"/>
              </a:rPr>
              <a:t>HAS_DEVICE_MASK × HAS_XP</a:t>
            </a:r>
            <a:endParaRPr lang="en-US" sz="1400" dirty="0"/>
          </a:p>
        </p:txBody>
      </p:sp>
      <p:sp>
        <p:nvSpPr>
          <p:cNvPr id="32" name="Text 30"/>
          <p:cNvSpPr/>
          <p:nvPr/>
        </p:nvSpPr>
        <p:spPr>
          <a:xfrm>
            <a:off x="932688" y="4133088"/>
            <a:ext cx="2779776" cy="219456"/>
          </a:xfrm>
          <a:prstGeom prst="rect">
            <a:avLst/>
          </a:prstGeom>
          <a:noFill/>
          <a:ln/>
        </p:spPr>
        <p:txBody>
          <a:bodyPr wrap="square" lIns="0" tIns="0" rIns="0" bIns="0" rtlCol="0" anchor="t">
            <a:normAutofit/>
          </a:bodyPr>
          <a:lstStyle/>
          <a:p>
            <a:pPr algn="ctr" indent="0" marL="0">
              <a:lnSpc>
                <a:spcPct val="104000"/>
              </a:lnSpc>
              <a:buNone/>
            </a:pPr>
            <a:r>
              <a:rPr lang="en-US" sz="1320" b="1" dirty="0">
                <a:solidFill>
                  <a:srgbClr val="102A43"/>
                </a:solidFill>
                <a:latin typeface="PingFang SC" pitchFamily="34" charset="0"/>
                <a:ea typeface="PingFang SC" pitchFamily="34" charset="-122"/>
                <a:cs typeface="PingFang SC" pitchFamily="34" charset="-120"/>
              </a:rPr>
              <a:t>有限接口取值</a:t>
            </a:r>
            <a:endParaRPr lang="en-US" sz="1320" dirty="0"/>
          </a:p>
        </p:txBody>
      </p:sp>
      <p:sp>
        <p:nvSpPr>
          <p:cNvPr id="33" name="Text 31"/>
          <p:cNvSpPr/>
          <p:nvPr/>
        </p:nvSpPr>
        <p:spPr>
          <a:xfrm>
            <a:off x="3895344" y="3749040"/>
            <a:ext cx="2944368" cy="237744"/>
          </a:xfrm>
          <a:prstGeom prst="rect">
            <a:avLst/>
          </a:prstGeom>
          <a:noFill/>
          <a:ln/>
        </p:spPr>
        <p:txBody>
          <a:bodyPr wrap="square" lIns="0" tIns="0" rIns="0" bIns="0" rtlCol="0" anchor="t">
            <a:normAutofit/>
          </a:bodyPr>
          <a:lstStyle/>
          <a:p>
            <a:pPr algn="ctr" indent="0" marL="0">
              <a:lnSpc>
                <a:spcPct val="104000"/>
              </a:lnSpc>
              <a:buNone/>
            </a:pPr>
            <a:r>
              <a:rPr lang="en-US" sz="1310" b="1" dirty="0">
                <a:solidFill>
                  <a:srgbClr val="D95D4F"/>
                </a:solidFill>
                <a:latin typeface="SF Mono" pitchFamily="34" charset="0"/>
                <a:ea typeface="SF Mono" pitchFamily="34" charset="-122"/>
                <a:cs typeface="SF Mono" pitchFamily="34" charset="-120"/>
              </a:rPr>
              <a:t>MakeBlend(... MakeBlend(...))</a:t>
            </a:r>
            <a:endParaRPr lang="en-US" sz="1310" dirty="0"/>
          </a:p>
        </p:txBody>
      </p:sp>
      <p:sp>
        <p:nvSpPr>
          <p:cNvPr id="34" name="Text 32"/>
          <p:cNvSpPr/>
          <p:nvPr/>
        </p:nvSpPr>
        <p:spPr>
          <a:xfrm>
            <a:off x="3895344" y="4133088"/>
            <a:ext cx="2944368" cy="219456"/>
          </a:xfrm>
          <a:prstGeom prst="rect">
            <a:avLst/>
          </a:prstGeom>
          <a:noFill/>
          <a:ln/>
        </p:spPr>
        <p:txBody>
          <a:bodyPr wrap="square" lIns="0" tIns="0" rIns="0" bIns="0" rtlCol="0" anchor="t">
            <a:normAutofit/>
          </a:bodyPr>
          <a:lstStyle/>
          <a:p>
            <a:pPr algn="ctr" indent="0" marL="0">
              <a:lnSpc>
                <a:spcPct val="104000"/>
              </a:lnSpc>
              <a:buNone/>
            </a:pPr>
            <a:r>
              <a:rPr lang="en-US" sz="1320" b="1" dirty="0">
                <a:solidFill>
                  <a:srgbClr val="102A43"/>
                </a:solidFill>
                <a:latin typeface="PingFang SC" pitchFamily="34" charset="0"/>
                <a:ea typeface="PingFang SC" pitchFamily="34" charset="-122"/>
                <a:cs typeface="PingFang SC" pitchFamily="34" charset="-120"/>
              </a:rPr>
              <a:t>嵌套深度没有固定上限</a:t>
            </a:r>
            <a:endParaRPr lang="en-US" sz="1320" dirty="0"/>
          </a:p>
        </p:txBody>
      </p:sp>
      <p:sp>
        <p:nvSpPr>
          <p:cNvPr id="35" name="Text 33"/>
          <p:cNvSpPr/>
          <p:nvPr/>
        </p:nvSpPr>
        <p:spPr>
          <a:xfrm>
            <a:off x="822960" y="4956048"/>
            <a:ext cx="10625328" cy="384048"/>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627D98"/>
                </a:solidFill>
                <a:latin typeface="PingFang SC" pitchFamily="34" charset="0"/>
                <a:ea typeface="PingFang SC" pitchFamily="34" charset="-122"/>
                <a:cs typeface="PingFang SC" pitchFamily="34" charset="-120"/>
              </a:rPr>
              <a:t>错误方向：每棵树一个版本会组合增长；无限扩容单 Shader 会撞资源与性能边界；拒绝合法树会收窄公开 API。</a:t>
            </a:r>
            <a:endParaRPr lang="en-US" sz="1220" dirty="0"/>
          </a:p>
        </p:txBody>
      </p:sp>
      <p:sp>
        <p:nvSpPr>
          <p:cNvPr id="36" name="Shape 34"/>
          <p:cNvSpPr/>
          <p:nvPr/>
        </p:nvSpPr>
        <p:spPr>
          <a:xfrm>
            <a:off x="658368" y="5742432"/>
            <a:ext cx="10874959" cy="438912"/>
          </a:xfrm>
          <a:prstGeom prst="rect">
            <a:avLst/>
          </a:prstGeom>
          <a:solidFill>
            <a:srgbClr val="EFF7DF"/>
          </a:solidFill>
          <a:ln w="12700">
            <a:solidFill>
              <a:srgbClr val="EFF7DF"/>
            </a:solidFill>
            <a:prstDash val="solid"/>
          </a:ln>
        </p:spPr>
      </p:sp>
      <p:sp>
        <p:nvSpPr>
          <p:cNvPr id="37" name="Text 35"/>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单个预编译 Shader 不能表达时，先判断能否拆成多个可表达 Pass，不按固定数量判断。</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16 · SEMANTICS-PRESERVING MULTI-PASS</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000" b="1" dirty="0">
                <a:solidFill>
                  <a:srgbClr val="102A43"/>
                </a:solidFill>
                <a:latin typeface="PingFang SC" pitchFamily="34" charset="0"/>
                <a:ea typeface="PingFang SC" pitchFamily="34" charset="-122"/>
                <a:cs typeface="PingFang SC" pitchFamily="34" charset="-120"/>
              </a:rPr>
              <a:t>只有能保持语义的结构，才拆成多个预编译 Pass</a:t>
            </a:r>
            <a:endParaRPr lang="en-US" sz="30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16</a:t>
            </a:r>
            <a:endParaRPr lang="en-US" sz="1000" dirty="0"/>
          </a:p>
        </p:txBody>
      </p:sp>
      <p:sp>
        <p:nvSpPr>
          <p:cNvPr id="7" name="Text 5"/>
          <p:cNvSpPr/>
          <p:nvPr/>
        </p:nvSpPr>
        <p:spPr>
          <a:xfrm>
            <a:off x="768096" y="1517904"/>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008C8C"/>
                </a:solidFill>
                <a:latin typeface="SF Mono" pitchFamily="34" charset="0"/>
                <a:ea typeface="SF Mono" pitchFamily="34" charset="-122"/>
                <a:cs typeface="SF Mono" pitchFamily="34" charset="-120"/>
              </a:rPr>
              <a:t>ORIGINAL · 线性同像素链</a:t>
            </a:r>
            <a:endParaRPr lang="en-US" sz="1100" dirty="0"/>
          </a:p>
        </p:txBody>
      </p:sp>
      <p:sp>
        <p:nvSpPr>
          <p:cNvPr id="8" name="Shape 6"/>
          <p:cNvSpPr/>
          <p:nvPr/>
        </p:nvSpPr>
        <p:spPr>
          <a:xfrm>
            <a:off x="1060704" y="1828800"/>
            <a:ext cx="1810512" cy="585216"/>
          </a:xfrm>
          <a:prstGeom prst="rect">
            <a:avLst/>
          </a:prstGeom>
          <a:solidFill>
            <a:srgbClr val="E6F4F3"/>
          </a:solidFill>
          <a:ln w="12700">
            <a:solidFill>
              <a:srgbClr val="E6F4F3"/>
            </a:solidFill>
            <a:prstDash val="solid"/>
          </a:ln>
        </p:spPr>
      </p:sp>
      <p:sp>
        <p:nvSpPr>
          <p:cNvPr id="9" name="Text 7"/>
          <p:cNvSpPr/>
          <p:nvPr/>
        </p:nvSpPr>
        <p:spPr>
          <a:xfrm>
            <a:off x="1170432" y="1828800"/>
            <a:ext cx="1591056"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008C8C"/>
                </a:solidFill>
                <a:latin typeface="PingFang SC" pitchFamily="34" charset="0"/>
                <a:ea typeface="PingFang SC" pitchFamily="34" charset="-122"/>
                <a:cs typeface="PingFang SC" pitchFamily="34" charset="-120"/>
              </a:rPr>
              <a:t>Image</a:t>
            </a:r>
            <a:endParaRPr lang="en-US" sz="1500" dirty="0"/>
          </a:p>
        </p:txBody>
      </p:sp>
      <p:sp>
        <p:nvSpPr>
          <p:cNvPr id="10" name="Shape 8"/>
          <p:cNvSpPr/>
          <p:nvPr/>
        </p:nvSpPr>
        <p:spPr>
          <a:xfrm>
            <a:off x="2907792" y="2121408"/>
            <a:ext cx="182880" cy="0"/>
          </a:xfrm>
          <a:prstGeom prst="line">
            <a:avLst/>
          </a:prstGeom>
          <a:noFill/>
          <a:ln w="22860">
            <a:solidFill>
              <a:srgbClr val="008C8C"/>
            </a:solidFill>
            <a:prstDash val="solid"/>
            <a:tailEnd type="triangle"/>
          </a:ln>
        </p:spPr>
      </p:sp>
      <p:sp>
        <p:nvSpPr>
          <p:cNvPr id="11" name="Shape 9"/>
          <p:cNvSpPr/>
          <p:nvPr/>
        </p:nvSpPr>
        <p:spPr>
          <a:xfrm>
            <a:off x="3127248" y="1828800"/>
            <a:ext cx="1810512" cy="585216"/>
          </a:xfrm>
          <a:prstGeom prst="rect">
            <a:avLst/>
          </a:prstGeom>
          <a:solidFill>
            <a:srgbClr val="F4F7F9"/>
          </a:solidFill>
          <a:ln w="12700">
            <a:solidFill>
              <a:srgbClr val="F4F7F9"/>
            </a:solidFill>
            <a:prstDash val="solid"/>
          </a:ln>
        </p:spPr>
      </p:sp>
      <p:sp>
        <p:nvSpPr>
          <p:cNvPr id="12" name="Text 10"/>
          <p:cNvSpPr/>
          <p:nvPr/>
        </p:nvSpPr>
        <p:spPr>
          <a:xfrm>
            <a:off x="3236976" y="1828800"/>
            <a:ext cx="1591056"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102A43"/>
                </a:solidFill>
                <a:latin typeface="PingFang SC" pitchFamily="34" charset="0"/>
                <a:ea typeface="PingFang SC" pitchFamily="34" charset="-122"/>
                <a:cs typeface="PingFang SC" pitchFamily="34" charset="-120"/>
              </a:rPr>
              <a:t>Matrix</a:t>
            </a:r>
            <a:endParaRPr lang="en-US" sz="1500" dirty="0"/>
          </a:p>
        </p:txBody>
      </p:sp>
      <p:sp>
        <p:nvSpPr>
          <p:cNvPr id="13" name="Shape 11"/>
          <p:cNvSpPr/>
          <p:nvPr/>
        </p:nvSpPr>
        <p:spPr>
          <a:xfrm>
            <a:off x="4974336" y="2121408"/>
            <a:ext cx="182880" cy="0"/>
          </a:xfrm>
          <a:prstGeom prst="line">
            <a:avLst/>
          </a:prstGeom>
          <a:noFill/>
          <a:ln w="22860">
            <a:solidFill>
              <a:srgbClr val="008C8C"/>
            </a:solidFill>
            <a:prstDash val="solid"/>
            <a:tailEnd type="triangle"/>
          </a:ln>
        </p:spPr>
      </p:sp>
      <p:sp>
        <p:nvSpPr>
          <p:cNvPr id="14" name="Shape 12"/>
          <p:cNvSpPr/>
          <p:nvPr/>
        </p:nvSpPr>
        <p:spPr>
          <a:xfrm>
            <a:off x="5193792" y="1828800"/>
            <a:ext cx="1810512" cy="585216"/>
          </a:xfrm>
          <a:prstGeom prst="rect">
            <a:avLst/>
          </a:prstGeom>
          <a:solidFill>
            <a:srgbClr val="F4F7F9"/>
          </a:solidFill>
          <a:ln w="12700">
            <a:solidFill>
              <a:srgbClr val="F4F7F9"/>
            </a:solidFill>
            <a:prstDash val="solid"/>
          </a:ln>
        </p:spPr>
      </p:sp>
      <p:sp>
        <p:nvSpPr>
          <p:cNvPr id="15" name="Text 13"/>
          <p:cNvSpPr/>
          <p:nvPr/>
        </p:nvSpPr>
        <p:spPr>
          <a:xfrm>
            <a:off x="5303520" y="1828800"/>
            <a:ext cx="1591056"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102A43"/>
                </a:solidFill>
                <a:latin typeface="PingFang SC" pitchFamily="34" charset="0"/>
                <a:ea typeface="PingFang SC" pitchFamily="34" charset="-122"/>
                <a:cs typeface="PingFang SC" pitchFamily="34" charset="-120"/>
              </a:rPr>
              <a:t>Luma</a:t>
            </a:r>
            <a:endParaRPr lang="en-US" sz="1500" dirty="0"/>
          </a:p>
        </p:txBody>
      </p:sp>
      <p:sp>
        <p:nvSpPr>
          <p:cNvPr id="16" name="Shape 14"/>
          <p:cNvSpPr/>
          <p:nvPr/>
        </p:nvSpPr>
        <p:spPr>
          <a:xfrm>
            <a:off x="7040880" y="2121408"/>
            <a:ext cx="182880" cy="0"/>
          </a:xfrm>
          <a:prstGeom prst="line">
            <a:avLst/>
          </a:prstGeom>
          <a:noFill/>
          <a:ln w="22860">
            <a:solidFill>
              <a:srgbClr val="008C8C"/>
            </a:solidFill>
            <a:prstDash val="solid"/>
            <a:tailEnd type="triangle"/>
          </a:ln>
        </p:spPr>
      </p:sp>
      <p:sp>
        <p:nvSpPr>
          <p:cNvPr id="17" name="Shape 15"/>
          <p:cNvSpPr/>
          <p:nvPr/>
        </p:nvSpPr>
        <p:spPr>
          <a:xfrm>
            <a:off x="7260336" y="1828800"/>
            <a:ext cx="1810512" cy="585216"/>
          </a:xfrm>
          <a:prstGeom prst="rect">
            <a:avLst/>
          </a:prstGeom>
          <a:solidFill>
            <a:srgbClr val="F4F7F9"/>
          </a:solidFill>
          <a:ln w="12700">
            <a:solidFill>
              <a:srgbClr val="F4F7F9"/>
            </a:solidFill>
            <a:prstDash val="solid"/>
          </a:ln>
        </p:spPr>
      </p:sp>
      <p:sp>
        <p:nvSpPr>
          <p:cNvPr id="18" name="Text 16"/>
          <p:cNvSpPr/>
          <p:nvPr/>
        </p:nvSpPr>
        <p:spPr>
          <a:xfrm>
            <a:off x="7370064" y="1828800"/>
            <a:ext cx="1591056"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102A43"/>
                </a:solidFill>
                <a:latin typeface="PingFang SC" pitchFamily="34" charset="0"/>
                <a:ea typeface="PingFang SC" pitchFamily="34" charset="-122"/>
                <a:cs typeface="PingFang SC" pitchFamily="34" charset="-120"/>
              </a:rPr>
              <a:t>Threshold</a:t>
            </a:r>
            <a:endParaRPr lang="en-US" sz="1500" dirty="0"/>
          </a:p>
        </p:txBody>
      </p:sp>
      <p:sp>
        <p:nvSpPr>
          <p:cNvPr id="19" name="Shape 17"/>
          <p:cNvSpPr/>
          <p:nvPr/>
        </p:nvSpPr>
        <p:spPr>
          <a:xfrm>
            <a:off x="9107424" y="2121408"/>
            <a:ext cx="182880" cy="0"/>
          </a:xfrm>
          <a:prstGeom prst="line">
            <a:avLst/>
          </a:prstGeom>
          <a:noFill/>
          <a:ln w="22860">
            <a:solidFill>
              <a:srgbClr val="008C8C"/>
            </a:solidFill>
            <a:prstDash val="solid"/>
            <a:tailEnd type="triangle"/>
          </a:ln>
        </p:spPr>
      </p:sp>
      <p:sp>
        <p:nvSpPr>
          <p:cNvPr id="20" name="Shape 18"/>
          <p:cNvSpPr/>
          <p:nvPr/>
        </p:nvSpPr>
        <p:spPr>
          <a:xfrm>
            <a:off x="9326880" y="1828800"/>
            <a:ext cx="1810512" cy="585216"/>
          </a:xfrm>
          <a:prstGeom prst="rect">
            <a:avLst/>
          </a:prstGeom>
          <a:solidFill>
            <a:srgbClr val="102A43"/>
          </a:solidFill>
          <a:ln w="12700">
            <a:solidFill>
              <a:srgbClr val="102A43"/>
            </a:solidFill>
            <a:prstDash val="solid"/>
          </a:ln>
        </p:spPr>
      </p:sp>
      <p:sp>
        <p:nvSpPr>
          <p:cNvPr id="21" name="Text 19"/>
          <p:cNvSpPr/>
          <p:nvPr/>
        </p:nvSpPr>
        <p:spPr>
          <a:xfrm>
            <a:off x="9436608" y="1828800"/>
            <a:ext cx="1591056"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FFFFFF"/>
                </a:solidFill>
                <a:latin typeface="PingFang SC" pitchFamily="34" charset="0"/>
                <a:ea typeface="PingFang SC" pitchFamily="34" charset="-122"/>
                <a:cs typeface="PingFang SC" pitchFamily="34" charset="-120"/>
              </a:rPr>
              <a:t>Target</a:t>
            </a:r>
            <a:endParaRPr lang="en-US" sz="1500" dirty="0"/>
          </a:p>
        </p:txBody>
      </p:sp>
      <p:sp>
        <p:nvSpPr>
          <p:cNvPr id="22" name="Text 20"/>
          <p:cNvSpPr/>
          <p:nvPr/>
        </p:nvSpPr>
        <p:spPr>
          <a:xfrm>
            <a:off x="768096" y="2706624"/>
            <a:ext cx="2194560" cy="201168"/>
          </a:xfrm>
          <a:prstGeom prst="rect">
            <a:avLst/>
          </a:prstGeom>
          <a:noFill/>
          <a:ln/>
        </p:spPr>
        <p:txBody>
          <a:bodyPr wrap="square" lIns="0" tIns="0" rIns="0" bIns="0" rtlCol="0" anchor="t">
            <a:normAutofit/>
          </a:bodyPr>
          <a:lstStyle/>
          <a:p>
            <a:pPr algn="l" indent="0" marL="0">
              <a:lnSpc>
                <a:spcPct val="104000"/>
              </a:lnSpc>
              <a:buNone/>
            </a:pPr>
            <a:r>
              <a:rPr lang="en-US" sz="1100" b="1" dirty="0">
                <a:solidFill>
                  <a:srgbClr val="4F7F00"/>
                </a:solidFill>
                <a:latin typeface="SF Mono" pitchFamily="34" charset="0"/>
                <a:ea typeface="SF Mono" pitchFamily="34" charset="-122"/>
                <a:cs typeface="SF Mono" pitchFamily="34" charset="-120"/>
              </a:rPr>
              <a:t>DECOMPOSED · 每个 Pass 仍命中预编译 permutation</a:t>
            </a:r>
            <a:endParaRPr lang="en-US" sz="1100" dirty="0"/>
          </a:p>
        </p:txBody>
      </p:sp>
      <p:sp>
        <p:nvSpPr>
          <p:cNvPr id="23" name="Shape 21"/>
          <p:cNvSpPr/>
          <p:nvPr/>
        </p:nvSpPr>
        <p:spPr>
          <a:xfrm>
            <a:off x="1060704" y="3054096"/>
            <a:ext cx="932688" cy="658368"/>
          </a:xfrm>
          <a:prstGeom prst="rect">
            <a:avLst/>
          </a:prstGeom>
          <a:solidFill>
            <a:srgbClr val="EFF7DF"/>
          </a:solidFill>
          <a:ln w="12700">
            <a:solidFill>
              <a:srgbClr val="EFF7DF"/>
            </a:solidFill>
            <a:prstDash val="solid"/>
          </a:ln>
        </p:spPr>
      </p:sp>
      <p:sp>
        <p:nvSpPr>
          <p:cNvPr id="24" name="Text 22"/>
          <p:cNvSpPr/>
          <p:nvPr/>
        </p:nvSpPr>
        <p:spPr>
          <a:xfrm>
            <a:off x="1170432" y="3054096"/>
            <a:ext cx="713232" cy="65836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4F7F00"/>
                </a:solidFill>
                <a:latin typeface="SF Mono" pitchFamily="34" charset="0"/>
                <a:ea typeface="SF Mono" pitchFamily="34" charset="-122"/>
                <a:cs typeface="SF Mono" pitchFamily="34" charset="-120"/>
              </a:rPr>
              <a:t>Pass 0</a:t>
            </a:r>
            <a:endParaRPr lang="en-US" sz="1300" dirty="0"/>
          </a:p>
        </p:txBody>
      </p:sp>
      <p:sp>
        <p:nvSpPr>
          <p:cNvPr id="25" name="Shape 23"/>
          <p:cNvSpPr/>
          <p:nvPr/>
        </p:nvSpPr>
        <p:spPr>
          <a:xfrm>
            <a:off x="2249424" y="3090672"/>
            <a:ext cx="1176528" cy="585216"/>
          </a:xfrm>
          <a:prstGeom prst="rect">
            <a:avLst/>
          </a:prstGeom>
          <a:solidFill>
            <a:srgbClr val="E6F4F3"/>
          </a:solidFill>
          <a:ln w="12700">
            <a:solidFill>
              <a:srgbClr val="E6F4F3"/>
            </a:solidFill>
            <a:prstDash val="solid"/>
          </a:ln>
        </p:spPr>
      </p:sp>
      <p:sp>
        <p:nvSpPr>
          <p:cNvPr id="26" name="Text 24"/>
          <p:cNvSpPr/>
          <p:nvPr/>
        </p:nvSpPr>
        <p:spPr>
          <a:xfrm>
            <a:off x="2359152" y="3090672"/>
            <a:ext cx="957072"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008C8C"/>
                </a:solidFill>
                <a:latin typeface="PingFang SC" pitchFamily="34" charset="0"/>
                <a:ea typeface="PingFang SC" pitchFamily="34" charset="-122"/>
                <a:cs typeface="PingFang SC" pitchFamily="34" charset="-120"/>
              </a:rPr>
              <a:t>Image</a:t>
            </a:r>
            <a:endParaRPr lang="en-US" sz="1500" dirty="0"/>
          </a:p>
        </p:txBody>
      </p:sp>
      <p:sp>
        <p:nvSpPr>
          <p:cNvPr id="27" name="Shape 25"/>
          <p:cNvSpPr/>
          <p:nvPr/>
        </p:nvSpPr>
        <p:spPr>
          <a:xfrm>
            <a:off x="3462528" y="3383280"/>
            <a:ext cx="146304" cy="0"/>
          </a:xfrm>
          <a:prstGeom prst="line">
            <a:avLst/>
          </a:prstGeom>
          <a:noFill/>
          <a:ln w="22860">
            <a:solidFill>
              <a:srgbClr val="76B900"/>
            </a:solidFill>
            <a:prstDash val="solid"/>
            <a:tailEnd type="triangle"/>
          </a:ln>
        </p:spPr>
      </p:sp>
      <p:sp>
        <p:nvSpPr>
          <p:cNvPr id="28" name="Shape 26"/>
          <p:cNvSpPr/>
          <p:nvPr/>
        </p:nvSpPr>
        <p:spPr>
          <a:xfrm>
            <a:off x="3645408" y="3090672"/>
            <a:ext cx="1176528" cy="585216"/>
          </a:xfrm>
          <a:prstGeom prst="rect">
            <a:avLst/>
          </a:prstGeom>
          <a:solidFill>
            <a:srgbClr val="F4F7F9"/>
          </a:solidFill>
          <a:ln w="12700">
            <a:solidFill>
              <a:srgbClr val="F4F7F9"/>
            </a:solidFill>
            <a:prstDash val="solid"/>
          </a:ln>
        </p:spPr>
      </p:sp>
      <p:sp>
        <p:nvSpPr>
          <p:cNvPr id="29" name="Text 27"/>
          <p:cNvSpPr/>
          <p:nvPr/>
        </p:nvSpPr>
        <p:spPr>
          <a:xfrm>
            <a:off x="3755136" y="3090672"/>
            <a:ext cx="957072"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102A43"/>
                </a:solidFill>
                <a:latin typeface="PingFang SC" pitchFamily="34" charset="0"/>
                <a:ea typeface="PingFang SC" pitchFamily="34" charset="-122"/>
                <a:cs typeface="PingFang SC" pitchFamily="34" charset="-120"/>
              </a:rPr>
              <a:t>Matrix</a:t>
            </a:r>
            <a:endParaRPr lang="en-US" sz="1500" dirty="0"/>
          </a:p>
        </p:txBody>
      </p:sp>
      <p:sp>
        <p:nvSpPr>
          <p:cNvPr id="30" name="Shape 28"/>
          <p:cNvSpPr/>
          <p:nvPr/>
        </p:nvSpPr>
        <p:spPr>
          <a:xfrm>
            <a:off x="4858512" y="3383280"/>
            <a:ext cx="146304" cy="0"/>
          </a:xfrm>
          <a:prstGeom prst="line">
            <a:avLst/>
          </a:prstGeom>
          <a:noFill/>
          <a:ln w="22860">
            <a:solidFill>
              <a:srgbClr val="76B900"/>
            </a:solidFill>
            <a:prstDash val="solid"/>
            <a:tailEnd type="triangle"/>
          </a:ln>
        </p:spPr>
      </p:sp>
      <p:sp>
        <p:nvSpPr>
          <p:cNvPr id="31" name="Shape 29"/>
          <p:cNvSpPr/>
          <p:nvPr/>
        </p:nvSpPr>
        <p:spPr>
          <a:xfrm>
            <a:off x="5041392" y="3090672"/>
            <a:ext cx="1176528" cy="585216"/>
          </a:xfrm>
          <a:prstGeom prst="rect">
            <a:avLst/>
          </a:prstGeom>
          <a:solidFill>
            <a:srgbClr val="F4F7F9"/>
          </a:solidFill>
          <a:ln w="12700">
            <a:solidFill>
              <a:srgbClr val="F4F7F9"/>
            </a:solidFill>
            <a:prstDash val="solid"/>
          </a:ln>
        </p:spPr>
      </p:sp>
      <p:sp>
        <p:nvSpPr>
          <p:cNvPr id="32" name="Text 30"/>
          <p:cNvSpPr/>
          <p:nvPr/>
        </p:nvSpPr>
        <p:spPr>
          <a:xfrm>
            <a:off x="5151120" y="3090672"/>
            <a:ext cx="957072" cy="585216"/>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102A43"/>
                </a:solidFill>
                <a:latin typeface="PingFang SC" pitchFamily="34" charset="0"/>
                <a:ea typeface="PingFang SC" pitchFamily="34" charset="-122"/>
                <a:cs typeface="PingFang SC" pitchFamily="34" charset="-120"/>
              </a:rPr>
              <a:t>Luma</a:t>
            </a:r>
            <a:endParaRPr lang="en-US" sz="1500" dirty="0"/>
          </a:p>
        </p:txBody>
      </p:sp>
      <p:sp>
        <p:nvSpPr>
          <p:cNvPr id="33" name="Shape 31"/>
          <p:cNvSpPr/>
          <p:nvPr/>
        </p:nvSpPr>
        <p:spPr>
          <a:xfrm>
            <a:off x="6217920" y="3383280"/>
            <a:ext cx="493776" cy="0"/>
          </a:xfrm>
          <a:prstGeom prst="line">
            <a:avLst/>
          </a:prstGeom>
          <a:noFill/>
          <a:ln w="20320">
            <a:solidFill>
              <a:srgbClr val="D95D4F"/>
            </a:solidFill>
            <a:prstDash val="solid"/>
            <a:tailEnd type="triangle"/>
          </a:ln>
        </p:spPr>
      </p:sp>
      <p:sp>
        <p:nvSpPr>
          <p:cNvPr id="34" name="Shape 32"/>
          <p:cNvSpPr/>
          <p:nvPr/>
        </p:nvSpPr>
        <p:spPr>
          <a:xfrm>
            <a:off x="6748272" y="3054096"/>
            <a:ext cx="1371600" cy="658368"/>
          </a:xfrm>
          <a:prstGeom prst="rect">
            <a:avLst/>
          </a:prstGeom>
          <a:solidFill>
            <a:srgbClr val="FBECE9"/>
          </a:solidFill>
          <a:ln w="12700">
            <a:solidFill>
              <a:srgbClr val="FBECE9"/>
            </a:solidFill>
            <a:prstDash val="solid"/>
          </a:ln>
        </p:spPr>
      </p:sp>
      <p:sp>
        <p:nvSpPr>
          <p:cNvPr id="35" name="Text 33"/>
          <p:cNvSpPr/>
          <p:nvPr/>
        </p:nvSpPr>
        <p:spPr>
          <a:xfrm>
            <a:off x="6858000" y="3054096"/>
            <a:ext cx="1152144" cy="658368"/>
          </a:xfrm>
          <a:prstGeom prst="rect">
            <a:avLst/>
          </a:prstGeom>
          <a:noFill/>
          <a:ln/>
        </p:spPr>
        <p:txBody>
          <a:bodyPr wrap="square" lIns="0" tIns="0" rIns="0" bIns="0" rtlCol="0" anchor="ctr">
            <a:normAutofit/>
          </a:bodyPr>
          <a:lstStyle/>
          <a:p>
            <a:pPr algn="ctr" indent="0" marL="0">
              <a:lnSpc>
                <a:spcPct val="104000"/>
              </a:lnSpc>
              <a:buNone/>
            </a:pPr>
            <a:r>
              <a:rPr lang="en-US" sz="1300" b="1" dirty="0">
                <a:solidFill>
                  <a:srgbClr val="D95D4F"/>
                </a:solidFill>
                <a:latin typeface="PingFang SC" pitchFamily="34" charset="0"/>
                <a:ea typeface="PingFang SC" pitchFamily="34" charset="-122"/>
                <a:cs typeface="PingFang SC" pitchFamily="34" charset="-120"/>
              </a:rPr>
              <a:t>中间纹理</a:t>
            </a:r>
            <a:endParaRPr lang="en-US" sz="1300" dirty="0"/>
          </a:p>
        </p:txBody>
      </p:sp>
      <p:sp>
        <p:nvSpPr>
          <p:cNvPr id="36" name="Text 34"/>
          <p:cNvSpPr/>
          <p:nvPr/>
        </p:nvSpPr>
        <p:spPr>
          <a:xfrm>
            <a:off x="5888736" y="3749040"/>
            <a:ext cx="3108960" cy="201168"/>
          </a:xfrm>
          <a:prstGeom prst="rect">
            <a:avLst/>
          </a:prstGeom>
          <a:noFill/>
          <a:ln/>
        </p:spPr>
        <p:txBody>
          <a:bodyPr wrap="square" lIns="0" tIns="0" rIns="0" bIns="0" rtlCol="0" anchor="t">
            <a:normAutofit/>
          </a:bodyPr>
          <a:lstStyle/>
          <a:p>
            <a:pPr algn="ctr" indent="0" marL="0">
              <a:lnSpc>
                <a:spcPct val="104000"/>
              </a:lnSpc>
              <a:buNone/>
            </a:pPr>
            <a:r>
              <a:rPr lang="en-US" sz="1040" b="1" dirty="0">
                <a:solidFill>
                  <a:srgbClr val="D95D4F"/>
                </a:solidFill>
                <a:latin typeface="PingFang SC" pitchFamily="34" charset="0"/>
                <a:ea typeface="PingFang SC" pitchFamily="34" charset="-122"/>
                <a:cs typeface="PingFang SC" pitchFamily="34" charset="-120"/>
              </a:rPr>
              <a:t>安全切分点：前段结果可作为后段的同像素输入</a:t>
            </a:r>
            <a:endParaRPr lang="en-US" sz="1040" dirty="0"/>
          </a:p>
        </p:txBody>
      </p:sp>
      <p:sp>
        <p:nvSpPr>
          <p:cNvPr id="37" name="Shape 35"/>
          <p:cNvSpPr/>
          <p:nvPr/>
        </p:nvSpPr>
        <p:spPr>
          <a:xfrm>
            <a:off x="8156448" y="3383280"/>
            <a:ext cx="493776" cy="0"/>
          </a:xfrm>
          <a:prstGeom prst="line">
            <a:avLst/>
          </a:prstGeom>
          <a:noFill/>
          <a:ln w="20320">
            <a:solidFill>
              <a:srgbClr val="76B900"/>
            </a:solidFill>
            <a:prstDash val="solid"/>
            <a:tailEnd type="triangle"/>
          </a:ln>
        </p:spPr>
      </p:sp>
      <p:sp>
        <p:nvSpPr>
          <p:cNvPr id="38" name="Shape 36"/>
          <p:cNvSpPr/>
          <p:nvPr/>
        </p:nvSpPr>
        <p:spPr>
          <a:xfrm>
            <a:off x="8686800" y="3054096"/>
            <a:ext cx="713232" cy="658368"/>
          </a:xfrm>
          <a:prstGeom prst="rect">
            <a:avLst/>
          </a:prstGeom>
          <a:solidFill>
            <a:srgbClr val="EFF7DF"/>
          </a:solidFill>
          <a:ln w="12700">
            <a:solidFill>
              <a:srgbClr val="EFF7DF"/>
            </a:solidFill>
            <a:prstDash val="solid"/>
          </a:ln>
        </p:spPr>
      </p:sp>
      <p:sp>
        <p:nvSpPr>
          <p:cNvPr id="39" name="Text 37"/>
          <p:cNvSpPr/>
          <p:nvPr/>
        </p:nvSpPr>
        <p:spPr>
          <a:xfrm>
            <a:off x="8796528" y="3054096"/>
            <a:ext cx="493776" cy="658368"/>
          </a:xfrm>
          <a:prstGeom prst="rect">
            <a:avLst/>
          </a:prstGeom>
          <a:noFill/>
          <a:ln/>
        </p:spPr>
        <p:txBody>
          <a:bodyPr wrap="square" lIns="0" tIns="0" rIns="0" bIns="0" rtlCol="0" anchor="ctr">
            <a:normAutofit/>
          </a:bodyPr>
          <a:lstStyle/>
          <a:p>
            <a:pPr algn="ctr" indent="0" marL="0">
              <a:lnSpc>
                <a:spcPct val="104000"/>
              </a:lnSpc>
              <a:buNone/>
            </a:pPr>
            <a:r>
              <a:rPr lang="en-US" sz="1150" b="1" dirty="0">
                <a:solidFill>
                  <a:srgbClr val="4F7F00"/>
                </a:solidFill>
                <a:latin typeface="SF Mono" pitchFamily="34" charset="0"/>
                <a:ea typeface="SF Mono" pitchFamily="34" charset="-122"/>
                <a:cs typeface="SF Mono" pitchFamily="34" charset="-120"/>
              </a:rPr>
              <a:t>Pass 1</a:t>
            </a:r>
            <a:endParaRPr lang="en-US" sz="1150" dirty="0"/>
          </a:p>
        </p:txBody>
      </p:sp>
      <p:sp>
        <p:nvSpPr>
          <p:cNvPr id="40" name="Shape 38"/>
          <p:cNvSpPr/>
          <p:nvPr/>
        </p:nvSpPr>
        <p:spPr>
          <a:xfrm>
            <a:off x="9582912" y="3090672"/>
            <a:ext cx="859536" cy="585216"/>
          </a:xfrm>
          <a:prstGeom prst="rect">
            <a:avLst/>
          </a:prstGeom>
          <a:solidFill>
            <a:srgbClr val="F4F7F9"/>
          </a:solidFill>
          <a:ln w="12700">
            <a:solidFill>
              <a:srgbClr val="F4F7F9"/>
            </a:solidFill>
            <a:prstDash val="solid"/>
          </a:ln>
        </p:spPr>
      </p:sp>
      <p:sp>
        <p:nvSpPr>
          <p:cNvPr id="41" name="Text 39"/>
          <p:cNvSpPr/>
          <p:nvPr/>
        </p:nvSpPr>
        <p:spPr>
          <a:xfrm>
            <a:off x="9692640" y="3090672"/>
            <a:ext cx="640080" cy="585216"/>
          </a:xfrm>
          <a:prstGeom prst="rect">
            <a:avLst/>
          </a:prstGeom>
          <a:noFill/>
          <a:ln/>
        </p:spPr>
        <p:txBody>
          <a:bodyPr wrap="square" lIns="0" tIns="0" rIns="0" bIns="0" rtlCol="0" anchor="ctr">
            <a:normAutofit/>
          </a:bodyPr>
          <a:lstStyle/>
          <a:p>
            <a:pPr algn="ctr" indent="0" marL="0">
              <a:lnSpc>
                <a:spcPct val="104000"/>
              </a:lnSpc>
              <a:buNone/>
            </a:pPr>
            <a:r>
              <a:rPr lang="en-US" sz="820" b="1" dirty="0">
                <a:solidFill>
                  <a:srgbClr val="102A43"/>
                </a:solidFill>
                <a:latin typeface="PingFang SC" pitchFamily="34" charset="0"/>
                <a:ea typeface="PingFang SC" pitchFamily="34" charset="-122"/>
                <a:cs typeface="PingFang SC" pitchFamily="34" charset="-120"/>
              </a:rPr>
              <a:t>Threshold</a:t>
            </a:r>
            <a:endParaRPr lang="en-US" sz="820" dirty="0"/>
          </a:p>
        </p:txBody>
      </p:sp>
      <p:sp>
        <p:nvSpPr>
          <p:cNvPr id="42" name="Shape 40"/>
          <p:cNvSpPr/>
          <p:nvPr/>
        </p:nvSpPr>
        <p:spPr>
          <a:xfrm>
            <a:off x="10479024" y="3383280"/>
            <a:ext cx="54864" cy="0"/>
          </a:xfrm>
          <a:prstGeom prst="line">
            <a:avLst/>
          </a:prstGeom>
          <a:noFill/>
          <a:ln w="22860">
            <a:solidFill>
              <a:srgbClr val="76B900"/>
            </a:solidFill>
            <a:prstDash val="solid"/>
            <a:tailEnd type="triangle"/>
          </a:ln>
        </p:spPr>
      </p:sp>
      <p:sp>
        <p:nvSpPr>
          <p:cNvPr id="43" name="Shape 41"/>
          <p:cNvSpPr/>
          <p:nvPr/>
        </p:nvSpPr>
        <p:spPr>
          <a:xfrm>
            <a:off x="10570464" y="3090672"/>
            <a:ext cx="859536" cy="585216"/>
          </a:xfrm>
          <a:prstGeom prst="rect">
            <a:avLst/>
          </a:prstGeom>
          <a:solidFill>
            <a:srgbClr val="102A43"/>
          </a:solidFill>
          <a:ln w="12700">
            <a:solidFill>
              <a:srgbClr val="102A43"/>
            </a:solidFill>
            <a:prstDash val="solid"/>
          </a:ln>
        </p:spPr>
      </p:sp>
      <p:sp>
        <p:nvSpPr>
          <p:cNvPr id="44" name="Text 42"/>
          <p:cNvSpPr/>
          <p:nvPr/>
        </p:nvSpPr>
        <p:spPr>
          <a:xfrm>
            <a:off x="10680192" y="3090672"/>
            <a:ext cx="640080" cy="585216"/>
          </a:xfrm>
          <a:prstGeom prst="rect">
            <a:avLst/>
          </a:prstGeom>
          <a:noFill/>
          <a:ln/>
        </p:spPr>
        <p:txBody>
          <a:bodyPr wrap="square" lIns="0" tIns="0" rIns="0" bIns="0" rtlCol="0" anchor="ctr">
            <a:normAutofit/>
          </a:bodyPr>
          <a:lstStyle/>
          <a:p>
            <a:pPr algn="ctr" indent="0" marL="0">
              <a:lnSpc>
                <a:spcPct val="104000"/>
              </a:lnSpc>
              <a:buNone/>
            </a:pPr>
            <a:r>
              <a:rPr lang="en-US" sz="1050" b="1" dirty="0">
                <a:solidFill>
                  <a:srgbClr val="FFFFFF"/>
                </a:solidFill>
                <a:latin typeface="PingFang SC" pitchFamily="34" charset="0"/>
                <a:ea typeface="PingFang SC" pitchFamily="34" charset="-122"/>
                <a:cs typeface="PingFang SC" pitchFamily="34" charset="-120"/>
              </a:rPr>
              <a:t>Target</a:t>
            </a:r>
            <a:endParaRPr lang="en-US" sz="1050" dirty="0"/>
          </a:p>
        </p:txBody>
      </p:sp>
      <p:sp>
        <p:nvSpPr>
          <p:cNvPr id="45" name="Shape 43"/>
          <p:cNvSpPr/>
          <p:nvPr/>
        </p:nvSpPr>
        <p:spPr>
          <a:xfrm>
            <a:off x="786384" y="4078224"/>
            <a:ext cx="3438144" cy="768096"/>
          </a:xfrm>
          <a:prstGeom prst="rect">
            <a:avLst/>
          </a:prstGeom>
          <a:solidFill>
            <a:srgbClr val="F4F7F9"/>
          </a:solidFill>
          <a:ln w="10160">
            <a:solidFill>
              <a:srgbClr val="D9E2EC"/>
            </a:solidFill>
            <a:prstDash val="solid"/>
          </a:ln>
        </p:spPr>
      </p:sp>
      <p:sp>
        <p:nvSpPr>
          <p:cNvPr id="46" name="Text 44"/>
          <p:cNvSpPr/>
          <p:nvPr/>
        </p:nvSpPr>
        <p:spPr>
          <a:xfrm>
            <a:off x="950976" y="4187952"/>
            <a:ext cx="786384"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008C8C"/>
                </a:solidFill>
                <a:latin typeface="PingFang SC" pitchFamily="34" charset="0"/>
                <a:ea typeface="PingFang SC" pitchFamily="34" charset="-122"/>
                <a:cs typeface="PingFang SC" pitchFamily="34" charset="-120"/>
              </a:rPr>
              <a:t>语义条件</a:t>
            </a:r>
            <a:endParaRPr lang="en-US" sz="1050" dirty="0"/>
          </a:p>
        </p:txBody>
      </p:sp>
      <p:sp>
        <p:nvSpPr>
          <p:cNvPr id="47" name="Text 45"/>
          <p:cNvSpPr/>
          <p:nvPr/>
        </p:nvSpPr>
        <p:spPr>
          <a:xfrm>
            <a:off x="1755648" y="4078224"/>
            <a:ext cx="2286000" cy="768096"/>
          </a:xfrm>
          <a:prstGeom prst="rect">
            <a:avLst/>
          </a:prstGeom>
          <a:noFill/>
          <a:ln/>
        </p:spPr>
        <p:txBody>
          <a:bodyPr wrap="square" lIns="0" tIns="0" rIns="0" bIns="0" rtlCol="0" anchor="ctr">
            <a:normAutofit/>
          </a:bodyPr>
          <a:lstStyle/>
          <a:p>
            <a:pPr algn="l" indent="0" marL="0">
              <a:lnSpc>
                <a:spcPct val="104000"/>
              </a:lnSpc>
              <a:buNone/>
            </a:pPr>
            <a:r>
              <a:rPr lang="en-US" sz="1240" b="1" dirty="0">
                <a:solidFill>
                  <a:srgbClr val="102A43"/>
                </a:solidFill>
                <a:latin typeface="PingFang SC" pitchFamily="34" charset="0"/>
                <a:ea typeface="PingFang SC" pitchFamily="34" charset="-122"/>
                <a:cs typeface="PingFang SC" pitchFamily="34" charset="-120"/>
              </a:rPr>
              <a:t>保持算子顺序与同像素输入输出</a:t>
            </a:r>
            <a:endParaRPr lang="en-US" sz="1240" dirty="0"/>
          </a:p>
        </p:txBody>
      </p:sp>
      <p:sp>
        <p:nvSpPr>
          <p:cNvPr id="48" name="Shape 46"/>
          <p:cNvSpPr/>
          <p:nvPr/>
        </p:nvSpPr>
        <p:spPr>
          <a:xfrm>
            <a:off x="4572000" y="4078224"/>
            <a:ext cx="3438144" cy="768096"/>
          </a:xfrm>
          <a:prstGeom prst="rect">
            <a:avLst/>
          </a:prstGeom>
          <a:solidFill>
            <a:srgbClr val="F4F7F9"/>
          </a:solidFill>
          <a:ln w="10160">
            <a:solidFill>
              <a:srgbClr val="D9E2EC"/>
            </a:solidFill>
            <a:prstDash val="solid"/>
          </a:ln>
        </p:spPr>
      </p:sp>
      <p:sp>
        <p:nvSpPr>
          <p:cNvPr id="49" name="Text 47"/>
          <p:cNvSpPr/>
          <p:nvPr/>
        </p:nvSpPr>
        <p:spPr>
          <a:xfrm>
            <a:off x="4736592" y="4187952"/>
            <a:ext cx="786384"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PingFang SC" pitchFamily="34" charset="0"/>
                <a:ea typeface="PingFang SC" pitchFamily="34" charset="-122"/>
                <a:cs typeface="PingFang SC" pitchFamily="34" charset="-120"/>
              </a:rPr>
              <a:t>执行方式</a:t>
            </a:r>
            <a:endParaRPr lang="en-US" sz="1050" dirty="0"/>
          </a:p>
        </p:txBody>
      </p:sp>
      <p:sp>
        <p:nvSpPr>
          <p:cNvPr id="50" name="Text 48"/>
          <p:cNvSpPr/>
          <p:nvPr/>
        </p:nvSpPr>
        <p:spPr>
          <a:xfrm>
            <a:off x="5541264" y="4078224"/>
            <a:ext cx="2286000" cy="768096"/>
          </a:xfrm>
          <a:prstGeom prst="rect">
            <a:avLst/>
          </a:prstGeom>
          <a:noFill/>
          <a:ln/>
        </p:spPr>
        <p:txBody>
          <a:bodyPr wrap="square" lIns="0" tIns="0" rIns="0" bIns="0" rtlCol="0" anchor="ctr">
            <a:normAutofit/>
          </a:bodyPr>
          <a:lstStyle/>
          <a:p>
            <a:pPr algn="l" indent="0" marL="0">
              <a:lnSpc>
                <a:spcPct val="104000"/>
              </a:lnSpc>
              <a:buNone/>
            </a:pPr>
            <a:r>
              <a:rPr lang="en-US" sz="1240" b="1" dirty="0">
                <a:solidFill>
                  <a:srgbClr val="102A43"/>
                </a:solidFill>
                <a:latin typeface="PingFang SC" pitchFamily="34" charset="0"/>
                <a:ea typeface="PingFang SC" pitchFamily="34" charset="-122"/>
                <a:cs typeface="PingFang SC" pitchFamily="34" charset="-120"/>
              </a:rPr>
              <a:t>每个 Pass 匹配具体 PrecompiledShader permutation</a:t>
            </a:r>
            <a:endParaRPr lang="en-US" sz="1240" dirty="0"/>
          </a:p>
        </p:txBody>
      </p:sp>
      <p:sp>
        <p:nvSpPr>
          <p:cNvPr id="51" name="Shape 49"/>
          <p:cNvSpPr/>
          <p:nvPr/>
        </p:nvSpPr>
        <p:spPr>
          <a:xfrm>
            <a:off x="8357616" y="4078224"/>
            <a:ext cx="3438144" cy="768096"/>
          </a:xfrm>
          <a:prstGeom prst="rect">
            <a:avLst/>
          </a:prstGeom>
          <a:solidFill>
            <a:srgbClr val="F4F7F9"/>
          </a:solidFill>
          <a:ln w="10160">
            <a:solidFill>
              <a:srgbClr val="D9E2EC"/>
            </a:solidFill>
            <a:prstDash val="solid"/>
          </a:ln>
        </p:spPr>
      </p:sp>
      <p:sp>
        <p:nvSpPr>
          <p:cNvPr id="52" name="Text 50"/>
          <p:cNvSpPr/>
          <p:nvPr/>
        </p:nvSpPr>
        <p:spPr>
          <a:xfrm>
            <a:off x="8522208" y="4187952"/>
            <a:ext cx="786384"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D95D4F"/>
                </a:solidFill>
                <a:latin typeface="PingFang SC" pitchFamily="34" charset="0"/>
                <a:ea typeface="PingFang SC" pitchFamily="34" charset="-122"/>
                <a:cs typeface="PingFang SC" pitchFamily="34" charset="-120"/>
              </a:rPr>
              <a:t>明确边界</a:t>
            </a:r>
            <a:endParaRPr lang="en-US" sz="1050" dirty="0"/>
          </a:p>
        </p:txBody>
      </p:sp>
      <p:sp>
        <p:nvSpPr>
          <p:cNvPr id="53" name="Text 51"/>
          <p:cNvSpPr/>
          <p:nvPr/>
        </p:nvSpPr>
        <p:spPr>
          <a:xfrm>
            <a:off x="9326880" y="4078224"/>
            <a:ext cx="2286000" cy="768096"/>
          </a:xfrm>
          <a:prstGeom prst="rect">
            <a:avLst/>
          </a:prstGeom>
          <a:noFill/>
          <a:ln/>
        </p:spPr>
        <p:txBody>
          <a:bodyPr wrap="square" lIns="0" tIns="0" rIns="0" bIns="0" rtlCol="0" anchor="ctr">
            <a:normAutofit/>
          </a:bodyPr>
          <a:lstStyle/>
          <a:p>
            <a:pPr algn="l" indent="0" marL="0">
              <a:lnSpc>
                <a:spcPct val="104000"/>
              </a:lnSpc>
              <a:buNone/>
            </a:pPr>
            <a:r>
              <a:rPr lang="en-US" sz="1240" b="1" dirty="0">
                <a:solidFill>
                  <a:srgbClr val="102A43"/>
                </a:solidFill>
                <a:latin typeface="PingFang SC" pitchFamily="34" charset="0"/>
                <a:ea typeface="PingFang SC" pitchFamily="34" charset="-122"/>
                <a:cs typeface="PingFang SC" pitchFamily="34" charset="-120"/>
              </a:rPr>
              <a:t>不对任意递归树做通用切分</a:t>
            </a:r>
            <a:endParaRPr lang="en-US" sz="1240" dirty="0"/>
          </a:p>
        </p:txBody>
      </p:sp>
      <p:sp>
        <p:nvSpPr>
          <p:cNvPr id="54" name="Shape 52"/>
          <p:cNvSpPr/>
          <p:nvPr/>
        </p:nvSpPr>
        <p:spPr>
          <a:xfrm>
            <a:off x="786384" y="5047488"/>
            <a:ext cx="10753344" cy="438912"/>
          </a:xfrm>
          <a:prstGeom prst="rect">
            <a:avLst/>
          </a:prstGeom>
          <a:solidFill>
            <a:srgbClr val="E6F4F3"/>
          </a:solidFill>
          <a:ln w="12700">
            <a:solidFill>
              <a:srgbClr val="E6F4F3"/>
            </a:solidFill>
            <a:prstDash val="solid"/>
          </a:ln>
        </p:spPr>
      </p:sp>
      <p:sp>
        <p:nvSpPr>
          <p:cNvPr id="55" name="Text 53"/>
          <p:cNvSpPr/>
          <p:nvPr/>
        </p:nvSpPr>
        <p:spPr>
          <a:xfrm>
            <a:off x="987552" y="5047488"/>
            <a:ext cx="10351008" cy="438912"/>
          </a:xfrm>
          <a:prstGeom prst="rect">
            <a:avLst/>
          </a:prstGeom>
          <a:noFill/>
          <a:ln/>
        </p:spPr>
        <p:txBody>
          <a:bodyPr wrap="square" lIns="0" tIns="0" rIns="0" bIns="0" rtlCol="0" anchor="ctr">
            <a:normAutofit/>
          </a:bodyPr>
          <a:lstStyle/>
          <a:p>
            <a:pPr algn="ctr" indent="0" marL="0">
              <a:lnSpc>
                <a:spcPct val="104000"/>
              </a:lnSpc>
              <a:buNone/>
            </a:pPr>
            <a:r>
              <a:rPr lang="en-US" sz="1240" b="1" dirty="0">
                <a:solidFill>
                  <a:srgbClr val="102A43"/>
                </a:solidFill>
                <a:latin typeface="PingFang SC" pitchFamily="34" charset="0"/>
                <a:ea typeface="PingFang SC" pitchFamily="34" charset="-122"/>
                <a:cs typeface="PingFang SC" pitchFamily="34" charset="-120"/>
              </a:rPr>
              <a:t>成本边界  ·  RGBA8 临时内存约 4WH  ·  写入 + 读取约 8WH  ·  另有 RT switch、额外 Pass 与量化边界</a:t>
            </a:r>
            <a:endParaRPr lang="en-US" sz="1240" dirty="0"/>
          </a:p>
        </p:txBody>
      </p:sp>
      <p:sp>
        <p:nvSpPr>
          <p:cNvPr id="56" name="Shape 54"/>
          <p:cNvSpPr/>
          <p:nvPr/>
        </p:nvSpPr>
        <p:spPr>
          <a:xfrm>
            <a:off x="658368" y="5742432"/>
            <a:ext cx="10874959" cy="438912"/>
          </a:xfrm>
          <a:prstGeom prst="rect">
            <a:avLst/>
          </a:prstGeom>
          <a:solidFill>
            <a:srgbClr val="EFF7DF"/>
          </a:solidFill>
          <a:ln w="12700">
            <a:solidFill>
              <a:srgbClr val="EFF7DF"/>
            </a:solidFill>
            <a:prstDash val="solid"/>
          </a:ln>
        </p:spPr>
      </p:sp>
      <p:sp>
        <p:nvSpPr>
          <p:cNvPr id="57" name="Text 55"/>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Multi-pass 只组织已有 Shader 与中间纹理，不生成 runtime Shader。</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17 · BENEFITS AND COSTS</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02A43"/>
                </a:solidFill>
                <a:latin typeface="PingFang SC" pitchFamily="34" charset="0"/>
                <a:ea typeface="PingFang SC" pitchFamily="34" charset="-122"/>
                <a:cs typeface="PingFang SC" pitchFamily="34" charset="-120"/>
              </a:rPr>
              <a:t>收益与代价：前移可确定成本，而不是消除成本</a:t>
            </a:r>
            <a:endParaRPr lang="en-US" sz="36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17</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可达 Shader 的生成与 Backend 编译进入构建期；平台仍保留加载、Pipeline 首建和执行成本。 </a:t>
            </a:r>
            <a:endParaRPr lang="en-US" sz="1600" dirty="0"/>
          </a:p>
        </p:txBody>
      </p:sp>
      <p:sp>
        <p:nvSpPr>
          <p:cNvPr id="8" name="Shape 6"/>
          <p:cNvSpPr/>
          <p:nvPr/>
        </p:nvSpPr>
        <p:spPr>
          <a:xfrm>
            <a:off x="768096" y="1901952"/>
            <a:ext cx="5230368" cy="3182112"/>
          </a:xfrm>
          <a:prstGeom prst="rect">
            <a:avLst/>
          </a:prstGeom>
          <a:solidFill>
            <a:srgbClr val="EFF7DF"/>
          </a:solidFill>
          <a:ln w="12700">
            <a:solidFill>
              <a:srgbClr val="EFF7DF"/>
            </a:solidFill>
            <a:prstDash val="solid"/>
          </a:ln>
        </p:spPr>
      </p:sp>
      <p:sp>
        <p:nvSpPr>
          <p:cNvPr id="9" name="Text 7"/>
          <p:cNvSpPr/>
          <p:nvPr/>
        </p:nvSpPr>
        <p:spPr>
          <a:xfrm>
            <a:off x="1042416" y="2176272"/>
            <a:ext cx="4681728" cy="310896"/>
          </a:xfrm>
          <a:prstGeom prst="rect">
            <a:avLst/>
          </a:prstGeom>
          <a:noFill/>
          <a:ln/>
        </p:spPr>
        <p:txBody>
          <a:bodyPr wrap="square" lIns="0" tIns="0" rIns="0" bIns="0" rtlCol="0" anchor="t">
            <a:normAutofit/>
          </a:bodyPr>
          <a:lstStyle/>
          <a:p>
            <a:pPr algn="ctr" indent="0" marL="0">
              <a:lnSpc>
                <a:spcPct val="104000"/>
              </a:lnSpc>
              <a:buNone/>
            </a:pPr>
            <a:r>
              <a:rPr lang="en-US" sz="2100" b="1" dirty="0">
                <a:solidFill>
                  <a:srgbClr val="4F7F00"/>
                </a:solidFill>
                <a:latin typeface="PingFang SC" pitchFamily="34" charset="0"/>
                <a:ea typeface="PingFang SC" pitchFamily="34" charset="-122"/>
                <a:cs typeface="PingFang SC" pitchFamily="34" charset="-120"/>
              </a:rPr>
              <a:t>前移到 Build</a:t>
            </a:r>
            <a:endParaRPr lang="en-US" sz="2100" dirty="0"/>
          </a:p>
        </p:txBody>
      </p:sp>
      <p:sp>
        <p:nvSpPr>
          <p:cNvPr id="10" name="Text 8"/>
          <p:cNvSpPr/>
          <p:nvPr/>
        </p:nvSpPr>
        <p:spPr>
          <a:xfrm>
            <a:off x="1097280" y="2779776"/>
            <a:ext cx="4572000" cy="1627632"/>
          </a:xfrm>
          <a:prstGeom prst="rect">
            <a:avLst/>
          </a:prstGeom>
          <a:noFill/>
          <a:ln/>
        </p:spPr>
        <p:txBody>
          <a:bodyPr wrap="square" lIns="0" tIns="0" rIns="0" bIns="0" rtlCol="0" anchor="t">
            <a:normAutofit/>
          </a:bodyPr>
          <a:lstStyle/>
          <a:p>
            <a:pPr marL="177800" indent="-177800">
              <a:buSzPct val="100000"/>
              <a:buChar char="•"/>
            </a:pPr>
            <a:r>
              <a:rPr lang="en-US" sz="1520" dirty="0">
                <a:solidFill>
                  <a:srgbClr val="334E68"/>
                </a:solidFill>
                <a:latin typeface="PingFang SC" pitchFamily="34" charset="0"/>
                <a:ea typeface="PingFang SC" pitchFamily="34" charset="-122"/>
                <a:cs typeface="PingFang SC" pitchFamily="34" charset="-120"/>
              </a:rPr>
              <a:t>可达 Shader 源码展开与 Backend 编译</a:t>
            </a:r>
            <a:endParaRPr lang="en-US" sz="1520" dirty="0"/>
          </a:p>
          <a:p>
            <a:pPr marL="177800" indent="-177800">
              <a:buSzPct val="100000"/>
              <a:buChar char="•"/>
            </a:pPr>
            <a:r>
              <a:rPr lang="en-US" sz="1520" dirty="0">
                <a:solidFill>
                  <a:srgbClr val="334E68"/>
                </a:solidFill>
                <a:latin typeface="PingFang SC" pitchFamily="34" charset="0"/>
                <a:ea typeface="PingFang SC" pitchFamily="34" charset="-122"/>
                <a:cs typeface="PingFang SC" pitchFamily="34" charset="-120"/>
              </a:rPr>
              <a:t>Shader Bundle 生成、压缩与版本发布</a:t>
            </a:r>
            <a:endParaRPr lang="en-US" sz="1520" dirty="0"/>
          </a:p>
          <a:p>
            <a:pPr marL="177800" indent="-177800">
              <a:buSzPct val="100000"/>
              <a:buChar char="•"/>
            </a:pPr>
            <a:r>
              <a:rPr lang="en-US" sz="1520" dirty="0">
                <a:solidFill>
                  <a:srgbClr val="334E68"/>
                </a:solidFill>
                <a:latin typeface="PingFang SC" pitchFamily="34" charset="0"/>
                <a:ea typeface="PingFang SC" pitchFamily="34" charset="-122"/>
                <a:cs typeface="PingFang SC" pitchFamily="34" charset="-120"/>
              </a:rPr>
              <a:t>已覆盖案例不再运行时生成完整 Shader</a:t>
            </a:r>
            <a:endParaRPr lang="en-US" sz="1520" dirty="0"/>
          </a:p>
        </p:txBody>
      </p:sp>
      <p:sp>
        <p:nvSpPr>
          <p:cNvPr id="11" name="Shape 9"/>
          <p:cNvSpPr/>
          <p:nvPr/>
        </p:nvSpPr>
        <p:spPr>
          <a:xfrm>
            <a:off x="6382512" y="1901952"/>
            <a:ext cx="5029200" cy="3182112"/>
          </a:xfrm>
          <a:prstGeom prst="rect">
            <a:avLst/>
          </a:prstGeom>
          <a:solidFill>
            <a:srgbClr val="FBECE9"/>
          </a:solidFill>
          <a:ln w="12700">
            <a:solidFill>
              <a:srgbClr val="FBECE9"/>
            </a:solidFill>
            <a:prstDash val="solid"/>
          </a:ln>
        </p:spPr>
      </p:sp>
      <p:sp>
        <p:nvSpPr>
          <p:cNvPr id="12" name="Text 10"/>
          <p:cNvSpPr/>
          <p:nvPr/>
        </p:nvSpPr>
        <p:spPr>
          <a:xfrm>
            <a:off x="6656832" y="2176272"/>
            <a:ext cx="4480560" cy="310896"/>
          </a:xfrm>
          <a:prstGeom prst="rect">
            <a:avLst/>
          </a:prstGeom>
          <a:noFill/>
          <a:ln/>
        </p:spPr>
        <p:txBody>
          <a:bodyPr wrap="square" lIns="0" tIns="0" rIns="0" bIns="0" rtlCol="0" anchor="t">
            <a:normAutofit/>
          </a:bodyPr>
          <a:lstStyle/>
          <a:p>
            <a:pPr algn="ctr" indent="0" marL="0">
              <a:lnSpc>
                <a:spcPct val="104000"/>
              </a:lnSpc>
              <a:buNone/>
            </a:pPr>
            <a:r>
              <a:rPr lang="en-US" sz="2100" b="1" dirty="0">
                <a:solidFill>
                  <a:srgbClr val="D95D4F"/>
                </a:solidFill>
                <a:latin typeface="PingFang SC" pitchFamily="34" charset="0"/>
                <a:ea typeface="PingFang SC" pitchFamily="34" charset="-122"/>
                <a:cs typeface="PingFang SC" pitchFamily="34" charset="-120"/>
              </a:rPr>
              <a:t>Runtime 仍需承担</a:t>
            </a:r>
            <a:endParaRPr lang="en-US" sz="2100" dirty="0"/>
          </a:p>
        </p:txBody>
      </p:sp>
      <p:sp>
        <p:nvSpPr>
          <p:cNvPr id="13" name="Text 11"/>
          <p:cNvSpPr/>
          <p:nvPr/>
        </p:nvSpPr>
        <p:spPr>
          <a:xfrm>
            <a:off x="6711696" y="2779776"/>
            <a:ext cx="4370832" cy="1627632"/>
          </a:xfrm>
          <a:prstGeom prst="rect">
            <a:avLst/>
          </a:prstGeom>
          <a:noFill/>
          <a:ln/>
        </p:spPr>
        <p:txBody>
          <a:bodyPr wrap="square" lIns="0" tIns="0" rIns="0" bIns="0" rtlCol="0" anchor="t">
            <a:normAutofit/>
          </a:bodyPr>
          <a:lstStyle/>
          <a:p>
            <a:pPr marL="177800" indent="-177800">
              <a:buSzPct val="100000"/>
              <a:buChar char="•"/>
            </a:pPr>
            <a:r>
              <a:rPr lang="en-US" sz="1520" dirty="0">
                <a:solidFill>
                  <a:srgbClr val="334E68"/>
                </a:solidFill>
                <a:latin typeface="PingFang SC" pitchFamily="34" charset="0"/>
                <a:ea typeface="PingFang SC" pitchFamily="34" charset="-122"/>
                <a:cs typeface="PingFang SC" pitchFamily="34" charset="-120"/>
              </a:rPr>
              <a:t>Bundle 加载、解压与临时内存</a:t>
            </a:r>
            <a:endParaRPr lang="en-US" sz="1520" dirty="0"/>
          </a:p>
          <a:p>
            <a:pPr marL="177800" indent="-177800">
              <a:buSzPct val="100000"/>
              <a:buChar char="•"/>
            </a:pPr>
            <a:r>
              <a:rPr lang="en-US" sz="1520" dirty="0">
                <a:solidFill>
                  <a:srgbClr val="334E68"/>
                </a:solidFill>
                <a:latin typeface="PingFang SC" pitchFamily="34" charset="0"/>
                <a:ea typeface="PingFang SC" pitchFamily="34" charset="-122"/>
                <a:cs typeface="PingFang SC" pitchFamily="34" charset="-120"/>
              </a:rPr>
              <a:t>Pipeline 首建；OpenGL 仍需 driver compile/link</a:t>
            </a:r>
            <a:endParaRPr lang="en-US" sz="1520" dirty="0"/>
          </a:p>
          <a:p>
            <a:pPr marL="177800" indent="-177800">
              <a:buSzPct val="100000"/>
              <a:buChar char="•"/>
            </a:pPr>
            <a:r>
              <a:rPr lang="en-US" sz="1520" dirty="0">
                <a:solidFill>
                  <a:srgbClr val="334E68"/>
                </a:solidFill>
                <a:latin typeface="PingFang SC" pitchFamily="34" charset="0"/>
                <a:ea typeface="PingFang SC" pitchFamily="34" charset="-122"/>
                <a:cs typeface="PingFang SC" pitchFamily="34" charset="-120"/>
              </a:rPr>
              <a:t>预编译 Shader 与安全 Multi-pass 的 GPU 成本</a:t>
            </a:r>
            <a:endParaRPr lang="en-US" sz="1520" dirty="0"/>
          </a:p>
        </p:txBody>
      </p:sp>
      <p:sp>
        <p:nvSpPr>
          <p:cNvPr id="14" name="Text 12"/>
          <p:cNvSpPr/>
          <p:nvPr/>
        </p:nvSpPr>
        <p:spPr>
          <a:xfrm>
            <a:off x="3968496" y="5321808"/>
            <a:ext cx="4261104" cy="237744"/>
          </a:xfrm>
          <a:prstGeom prst="rect">
            <a:avLst/>
          </a:prstGeom>
          <a:noFill/>
          <a:ln/>
        </p:spPr>
        <p:txBody>
          <a:bodyPr wrap="square" lIns="0" tIns="0" rIns="0" bIns="0" rtlCol="0" anchor="t">
            <a:normAutofit/>
          </a:bodyPr>
          <a:lstStyle/>
          <a:p>
            <a:pPr algn="ctr" indent="0" marL="0">
              <a:lnSpc>
                <a:spcPct val="104000"/>
              </a:lnSpc>
              <a:buNone/>
            </a:pPr>
            <a:r>
              <a:rPr lang="en-US" sz="1350" b="1" dirty="0">
                <a:solidFill>
                  <a:srgbClr val="102A43"/>
                </a:solidFill>
                <a:latin typeface="PingFang SC" pitchFamily="34" charset="0"/>
                <a:ea typeface="PingFang SC" pitchFamily="34" charset="-122"/>
                <a:cs typeface="PingFang SC" pitchFamily="34" charset="-120"/>
              </a:rPr>
              <a:t>Shader Bundle 不包含完整 Pipeline。</a:t>
            </a:r>
            <a:endParaRPr lang="en-US" sz="1350" dirty="0"/>
          </a:p>
        </p:txBody>
      </p:sp>
      <p:sp>
        <p:nvSpPr>
          <p:cNvPr id="15" name="Shape 13"/>
          <p:cNvSpPr/>
          <p:nvPr/>
        </p:nvSpPr>
        <p:spPr>
          <a:xfrm>
            <a:off x="658368" y="5742432"/>
            <a:ext cx="10874959" cy="438912"/>
          </a:xfrm>
          <a:prstGeom prst="rect">
            <a:avLst/>
          </a:prstGeom>
          <a:solidFill>
            <a:srgbClr val="EFF7DF"/>
          </a:solidFill>
          <a:ln w="12700">
            <a:solidFill>
              <a:srgbClr val="EFF7DF"/>
            </a:solidFill>
            <a:prstDash val="solid"/>
          </a:ln>
        </p:spPr>
      </p:sp>
      <p:sp>
        <p:nvSpPr>
          <p:cNvPr id="16" name="Text 14"/>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AOT 的收益是前移可确定成本；其价值仍需与资产、内存和 GPU 代价共同衡量。</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256032"/>
            <a:ext cx="3840480" cy="182880"/>
          </a:xfrm>
          <a:prstGeom prst="rect">
            <a:avLst/>
          </a:prstGeom>
          <a:noFill/>
          <a:ln/>
        </p:spPr>
        <p:txBody>
          <a:bodyPr wrap="square" lIns="0" tIns="0" rIns="0" bIns="0" rtlCol="0" anchor="t">
            <a:normAutofit/>
          </a:bodyPr>
          <a:lstStyle/>
          <a:p>
            <a:pPr algn="l" indent="0" marL="0">
              <a:lnSpc>
                <a:spcPct val="104000"/>
              </a:lnSpc>
              <a:buNone/>
            </a:pPr>
            <a:r>
              <a:rPr lang="en-US" sz="1050" b="1" dirty="0">
                <a:solidFill>
                  <a:srgbClr val="4F7F00"/>
                </a:solidFill>
                <a:latin typeface="SF Mono" pitchFamily="34" charset="0"/>
                <a:ea typeface="SF Mono" pitchFamily="34" charset="-122"/>
                <a:cs typeface="SF Mono" pitchFamily="34" charset="-120"/>
              </a:rPr>
              <a:t>18 · EVIDENCE AND NEXT MEASUREMENTS</a:t>
            </a:r>
            <a:endParaRPr lang="en-US" sz="1050" dirty="0"/>
          </a:p>
        </p:txBody>
      </p:sp>
      <p:sp>
        <p:nvSpPr>
          <p:cNvPr id="3" name="Text 1"/>
          <p:cNvSpPr/>
          <p:nvPr/>
        </p:nvSpPr>
        <p:spPr>
          <a:xfrm>
            <a:off x="658368" y="530352"/>
            <a:ext cx="10874959" cy="694944"/>
          </a:xfrm>
          <a:prstGeom prst="rect">
            <a:avLst/>
          </a:prstGeom>
          <a:noFill/>
          <a:ln/>
        </p:spPr>
        <p:txBody>
          <a:bodyPr wrap="square" lIns="0" tIns="0" rIns="0" bIns="0" rtlCol="0" anchor="t">
            <a:normAutofit/>
          </a:bodyPr>
          <a:lstStyle/>
          <a:p>
            <a:pPr algn="l" indent="0" marL="0">
              <a:lnSpc>
                <a:spcPct val="104000"/>
              </a:lnSpc>
              <a:buNone/>
            </a:pPr>
            <a:r>
              <a:rPr lang="en-US" sz="3000" b="1" dirty="0">
                <a:solidFill>
                  <a:srgbClr val="102A43"/>
                </a:solidFill>
                <a:latin typeface="PingFang SC" pitchFamily="34" charset="0"/>
                <a:ea typeface="PingFang SC" pitchFamily="34" charset="-122"/>
                <a:cs typeface="PingFang SC" pitchFamily="34" charset="-120"/>
              </a:rPr>
              <a:t>已有证据与产品待测：机制闭环，价值由真实负载确认</a:t>
            </a:r>
            <a:endParaRPr lang="en-US" sz="3000" dirty="0"/>
          </a:p>
        </p:txBody>
      </p:sp>
      <p:sp>
        <p:nvSpPr>
          <p:cNvPr id="4" name="Shape 2"/>
          <p:cNvSpPr/>
          <p:nvPr/>
        </p:nvSpPr>
        <p:spPr>
          <a:xfrm>
            <a:off x="658368" y="6382512"/>
            <a:ext cx="10874959" cy="0"/>
          </a:xfrm>
          <a:prstGeom prst="line">
            <a:avLst/>
          </a:prstGeom>
          <a:noFill/>
          <a:ln w="10160">
            <a:solidFill>
              <a:srgbClr val="D9E2EC"/>
            </a:solidFill>
            <a:prstDash val="solid"/>
          </a:ln>
        </p:spPr>
      </p:sp>
      <p:sp>
        <p:nvSpPr>
          <p:cNvPr id="5" name="Text 3"/>
          <p:cNvSpPr/>
          <p:nvPr/>
        </p:nvSpPr>
        <p:spPr>
          <a:xfrm>
            <a:off x="658368" y="6473952"/>
            <a:ext cx="3657600" cy="146304"/>
          </a:xfrm>
          <a:prstGeom prst="rect">
            <a:avLst/>
          </a:prstGeom>
          <a:noFill/>
          <a:ln/>
        </p:spPr>
        <p:txBody>
          <a:bodyPr wrap="square" lIns="0" tIns="0" rIns="0" bIns="0" rtlCol="0" anchor="t">
            <a:normAutofit/>
          </a:bodyPr>
          <a:lstStyle/>
          <a:p>
            <a:pPr algn="l" indent="0" marL="0">
              <a:lnSpc>
                <a:spcPct val="104000"/>
              </a:lnSpc>
              <a:buNone/>
            </a:pPr>
            <a:r>
              <a:rPr lang="en-US" sz="950" dirty="0">
                <a:solidFill>
                  <a:srgbClr val="627D98"/>
                </a:solidFill>
                <a:latin typeface="SF Mono" pitchFamily="34" charset="0"/>
                <a:ea typeface="SF Mono" pitchFamily="34" charset="-122"/>
                <a:cs typeface="SF Mono" pitchFamily="34" charset="-120"/>
              </a:rPr>
              <a:t>TGFX AOT SHADER ARCHITECTURE</a:t>
            </a:r>
            <a:endParaRPr lang="en-US" sz="950" dirty="0"/>
          </a:p>
        </p:txBody>
      </p:sp>
      <p:sp>
        <p:nvSpPr>
          <p:cNvPr id="6" name="Text 4"/>
          <p:cNvSpPr/>
          <p:nvPr/>
        </p:nvSpPr>
        <p:spPr>
          <a:xfrm>
            <a:off x="11149279" y="6455664"/>
            <a:ext cx="384048" cy="164592"/>
          </a:xfrm>
          <a:prstGeom prst="rect">
            <a:avLst/>
          </a:prstGeom>
          <a:noFill/>
          <a:ln/>
        </p:spPr>
        <p:txBody>
          <a:bodyPr wrap="square" lIns="0" tIns="0" rIns="0" bIns="0" rtlCol="0" anchor="t">
            <a:normAutofit/>
          </a:bodyPr>
          <a:lstStyle/>
          <a:p>
            <a:pPr algn="r" indent="0" marL="0">
              <a:lnSpc>
                <a:spcPct val="104000"/>
              </a:lnSpc>
              <a:buNone/>
            </a:pPr>
            <a:r>
              <a:rPr lang="en-US" sz="1000" b="1" dirty="0">
                <a:solidFill>
                  <a:srgbClr val="102A43"/>
                </a:solidFill>
                <a:latin typeface="SF Mono" pitchFamily="34" charset="0"/>
                <a:ea typeface="SF Mono" pitchFamily="34" charset="-122"/>
                <a:cs typeface="SF Mono" pitchFamily="34" charset="-120"/>
              </a:rPr>
              <a:t>18</a:t>
            </a:r>
            <a:endParaRPr lang="en-US" sz="1000" dirty="0"/>
          </a:p>
        </p:txBody>
      </p:sp>
      <p:sp>
        <p:nvSpPr>
          <p:cNvPr id="7" name="Text 5"/>
          <p:cNvSpPr/>
          <p:nvPr/>
        </p:nvSpPr>
        <p:spPr>
          <a:xfrm>
            <a:off x="658368" y="1298448"/>
            <a:ext cx="10874959" cy="530352"/>
          </a:xfrm>
          <a:prstGeom prst="rect">
            <a:avLst/>
          </a:prstGeom>
          <a:noFill/>
          <a:ln/>
        </p:spPr>
        <p:txBody>
          <a:bodyPr wrap="square" lIns="0" tIns="0" rIns="0" bIns="0" rtlCol="0" anchor="t">
            <a:normAutofit/>
          </a:bodyPr>
          <a:lstStyle/>
          <a:p>
            <a:pPr algn="l" indent="0" marL="0">
              <a:lnSpc>
                <a:spcPct val="108000"/>
              </a:lnSpc>
              <a:buNone/>
            </a:pPr>
            <a:r>
              <a:rPr lang="en-US" sz="1600" dirty="0">
                <a:solidFill>
                  <a:srgbClr val="334E68"/>
                </a:solidFill>
                <a:latin typeface="PingFang SC" pitchFamily="34" charset="0"/>
                <a:ea typeface="PingFang SC" pitchFamily="34" charset="-122"/>
                <a:cs typeface="PingFang SC" pitchFamily="34" charset="-120"/>
              </a:rPr>
              <a:t>现有案例回答“能否工作”；产品化还要回答覆盖、资产、启动、GPU 与 Multi-pass 的净收益。 </a:t>
            </a:r>
            <a:endParaRPr lang="en-US" sz="1600" dirty="0"/>
          </a:p>
        </p:txBody>
      </p:sp>
      <p:sp>
        <p:nvSpPr>
          <p:cNvPr id="8" name="Text 6"/>
          <p:cNvSpPr/>
          <p:nvPr/>
        </p:nvSpPr>
        <p:spPr>
          <a:xfrm>
            <a:off x="768096" y="1865376"/>
            <a:ext cx="1828800" cy="25603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4F7F00"/>
                </a:solidFill>
                <a:latin typeface="PingFang SC" pitchFamily="34" charset="0"/>
                <a:ea typeface="PingFang SC" pitchFamily="34" charset="-122"/>
                <a:cs typeface="PingFang SC" pitchFamily="34" charset="-120"/>
              </a:rPr>
              <a:t>已有案例证据</a:t>
            </a:r>
            <a:endParaRPr lang="en-US" sz="1800" dirty="0"/>
          </a:p>
        </p:txBody>
      </p:sp>
      <p:sp>
        <p:nvSpPr>
          <p:cNvPr id="9" name="Shape 7"/>
          <p:cNvSpPr/>
          <p:nvPr/>
        </p:nvSpPr>
        <p:spPr>
          <a:xfrm>
            <a:off x="768096" y="2267712"/>
            <a:ext cx="1481328" cy="438912"/>
          </a:xfrm>
          <a:prstGeom prst="rect">
            <a:avLst/>
          </a:prstGeom>
          <a:solidFill>
            <a:srgbClr val="EFF7DF"/>
          </a:solidFill>
          <a:ln w="12700">
            <a:solidFill>
              <a:srgbClr val="EFF7DF"/>
            </a:solidFill>
            <a:prstDash val="solid"/>
          </a:ln>
        </p:spPr>
      </p:sp>
      <p:sp>
        <p:nvSpPr>
          <p:cNvPr id="10" name="Text 8"/>
          <p:cNvSpPr/>
          <p:nvPr/>
        </p:nvSpPr>
        <p:spPr>
          <a:xfrm>
            <a:off x="877824" y="2267712"/>
            <a:ext cx="1261872"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4F7F00"/>
                </a:solidFill>
                <a:latin typeface="PingFang SC" pitchFamily="34" charset="0"/>
                <a:ea typeface="PingFang SC" pitchFamily="34" charset="-122"/>
                <a:cs typeface="PingFang SC" pitchFamily="34" charset="-120"/>
              </a:rPr>
              <a:t>Bundle</a:t>
            </a:r>
            <a:endParaRPr lang="en-US" sz="1250" dirty="0"/>
          </a:p>
        </p:txBody>
      </p:sp>
      <p:sp>
        <p:nvSpPr>
          <p:cNvPr id="11" name="Text 9"/>
          <p:cNvSpPr/>
          <p:nvPr/>
        </p:nvSpPr>
        <p:spPr>
          <a:xfrm>
            <a:off x="2487168" y="2267712"/>
            <a:ext cx="2889504" cy="438912"/>
          </a:xfrm>
          <a:prstGeom prst="rect">
            <a:avLst/>
          </a:prstGeom>
          <a:noFill/>
          <a:ln/>
        </p:spPr>
        <p:txBody>
          <a:bodyPr wrap="square" lIns="0" tIns="0" rIns="0" bIns="0" rtlCol="0" anchor="ctr">
            <a:normAutofit/>
          </a:bodyPr>
          <a:lstStyle/>
          <a:p>
            <a:pPr algn="l" indent="0" marL="0">
              <a:lnSpc>
                <a:spcPct val="104000"/>
              </a:lnSpc>
              <a:buNone/>
            </a:pPr>
            <a:r>
              <a:rPr lang="en-US" sz="1340" b="1" dirty="0">
                <a:solidFill>
                  <a:srgbClr val="102A43"/>
                </a:solidFill>
                <a:latin typeface="PingFang SC" pitchFamily="34" charset="0"/>
                <a:ea typeface="PingFang SC" pitchFamily="34" charset="-122"/>
                <a:cs typeface="PingFang SC" pitchFamily="34" charset="-120"/>
              </a:rPr>
              <a:t>构建资产可定位并加载</a:t>
            </a:r>
            <a:endParaRPr lang="en-US" sz="1340" dirty="0"/>
          </a:p>
        </p:txBody>
      </p:sp>
      <p:sp>
        <p:nvSpPr>
          <p:cNvPr id="12" name="Shape 10"/>
          <p:cNvSpPr/>
          <p:nvPr/>
        </p:nvSpPr>
        <p:spPr>
          <a:xfrm>
            <a:off x="768096" y="2926080"/>
            <a:ext cx="1481328" cy="438912"/>
          </a:xfrm>
          <a:prstGeom prst="rect">
            <a:avLst/>
          </a:prstGeom>
          <a:solidFill>
            <a:srgbClr val="EFF7DF"/>
          </a:solidFill>
          <a:ln w="12700">
            <a:solidFill>
              <a:srgbClr val="EFF7DF"/>
            </a:solidFill>
            <a:prstDash val="solid"/>
          </a:ln>
        </p:spPr>
      </p:sp>
      <p:sp>
        <p:nvSpPr>
          <p:cNvPr id="13" name="Text 11"/>
          <p:cNvSpPr/>
          <p:nvPr/>
        </p:nvSpPr>
        <p:spPr>
          <a:xfrm>
            <a:off x="877824" y="2926080"/>
            <a:ext cx="1261872"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4F7F00"/>
                </a:solidFill>
                <a:latin typeface="PingFang SC" pitchFamily="34" charset="0"/>
                <a:ea typeface="PingFang SC" pitchFamily="34" charset="-122"/>
                <a:cs typeface="PingFang SC" pitchFamily="34" charset="-120"/>
              </a:rPr>
              <a:t>覆盖</a:t>
            </a:r>
            <a:endParaRPr lang="en-US" sz="1250" dirty="0"/>
          </a:p>
        </p:txBody>
      </p:sp>
      <p:sp>
        <p:nvSpPr>
          <p:cNvPr id="14" name="Text 12"/>
          <p:cNvSpPr/>
          <p:nvPr/>
        </p:nvSpPr>
        <p:spPr>
          <a:xfrm>
            <a:off x="2487168" y="2926080"/>
            <a:ext cx="2889504" cy="438912"/>
          </a:xfrm>
          <a:prstGeom prst="rect">
            <a:avLst/>
          </a:prstGeom>
          <a:noFill/>
          <a:ln/>
        </p:spPr>
        <p:txBody>
          <a:bodyPr wrap="square" lIns="0" tIns="0" rIns="0" bIns="0" rtlCol="0" anchor="ctr">
            <a:normAutofit/>
          </a:bodyPr>
          <a:lstStyle/>
          <a:p>
            <a:pPr algn="l" indent="0" marL="0">
              <a:lnSpc>
                <a:spcPct val="104000"/>
              </a:lnSpc>
              <a:buNone/>
            </a:pPr>
            <a:r>
              <a:rPr lang="en-US" sz="1340" b="1" dirty="0">
                <a:solidFill>
                  <a:srgbClr val="102A43"/>
                </a:solidFill>
                <a:latin typeface="PingFang SC" pitchFamily="34" charset="0"/>
                <a:ea typeface="PingFang SC" pitchFamily="34" charset="-122"/>
                <a:cs typeface="PingFang SC" pitchFamily="34" charset="-120"/>
              </a:rPr>
              <a:t>目标案例旧生成路径为 0</a:t>
            </a:r>
            <a:endParaRPr lang="en-US" sz="1340" dirty="0"/>
          </a:p>
        </p:txBody>
      </p:sp>
      <p:sp>
        <p:nvSpPr>
          <p:cNvPr id="15" name="Shape 13"/>
          <p:cNvSpPr/>
          <p:nvPr/>
        </p:nvSpPr>
        <p:spPr>
          <a:xfrm>
            <a:off x="768096" y="3584448"/>
            <a:ext cx="1481328" cy="438912"/>
          </a:xfrm>
          <a:prstGeom prst="rect">
            <a:avLst/>
          </a:prstGeom>
          <a:solidFill>
            <a:srgbClr val="EFF7DF"/>
          </a:solidFill>
          <a:ln w="12700">
            <a:solidFill>
              <a:srgbClr val="EFF7DF"/>
            </a:solidFill>
            <a:prstDash val="solid"/>
          </a:ln>
        </p:spPr>
      </p:sp>
      <p:sp>
        <p:nvSpPr>
          <p:cNvPr id="16" name="Text 14"/>
          <p:cNvSpPr/>
          <p:nvPr/>
        </p:nvSpPr>
        <p:spPr>
          <a:xfrm>
            <a:off x="877824" y="3584448"/>
            <a:ext cx="1261872"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4F7F00"/>
                </a:solidFill>
                <a:latin typeface="PingFang SC" pitchFamily="34" charset="0"/>
                <a:ea typeface="PingFang SC" pitchFamily="34" charset="-122"/>
                <a:cs typeface="PingFang SC" pitchFamily="34" charset="-120"/>
              </a:rPr>
              <a:t>Metal</a:t>
            </a:r>
            <a:endParaRPr lang="en-US" sz="1250" dirty="0"/>
          </a:p>
        </p:txBody>
      </p:sp>
      <p:sp>
        <p:nvSpPr>
          <p:cNvPr id="17" name="Text 15"/>
          <p:cNvSpPr/>
          <p:nvPr/>
        </p:nvSpPr>
        <p:spPr>
          <a:xfrm>
            <a:off x="2487168" y="3584448"/>
            <a:ext cx="2889504" cy="438912"/>
          </a:xfrm>
          <a:prstGeom prst="rect">
            <a:avLst/>
          </a:prstGeom>
          <a:noFill/>
          <a:ln/>
        </p:spPr>
        <p:txBody>
          <a:bodyPr wrap="square" lIns="0" tIns="0" rIns="0" bIns="0" rtlCol="0" anchor="ctr">
            <a:normAutofit/>
          </a:bodyPr>
          <a:lstStyle/>
          <a:p>
            <a:pPr algn="l" indent="0" marL="0">
              <a:lnSpc>
                <a:spcPct val="104000"/>
              </a:lnSpc>
              <a:buNone/>
            </a:pPr>
            <a:r>
              <a:rPr lang="en-US" sz="1340" b="1" dirty="0">
                <a:solidFill>
                  <a:srgbClr val="102A43"/>
                </a:solidFill>
                <a:latin typeface="PingFang SC" pitchFamily="34" charset="0"/>
                <a:ea typeface="PingFang SC" pitchFamily="34" charset="-122"/>
                <a:cs typeface="PingFang SC" pitchFamily="34" charset="-120"/>
              </a:rPr>
              <a:t>限定案例像素 byte-exact</a:t>
            </a:r>
            <a:endParaRPr lang="en-US" sz="1340" dirty="0"/>
          </a:p>
        </p:txBody>
      </p:sp>
      <p:sp>
        <p:nvSpPr>
          <p:cNvPr id="18" name="Shape 16"/>
          <p:cNvSpPr/>
          <p:nvPr/>
        </p:nvSpPr>
        <p:spPr>
          <a:xfrm>
            <a:off x="768096" y="4242816"/>
            <a:ext cx="1481328" cy="438912"/>
          </a:xfrm>
          <a:prstGeom prst="rect">
            <a:avLst/>
          </a:prstGeom>
          <a:solidFill>
            <a:srgbClr val="EFF7DF"/>
          </a:solidFill>
          <a:ln w="12700">
            <a:solidFill>
              <a:srgbClr val="EFF7DF"/>
            </a:solidFill>
            <a:prstDash val="solid"/>
          </a:ln>
        </p:spPr>
      </p:sp>
      <p:sp>
        <p:nvSpPr>
          <p:cNvPr id="19" name="Text 17"/>
          <p:cNvSpPr/>
          <p:nvPr/>
        </p:nvSpPr>
        <p:spPr>
          <a:xfrm>
            <a:off x="877824" y="4242816"/>
            <a:ext cx="1261872"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4F7F00"/>
                </a:solidFill>
                <a:latin typeface="PingFang SC" pitchFamily="34" charset="0"/>
                <a:ea typeface="PingFang SC" pitchFamily="34" charset="-122"/>
                <a:cs typeface="PingFang SC" pitchFamily="34" charset="-120"/>
              </a:rPr>
              <a:t>Multi-pass</a:t>
            </a:r>
            <a:endParaRPr lang="en-US" sz="1250" dirty="0"/>
          </a:p>
        </p:txBody>
      </p:sp>
      <p:sp>
        <p:nvSpPr>
          <p:cNvPr id="20" name="Text 18"/>
          <p:cNvSpPr/>
          <p:nvPr/>
        </p:nvSpPr>
        <p:spPr>
          <a:xfrm>
            <a:off x="2487168" y="4242816"/>
            <a:ext cx="2889504" cy="438912"/>
          </a:xfrm>
          <a:prstGeom prst="rect">
            <a:avLst/>
          </a:prstGeom>
          <a:noFill/>
          <a:ln/>
        </p:spPr>
        <p:txBody>
          <a:bodyPr wrap="square" lIns="0" tIns="0" rIns="0" bIns="0" rtlCol="0" anchor="ctr">
            <a:normAutofit/>
          </a:bodyPr>
          <a:lstStyle/>
          <a:p>
            <a:pPr algn="l" indent="0" marL="0">
              <a:lnSpc>
                <a:spcPct val="104000"/>
              </a:lnSpc>
              <a:buNone/>
            </a:pPr>
            <a:r>
              <a:rPr lang="en-US" sz="1340" b="1" dirty="0">
                <a:solidFill>
                  <a:srgbClr val="102A43"/>
                </a:solidFill>
                <a:latin typeface="PingFang SC" pitchFamily="34" charset="0"/>
                <a:ea typeface="PingFang SC" pitchFamily="34" charset="-122"/>
                <a:cs typeface="PingFang SC" pitchFamily="34" charset="-120"/>
              </a:rPr>
              <a:t>安全线性链由多个预编译 Pass 执行</a:t>
            </a:r>
            <a:endParaRPr lang="en-US" sz="1340" dirty="0"/>
          </a:p>
        </p:txBody>
      </p:sp>
      <p:sp>
        <p:nvSpPr>
          <p:cNvPr id="21" name="Shape 19"/>
          <p:cNvSpPr/>
          <p:nvPr/>
        </p:nvSpPr>
        <p:spPr>
          <a:xfrm>
            <a:off x="5852160" y="1865376"/>
            <a:ext cx="0" cy="3291840"/>
          </a:xfrm>
          <a:prstGeom prst="line">
            <a:avLst/>
          </a:prstGeom>
          <a:noFill/>
          <a:ln w="15240">
            <a:solidFill>
              <a:srgbClr val="D9E2EC"/>
            </a:solidFill>
            <a:prstDash val="solid"/>
          </a:ln>
        </p:spPr>
      </p:sp>
      <p:sp>
        <p:nvSpPr>
          <p:cNvPr id="22" name="Text 20"/>
          <p:cNvSpPr/>
          <p:nvPr/>
        </p:nvSpPr>
        <p:spPr>
          <a:xfrm>
            <a:off x="6291072" y="1865376"/>
            <a:ext cx="2286000" cy="25603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D95D4F"/>
                </a:solidFill>
                <a:latin typeface="PingFang SC" pitchFamily="34" charset="0"/>
                <a:ea typeface="PingFang SC" pitchFamily="34" charset="-122"/>
                <a:cs typeface="PingFang SC" pitchFamily="34" charset="-120"/>
              </a:rPr>
              <a:t>产品待测与发布闭环</a:t>
            </a:r>
            <a:endParaRPr lang="en-US" sz="1800" dirty="0"/>
          </a:p>
        </p:txBody>
      </p:sp>
      <p:sp>
        <p:nvSpPr>
          <p:cNvPr id="23" name="Shape 21"/>
          <p:cNvSpPr/>
          <p:nvPr/>
        </p:nvSpPr>
        <p:spPr>
          <a:xfrm>
            <a:off x="6291072" y="2267712"/>
            <a:ext cx="1225296" cy="438912"/>
          </a:xfrm>
          <a:prstGeom prst="rect">
            <a:avLst/>
          </a:prstGeom>
          <a:solidFill>
            <a:srgbClr val="FBECE9"/>
          </a:solidFill>
          <a:ln w="12700">
            <a:solidFill>
              <a:srgbClr val="FBECE9"/>
            </a:solidFill>
            <a:prstDash val="solid"/>
          </a:ln>
        </p:spPr>
      </p:sp>
      <p:sp>
        <p:nvSpPr>
          <p:cNvPr id="24" name="Text 22"/>
          <p:cNvSpPr/>
          <p:nvPr/>
        </p:nvSpPr>
        <p:spPr>
          <a:xfrm>
            <a:off x="6400800" y="2267712"/>
            <a:ext cx="1005840"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D95D4F"/>
                </a:solidFill>
                <a:latin typeface="PingFang SC" pitchFamily="34" charset="0"/>
                <a:ea typeface="PingFang SC" pitchFamily="34" charset="-122"/>
                <a:cs typeface="PingFang SC" pitchFamily="34" charset="-120"/>
              </a:rPr>
              <a:t>覆盖</a:t>
            </a:r>
            <a:endParaRPr lang="en-US" sz="1250" dirty="0"/>
          </a:p>
        </p:txBody>
      </p:sp>
      <p:sp>
        <p:nvSpPr>
          <p:cNvPr id="25" name="Text 23"/>
          <p:cNvSpPr/>
          <p:nvPr/>
        </p:nvSpPr>
        <p:spPr>
          <a:xfrm>
            <a:off x="7772400" y="2267712"/>
            <a:ext cx="3438144" cy="438912"/>
          </a:xfrm>
          <a:prstGeom prst="rect">
            <a:avLst/>
          </a:prstGeom>
          <a:noFill/>
          <a:ln/>
        </p:spPr>
        <p:txBody>
          <a:bodyPr wrap="square" lIns="0" tIns="0" rIns="0" bIns="0" rtlCol="0" anchor="ctr">
            <a:normAutofit/>
          </a:bodyPr>
          <a:lstStyle/>
          <a:p>
            <a:pPr algn="l" indent="0" marL="0">
              <a:lnSpc>
                <a:spcPct val="104000"/>
              </a:lnSpc>
              <a:buNone/>
            </a:pPr>
            <a:r>
              <a:rPr lang="en-US" sz="1320" b="1" dirty="0">
                <a:solidFill>
                  <a:srgbClr val="102A43"/>
                </a:solidFill>
                <a:latin typeface="PingFang SC" pitchFamily="34" charset="0"/>
                <a:ea typeface="PingFang SC" pitchFamily="34" charset="-122"/>
                <a:cs typeface="PingFang SC" pitchFamily="34" charset="-120"/>
              </a:rPr>
              <a:t>真实 workload 的命中与不可切分结构</a:t>
            </a:r>
            <a:endParaRPr lang="en-US" sz="1320" dirty="0"/>
          </a:p>
        </p:txBody>
      </p:sp>
      <p:sp>
        <p:nvSpPr>
          <p:cNvPr id="26" name="Shape 24"/>
          <p:cNvSpPr/>
          <p:nvPr/>
        </p:nvSpPr>
        <p:spPr>
          <a:xfrm>
            <a:off x="6291072" y="2926080"/>
            <a:ext cx="1225296" cy="438912"/>
          </a:xfrm>
          <a:prstGeom prst="rect">
            <a:avLst/>
          </a:prstGeom>
          <a:solidFill>
            <a:srgbClr val="FBECE9"/>
          </a:solidFill>
          <a:ln w="12700">
            <a:solidFill>
              <a:srgbClr val="FBECE9"/>
            </a:solidFill>
            <a:prstDash val="solid"/>
          </a:ln>
        </p:spPr>
      </p:sp>
      <p:sp>
        <p:nvSpPr>
          <p:cNvPr id="27" name="Text 25"/>
          <p:cNvSpPr/>
          <p:nvPr/>
        </p:nvSpPr>
        <p:spPr>
          <a:xfrm>
            <a:off x="6400800" y="2926080"/>
            <a:ext cx="1005840"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D95D4F"/>
                </a:solidFill>
                <a:latin typeface="PingFang SC" pitchFamily="34" charset="0"/>
                <a:ea typeface="PingFang SC" pitchFamily="34" charset="-122"/>
                <a:cs typeface="PingFang SC" pitchFamily="34" charset="-120"/>
              </a:rPr>
              <a:t>资产</a:t>
            </a:r>
            <a:endParaRPr lang="en-US" sz="1250" dirty="0"/>
          </a:p>
        </p:txBody>
      </p:sp>
      <p:sp>
        <p:nvSpPr>
          <p:cNvPr id="28" name="Text 26"/>
          <p:cNvSpPr/>
          <p:nvPr/>
        </p:nvSpPr>
        <p:spPr>
          <a:xfrm>
            <a:off x="7772400" y="2926080"/>
            <a:ext cx="3438144" cy="438912"/>
          </a:xfrm>
          <a:prstGeom prst="rect">
            <a:avLst/>
          </a:prstGeom>
          <a:noFill/>
          <a:ln/>
        </p:spPr>
        <p:txBody>
          <a:bodyPr wrap="square" lIns="0" tIns="0" rIns="0" bIns="0" rtlCol="0" anchor="ctr">
            <a:normAutofit/>
          </a:bodyPr>
          <a:lstStyle/>
          <a:p>
            <a:pPr algn="l" indent="0" marL="0">
              <a:lnSpc>
                <a:spcPct val="104000"/>
              </a:lnSpc>
              <a:buNone/>
            </a:pPr>
            <a:r>
              <a:rPr lang="en-US" sz="1320" b="1" dirty="0">
                <a:solidFill>
                  <a:srgbClr val="102A43"/>
                </a:solidFill>
                <a:latin typeface="PingFang SC" pitchFamily="34" charset="0"/>
                <a:ea typeface="PingFang SC" pitchFamily="34" charset="-122"/>
                <a:cs typeface="PingFang SC" pitchFamily="34" charset="-120"/>
              </a:rPr>
              <a:t>构建时间、Bundle 体积、加载与内存</a:t>
            </a:r>
            <a:endParaRPr lang="en-US" sz="1320" dirty="0"/>
          </a:p>
        </p:txBody>
      </p:sp>
      <p:sp>
        <p:nvSpPr>
          <p:cNvPr id="29" name="Shape 27"/>
          <p:cNvSpPr/>
          <p:nvPr/>
        </p:nvSpPr>
        <p:spPr>
          <a:xfrm>
            <a:off x="6291072" y="3584448"/>
            <a:ext cx="1225296" cy="438912"/>
          </a:xfrm>
          <a:prstGeom prst="rect">
            <a:avLst/>
          </a:prstGeom>
          <a:solidFill>
            <a:srgbClr val="FBECE9"/>
          </a:solidFill>
          <a:ln w="12700">
            <a:solidFill>
              <a:srgbClr val="FBECE9"/>
            </a:solidFill>
            <a:prstDash val="solid"/>
          </a:ln>
        </p:spPr>
      </p:sp>
      <p:sp>
        <p:nvSpPr>
          <p:cNvPr id="30" name="Text 28"/>
          <p:cNvSpPr/>
          <p:nvPr/>
        </p:nvSpPr>
        <p:spPr>
          <a:xfrm>
            <a:off x="6400800" y="3584448"/>
            <a:ext cx="1005840"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D95D4F"/>
                </a:solidFill>
                <a:latin typeface="PingFang SC" pitchFamily="34" charset="0"/>
                <a:ea typeface="PingFang SC" pitchFamily="34" charset="-122"/>
                <a:cs typeface="PingFang SC" pitchFamily="34" charset="-120"/>
              </a:rPr>
              <a:t>性能</a:t>
            </a:r>
            <a:endParaRPr lang="en-US" sz="1250" dirty="0"/>
          </a:p>
        </p:txBody>
      </p:sp>
      <p:sp>
        <p:nvSpPr>
          <p:cNvPr id="31" name="Text 29"/>
          <p:cNvSpPr/>
          <p:nvPr/>
        </p:nvSpPr>
        <p:spPr>
          <a:xfrm>
            <a:off x="7772400" y="3584448"/>
            <a:ext cx="3438144" cy="438912"/>
          </a:xfrm>
          <a:prstGeom prst="rect">
            <a:avLst/>
          </a:prstGeom>
          <a:noFill/>
          <a:ln/>
        </p:spPr>
        <p:txBody>
          <a:bodyPr wrap="square" lIns="0" tIns="0" rIns="0" bIns="0" rtlCol="0" anchor="ctr">
            <a:normAutofit/>
          </a:bodyPr>
          <a:lstStyle/>
          <a:p>
            <a:pPr algn="l" indent="0" marL="0">
              <a:lnSpc>
                <a:spcPct val="104000"/>
              </a:lnSpc>
              <a:buNone/>
            </a:pPr>
            <a:r>
              <a:rPr lang="en-US" sz="1320" b="1" dirty="0">
                <a:solidFill>
                  <a:srgbClr val="102A43"/>
                </a:solidFill>
                <a:latin typeface="PingFang SC" pitchFamily="34" charset="0"/>
                <a:ea typeface="PingFang SC" pitchFamily="34" charset="-122"/>
                <a:cs typeface="PingFang SC" pitchFamily="34" charset="-120"/>
              </a:rPr>
              <a:t>cold start、CPU / GPU、Shader 与 Multi-pass</a:t>
            </a:r>
            <a:endParaRPr lang="en-US" sz="1320" dirty="0"/>
          </a:p>
        </p:txBody>
      </p:sp>
      <p:sp>
        <p:nvSpPr>
          <p:cNvPr id="32" name="Shape 30"/>
          <p:cNvSpPr/>
          <p:nvPr/>
        </p:nvSpPr>
        <p:spPr>
          <a:xfrm>
            <a:off x="6291072" y="4242816"/>
            <a:ext cx="1225296" cy="438912"/>
          </a:xfrm>
          <a:prstGeom prst="rect">
            <a:avLst/>
          </a:prstGeom>
          <a:solidFill>
            <a:srgbClr val="FBECE9"/>
          </a:solidFill>
          <a:ln w="12700">
            <a:solidFill>
              <a:srgbClr val="FBECE9"/>
            </a:solidFill>
            <a:prstDash val="solid"/>
          </a:ln>
        </p:spPr>
      </p:sp>
      <p:sp>
        <p:nvSpPr>
          <p:cNvPr id="33" name="Text 31"/>
          <p:cNvSpPr/>
          <p:nvPr/>
        </p:nvSpPr>
        <p:spPr>
          <a:xfrm>
            <a:off x="6400800" y="4242816"/>
            <a:ext cx="1005840" cy="438912"/>
          </a:xfrm>
          <a:prstGeom prst="rect">
            <a:avLst/>
          </a:prstGeom>
          <a:noFill/>
          <a:ln/>
        </p:spPr>
        <p:txBody>
          <a:bodyPr wrap="square" lIns="0" tIns="0" rIns="0" bIns="0" rtlCol="0" anchor="ctr">
            <a:normAutofit/>
          </a:bodyPr>
          <a:lstStyle/>
          <a:p>
            <a:pPr algn="ctr" indent="0" marL="0">
              <a:lnSpc>
                <a:spcPct val="104000"/>
              </a:lnSpc>
              <a:buNone/>
            </a:pPr>
            <a:r>
              <a:rPr lang="en-US" sz="1250" b="1" dirty="0">
                <a:solidFill>
                  <a:srgbClr val="D95D4F"/>
                </a:solidFill>
                <a:latin typeface="PingFang SC" pitchFamily="34" charset="0"/>
                <a:ea typeface="PingFang SC" pitchFamily="34" charset="-122"/>
                <a:cs typeface="PingFang SC" pitchFamily="34" charset="-120"/>
              </a:rPr>
              <a:t>发布</a:t>
            </a:r>
            <a:endParaRPr lang="en-US" sz="1250" dirty="0"/>
          </a:p>
        </p:txBody>
      </p:sp>
      <p:sp>
        <p:nvSpPr>
          <p:cNvPr id="34" name="Text 32"/>
          <p:cNvSpPr/>
          <p:nvPr/>
        </p:nvSpPr>
        <p:spPr>
          <a:xfrm>
            <a:off x="7772400" y="4242816"/>
            <a:ext cx="3438144" cy="438912"/>
          </a:xfrm>
          <a:prstGeom prst="rect">
            <a:avLst/>
          </a:prstGeom>
          <a:noFill/>
          <a:ln/>
        </p:spPr>
        <p:txBody>
          <a:bodyPr wrap="square" lIns="0" tIns="0" rIns="0" bIns="0" rtlCol="0" anchor="ctr">
            <a:normAutofit/>
          </a:bodyPr>
          <a:lstStyle/>
          <a:p>
            <a:pPr algn="l" indent="0" marL="0">
              <a:lnSpc>
                <a:spcPct val="104000"/>
              </a:lnSpc>
              <a:buNone/>
            </a:pPr>
            <a:r>
              <a:rPr lang="en-US" sz="1320" b="1" dirty="0">
                <a:solidFill>
                  <a:srgbClr val="102A43"/>
                </a:solidFill>
                <a:latin typeface="PingFang SC" pitchFamily="34" charset="0"/>
                <a:ea typeface="PingFang SC" pitchFamily="34" charset="-122"/>
                <a:cs typeface="PingFang SC" pitchFamily="34" charset="-120"/>
              </a:rPr>
              <a:t>Backend 版本匹配、回滚与兼容策略</a:t>
            </a:r>
            <a:endParaRPr lang="en-US" sz="1320" dirty="0"/>
          </a:p>
        </p:txBody>
      </p:sp>
      <p:sp>
        <p:nvSpPr>
          <p:cNvPr id="35" name="Shape 33"/>
          <p:cNvSpPr/>
          <p:nvPr/>
        </p:nvSpPr>
        <p:spPr>
          <a:xfrm>
            <a:off x="932688" y="5102352"/>
            <a:ext cx="1872691" cy="512064"/>
          </a:xfrm>
          <a:prstGeom prst="rect">
            <a:avLst/>
          </a:prstGeom>
          <a:solidFill>
            <a:srgbClr val="E6F4F3"/>
          </a:solidFill>
          <a:ln w="12700">
            <a:solidFill>
              <a:srgbClr val="E6F4F3"/>
            </a:solidFill>
            <a:prstDash val="solid"/>
          </a:ln>
        </p:spPr>
      </p:sp>
      <p:sp>
        <p:nvSpPr>
          <p:cNvPr id="36" name="Text 34"/>
          <p:cNvSpPr/>
          <p:nvPr/>
        </p:nvSpPr>
        <p:spPr>
          <a:xfrm>
            <a:off x="1042416" y="5102352"/>
            <a:ext cx="1653235" cy="512064"/>
          </a:xfrm>
          <a:prstGeom prst="rect">
            <a:avLst/>
          </a:prstGeom>
          <a:noFill/>
          <a:ln/>
        </p:spPr>
        <p:txBody>
          <a:bodyPr wrap="square" lIns="0" tIns="0" rIns="0" bIns="0" rtlCol="0" anchor="ctr">
            <a:normAutofit/>
          </a:bodyPr>
          <a:lstStyle/>
          <a:p>
            <a:pPr algn="ctr" indent="0" marL="0">
              <a:lnSpc>
                <a:spcPct val="104000"/>
              </a:lnSpc>
              <a:buNone/>
            </a:pPr>
            <a:r>
              <a:rPr lang="en-US" sz="1500" b="1" dirty="0">
                <a:solidFill>
                  <a:srgbClr val="008C8C"/>
                </a:solidFill>
                <a:latin typeface="PingFang SC" pitchFamily="34" charset="0"/>
                <a:ea typeface="PingFang SC" pitchFamily="34" charset="-122"/>
                <a:cs typeface="PingFang SC" pitchFamily="34" charset="-120"/>
              </a:rPr>
              <a:t>开放输入</a:t>
            </a:r>
            <a:endParaRPr lang="en-US" sz="1500" dirty="0"/>
          </a:p>
        </p:txBody>
      </p:sp>
      <p:sp>
        <p:nvSpPr>
          <p:cNvPr id="37" name="Shape 35"/>
          <p:cNvSpPr/>
          <p:nvPr/>
        </p:nvSpPr>
        <p:spPr>
          <a:xfrm>
            <a:off x="2841955" y="5358384"/>
            <a:ext cx="164592" cy="0"/>
          </a:xfrm>
          <a:prstGeom prst="line">
            <a:avLst/>
          </a:prstGeom>
          <a:noFill/>
          <a:ln w="22860">
            <a:solidFill>
              <a:srgbClr val="76B900"/>
            </a:solidFill>
            <a:prstDash val="solid"/>
            <a:tailEnd type="triangle"/>
          </a:ln>
        </p:spPr>
      </p:sp>
      <p:sp>
        <p:nvSpPr>
          <p:cNvPr id="38" name="Shape 36"/>
          <p:cNvSpPr/>
          <p:nvPr/>
        </p:nvSpPr>
        <p:spPr>
          <a:xfrm>
            <a:off x="3043123" y="5102352"/>
            <a:ext cx="1872691" cy="512064"/>
          </a:xfrm>
          <a:prstGeom prst="rect">
            <a:avLst/>
          </a:prstGeom>
          <a:solidFill>
            <a:srgbClr val="EFF7DF"/>
          </a:solidFill>
          <a:ln w="12700">
            <a:solidFill>
              <a:srgbClr val="EFF7DF"/>
            </a:solidFill>
            <a:prstDash val="solid"/>
          </a:ln>
        </p:spPr>
      </p:sp>
      <p:sp>
        <p:nvSpPr>
          <p:cNvPr id="39" name="Text 37"/>
          <p:cNvSpPr/>
          <p:nvPr/>
        </p:nvSpPr>
        <p:spPr>
          <a:xfrm>
            <a:off x="3152851" y="5102352"/>
            <a:ext cx="1653235" cy="512064"/>
          </a:xfrm>
          <a:prstGeom prst="rect">
            <a:avLst/>
          </a:prstGeom>
          <a:noFill/>
          <a:ln/>
        </p:spPr>
        <p:txBody>
          <a:bodyPr wrap="square" lIns="0" tIns="0" rIns="0" bIns="0" rtlCol="0" anchor="ctr">
            <a:normAutofit/>
          </a:bodyPr>
          <a:lstStyle/>
          <a:p>
            <a:pPr algn="ctr" indent="0" marL="0">
              <a:lnSpc>
                <a:spcPct val="104000"/>
              </a:lnSpc>
              <a:buNone/>
            </a:pPr>
            <a:r>
              <a:rPr lang="en-US" sz="1240" b="1" dirty="0">
                <a:solidFill>
                  <a:srgbClr val="4F7F00"/>
                </a:solidFill>
                <a:latin typeface="PingFang SC" pitchFamily="34" charset="0"/>
                <a:ea typeface="PingFang SC" pitchFamily="34" charset="-122"/>
                <a:cs typeface="PingFang SC" pitchFamily="34" charset="-120"/>
              </a:rPr>
              <a:t>库内规则映射</a:t>
            </a:r>
            <a:endParaRPr lang="en-US" sz="1240" dirty="0"/>
          </a:p>
        </p:txBody>
      </p:sp>
      <p:sp>
        <p:nvSpPr>
          <p:cNvPr id="40" name="Shape 38"/>
          <p:cNvSpPr/>
          <p:nvPr/>
        </p:nvSpPr>
        <p:spPr>
          <a:xfrm>
            <a:off x="4952390" y="5358384"/>
            <a:ext cx="164592" cy="0"/>
          </a:xfrm>
          <a:prstGeom prst="line">
            <a:avLst/>
          </a:prstGeom>
          <a:noFill/>
          <a:ln w="22860">
            <a:solidFill>
              <a:srgbClr val="76B900"/>
            </a:solidFill>
            <a:prstDash val="solid"/>
            <a:tailEnd type="triangle"/>
          </a:ln>
        </p:spPr>
      </p:sp>
      <p:sp>
        <p:nvSpPr>
          <p:cNvPr id="41" name="Shape 39"/>
          <p:cNvSpPr/>
          <p:nvPr/>
        </p:nvSpPr>
        <p:spPr>
          <a:xfrm>
            <a:off x="5153558" y="5102352"/>
            <a:ext cx="1872691" cy="512064"/>
          </a:xfrm>
          <a:prstGeom prst="rect">
            <a:avLst/>
          </a:prstGeom>
          <a:solidFill>
            <a:srgbClr val="F4F7F9"/>
          </a:solidFill>
          <a:ln w="12700">
            <a:solidFill>
              <a:srgbClr val="F4F7F9"/>
            </a:solidFill>
            <a:prstDash val="solid"/>
          </a:ln>
        </p:spPr>
      </p:sp>
      <p:sp>
        <p:nvSpPr>
          <p:cNvPr id="42" name="Text 40"/>
          <p:cNvSpPr/>
          <p:nvPr/>
        </p:nvSpPr>
        <p:spPr>
          <a:xfrm>
            <a:off x="5263286" y="5102352"/>
            <a:ext cx="1653235" cy="512064"/>
          </a:xfrm>
          <a:prstGeom prst="rect">
            <a:avLst/>
          </a:prstGeom>
          <a:noFill/>
          <a:ln/>
        </p:spPr>
        <p:txBody>
          <a:bodyPr wrap="square" lIns="0" tIns="0" rIns="0" bIns="0" rtlCol="0" anchor="ctr">
            <a:normAutofit/>
          </a:bodyPr>
          <a:lstStyle/>
          <a:p>
            <a:pPr algn="ctr" indent="0" marL="0">
              <a:lnSpc>
                <a:spcPct val="104000"/>
              </a:lnSpc>
              <a:buNone/>
            </a:pPr>
            <a:r>
              <a:rPr lang="en-US" sz="1080" b="1" dirty="0">
                <a:solidFill>
                  <a:srgbClr val="102A43"/>
                </a:solidFill>
                <a:latin typeface="SF Mono" pitchFamily="34" charset="0"/>
                <a:ea typeface="SF Mono" pitchFamily="34" charset="-122"/>
                <a:cs typeface="SF Mono" pitchFamily="34" charset="-120"/>
              </a:rPr>
              <a:t>PrecompiledShader</a:t>
            </a:r>
            <a:endParaRPr lang="en-US" sz="1080" dirty="0"/>
          </a:p>
          <a:p>
            <a:pPr algn="ctr" indent="0" marL="0">
              <a:lnSpc>
                <a:spcPct val="104000"/>
              </a:lnSpc>
              <a:buNone/>
            </a:pPr>
            <a:r>
              <a:rPr lang="en-US" sz="1080" b="1" dirty="0">
                <a:solidFill>
                  <a:srgbClr val="102A43"/>
                </a:solidFill>
                <a:latin typeface="SF Mono" pitchFamily="34" charset="0"/>
                <a:ea typeface="SF Mono" pitchFamily="34" charset="-122"/>
                <a:cs typeface="SF Mono" pitchFamily="34" charset="-120"/>
              </a:rPr>
              <a:t>permutation</a:t>
            </a:r>
            <a:endParaRPr lang="en-US" sz="1080" dirty="0"/>
          </a:p>
        </p:txBody>
      </p:sp>
      <p:sp>
        <p:nvSpPr>
          <p:cNvPr id="43" name="Shape 41"/>
          <p:cNvSpPr/>
          <p:nvPr/>
        </p:nvSpPr>
        <p:spPr>
          <a:xfrm>
            <a:off x="7062826" y="5358384"/>
            <a:ext cx="164592" cy="0"/>
          </a:xfrm>
          <a:prstGeom prst="line">
            <a:avLst/>
          </a:prstGeom>
          <a:noFill/>
          <a:ln w="22860">
            <a:solidFill>
              <a:srgbClr val="76B900"/>
            </a:solidFill>
            <a:prstDash val="solid"/>
            <a:tailEnd type="triangle"/>
          </a:ln>
        </p:spPr>
      </p:sp>
      <p:sp>
        <p:nvSpPr>
          <p:cNvPr id="44" name="Shape 42"/>
          <p:cNvSpPr/>
          <p:nvPr/>
        </p:nvSpPr>
        <p:spPr>
          <a:xfrm>
            <a:off x="7263994" y="5102352"/>
            <a:ext cx="1872691" cy="512064"/>
          </a:xfrm>
          <a:prstGeom prst="rect">
            <a:avLst/>
          </a:prstGeom>
          <a:solidFill>
            <a:srgbClr val="FBECE9"/>
          </a:solidFill>
          <a:ln w="12700">
            <a:solidFill>
              <a:srgbClr val="FBECE9"/>
            </a:solidFill>
            <a:prstDash val="solid"/>
          </a:ln>
        </p:spPr>
      </p:sp>
      <p:sp>
        <p:nvSpPr>
          <p:cNvPr id="45" name="Text 43"/>
          <p:cNvSpPr/>
          <p:nvPr/>
        </p:nvSpPr>
        <p:spPr>
          <a:xfrm>
            <a:off x="7373722" y="5102352"/>
            <a:ext cx="1653235" cy="512064"/>
          </a:xfrm>
          <a:prstGeom prst="rect">
            <a:avLst/>
          </a:prstGeom>
          <a:noFill/>
          <a:ln/>
        </p:spPr>
        <p:txBody>
          <a:bodyPr wrap="square" lIns="0" tIns="0" rIns="0" bIns="0" rtlCol="0" anchor="ctr">
            <a:normAutofit/>
          </a:bodyPr>
          <a:lstStyle/>
          <a:p>
            <a:pPr algn="ctr" indent="0" marL="0">
              <a:lnSpc>
                <a:spcPct val="104000"/>
              </a:lnSpc>
              <a:buNone/>
            </a:pPr>
            <a:r>
              <a:rPr lang="en-US" sz="1220" b="1" dirty="0">
                <a:solidFill>
                  <a:srgbClr val="D95D4F"/>
                </a:solidFill>
                <a:latin typeface="PingFang SC" pitchFamily="34" charset="0"/>
                <a:ea typeface="PingFang SC" pitchFamily="34" charset="-122"/>
                <a:cs typeface="PingFang SC" pitchFamily="34" charset="-120"/>
              </a:rPr>
              <a:t>安全 Multi-pass</a:t>
            </a:r>
            <a:endParaRPr lang="en-US" sz="1220" dirty="0"/>
          </a:p>
        </p:txBody>
      </p:sp>
      <p:sp>
        <p:nvSpPr>
          <p:cNvPr id="46" name="Shape 44"/>
          <p:cNvSpPr/>
          <p:nvPr/>
        </p:nvSpPr>
        <p:spPr>
          <a:xfrm>
            <a:off x="9173261" y="5358384"/>
            <a:ext cx="164592" cy="0"/>
          </a:xfrm>
          <a:prstGeom prst="line">
            <a:avLst/>
          </a:prstGeom>
          <a:noFill/>
          <a:ln w="22860">
            <a:solidFill>
              <a:srgbClr val="76B900"/>
            </a:solidFill>
            <a:prstDash val="solid"/>
            <a:tailEnd type="triangle"/>
          </a:ln>
        </p:spPr>
      </p:sp>
      <p:sp>
        <p:nvSpPr>
          <p:cNvPr id="47" name="Shape 45"/>
          <p:cNvSpPr/>
          <p:nvPr/>
        </p:nvSpPr>
        <p:spPr>
          <a:xfrm>
            <a:off x="9374429" y="5102352"/>
            <a:ext cx="1872691" cy="512064"/>
          </a:xfrm>
          <a:prstGeom prst="rect">
            <a:avLst/>
          </a:prstGeom>
          <a:solidFill>
            <a:srgbClr val="102A43"/>
          </a:solidFill>
          <a:ln w="12700">
            <a:solidFill>
              <a:srgbClr val="102A43"/>
            </a:solidFill>
            <a:prstDash val="solid"/>
          </a:ln>
        </p:spPr>
      </p:sp>
      <p:sp>
        <p:nvSpPr>
          <p:cNvPr id="48" name="Text 46"/>
          <p:cNvSpPr/>
          <p:nvPr/>
        </p:nvSpPr>
        <p:spPr>
          <a:xfrm>
            <a:off x="9484157" y="5102352"/>
            <a:ext cx="1653235" cy="512064"/>
          </a:xfrm>
          <a:prstGeom prst="rect">
            <a:avLst/>
          </a:prstGeom>
          <a:noFill/>
          <a:ln/>
        </p:spPr>
        <p:txBody>
          <a:bodyPr wrap="square" lIns="0" tIns="0" rIns="0" bIns="0" rtlCol="0" anchor="ctr">
            <a:normAutofit/>
          </a:bodyPr>
          <a:lstStyle/>
          <a:p>
            <a:pPr algn="ctr" indent="0" marL="0">
              <a:lnSpc>
                <a:spcPct val="104000"/>
              </a:lnSpc>
              <a:buNone/>
            </a:pPr>
            <a:r>
              <a:rPr lang="en-US" sz="1160" b="1" dirty="0">
                <a:solidFill>
                  <a:srgbClr val="FFFFFF"/>
                </a:solidFill>
                <a:latin typeface="PingFang SC" pitchFamily="34" charset="0"/>
                <a:ea typeface="PingFang SC" pitchFamily="34" charset="-122"/>
                <a:cs typeface="PingFang SC" pitchFamily="34" charset="-120"/>
              </a:rPr>
              <a:t>Bundle + Pipeline</a:t>
            </a:r>
            <a:endParaRPr lang="en-US" sz="1160" dirty="0"/>
          </a:p>
          <a:p>
            <a:pPr algn="ctr" indent="0" marL="0">
              <a:lnSpc>
                <a:spcPct val="104000"/>
              </a:lnSpc>
              <a:buNone/>
            </a:pPr>
            <a:r>
              <a:rPr lang="en-US" sz="1160" b="1" dirty="0">
                <a:solidFill>
                  <a:srgbClr val="FFFFFF"/>
                </a:solidFill>
                <a:latin typeface="PingFang SC" pitchFamily="34" charset="0"/>
                <a:ea typeface="PingFang SC" pitchFamily="34" charset="-122"/>
                <a:cs typeface="PingFang SC" pitchFamily="34" charset="-120"/>
              </a:rPr>
              <a:t>+ 验证</a:t>
            </a:r>
            <a:endParaRPr lang="en-US" sz="1160" dirty="0"/>
          </a:p>
        </p:txBody>
      </p:sp>
      <p:sp>
        <p:nvSpPr>
          <p:cNvPr id="49" name="Shape 47"/>
          <p:cNvSpPr/>
          <p:nvPr/>
        </p:nvSpPr>
        <p:spPr>
          <a:xfrm>
            <a:off x="658368" y="5742432"/>
            <a:ext cx="10874959" cy="438912"/>
          </a:xfrm>
          <a:prstGeom prst="rect">
            <a:avLst/>
          </a:prstGeom>
          <a:solidFill>
            <a:srgbClr val="EFF7DF"/>
          </a:solidFill>
          <a:ln w="12700">
            <a:solidFill>
              <a:srgbClr val="EFF7DF"/>
            </a:solidFill>
            <a:prstDash val="solid"/>
          </a:ln>
        </p:spPr>
      </p:sp>
      <p:sp>
        <p:nvSpPr>
          <p:cNvPr id="50" name="Text 48"/>
          <p:cNvSpPr/>
          <p:nvPr/>
        </p:nvSpPr>
        <p:spPr>
          <a:xfrm>
            <a:off x="841248" y="5742432"/>
            <a:ext cx="10509199" cy="438912"/>
          </a:xfrm>
          <a:prstGeom prst="rect">
            <a:avLst/>
          </a:prstGeom>
          <a:noFill/>
          <a:ln/>
        </p:spPr>
        <p:txBody>
          <a:bodyPr wrap="square" lIns="0" tIns="0" rIns="0" bIns="0" rtlCol="0" anchor="ctr">
            <a:normAutofit/>
          </a:bodyPr>
          <a:lstStyle/>
          <a:p>
            <a:pPr algn="l" indent="0" marL="0">
              <a:lnSpc>
                <a:spcPct val="104000"/>
              </a:lnSpc>
              <a:buNone/>
            </a:pPr>
            <a:r>
              <a:rPr lang="en-US" sz="1550" b="1" dirty="0">
                <a:solidFill>
                  <a:srgbClr val="102A43"/>
                </a:solidFill>
                <a:latin typeface="PingFang SC" pitchFamily="34" charset="0"/>
                <a:ea typeface="PingFang SC" pitchFamily="34" charset="-122"/>
                <a:cs typeface="PingFang SC" pitchFamily="34" charset="-120"/>
              </a:rPr>
              <a:t>TGFX 用有限静态接口版本连接 Build 与 Runtime，并只在语义可证明时使用 Multi-pass。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ingFang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ingFang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Tencent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TGFX AOT 复合绘制架构</dc:title>
  <dc:subject>TGFX AOT Shader architecture</dc:subject>
  <dc:creator>TGFX Graphics Team</dc:creator>
  <cp:lastModifiedBy>TGFX Graphics Team</cp:lastModifiedBy>
  <cp:revision>1</cp:revision>
  <dcterms:created xsi:type="dcterms:W3CDTF">2026-08-24T15:17:28Z</dcterms:created>
  <dcterms:modified xsi:type="dcterms:W3CDTF">2026-08-24T15:17:28Z</dcterms:modified>
</cp:coreProperties>
</file>